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88638" cy="15124113"/>
  <p:notesSz cx="15124113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9"/>
    <p:restoredTop sz="94610"/>
  </p:normalViewPr>
  <p:slideViewPr>
    <p:cSldViewPr snapToGrid="0" snapToObjects="1">
      <p:cViewPr>
        <p:scale>
          <a:sx n="195" d="100"/>
          <a:sy n="195" d="100"/>
        </p:scale>
        <p:origin x="296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4455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15124176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689336" cy="2743200"/>
          </a:xfrm>
          <a:prstGeom prst="rect">
            <a:avLst/>
          </a:prstGeom>
          <a:solidFill>
            <a:srgbClr val="2D3F37"/>
          </a:solidFill>
          <a:ln w="12700">
            <a:solidFill>
              <a:srgbClr val="2D3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28600" cy="15124176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E07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 KIMS  &amp;  LEE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kern="0" spc="-200" dirty="0" err="1">
                <a:solidFill>
                  <a:srgbClr val="E07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따라와유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Tarawayou</a:t>
            </a: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AI </a:t>
            </a:r>
            <a:r>
              <a:rPr lang="en-US" sz="1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완전자동</a:t>
            </a: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미스터리</a:t>
            </a: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충남</a:t>
            </a: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여행</a:t>
            </a: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Automated Travel Service Powered by 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E07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 BACKGROUND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D3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배경</a:t>
            </a:r>
            <a:endParaRPr lang="en-US" sz="220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1인 가구는 전체의 36.1%(804만)에 달하지만, 1인 특화 여행 패키지는 부족함.</a:t>
            </a:r>
            <a:endParaRPr lang="en-US" sz="1100"/>
          </a:p>
          <a:p>
            <a:pPr marL="0" indent="0">
              <a:buNone/>
            </a:pPr>
            <a:r>
              <a:rPr lang="en-US" sz="11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충남은 백제 유산·해안·온천 등 풍부한 자원에도 불구하고 수도권 대비 인지도와 접근성에서 불리하며, 1인 여행객 90%가 수도권·부산·제주를 선택함. 또한 여행 중에도 SNS·업무 메시지 노출로 진정한 회복이 어려운 디지털 피로 문제가 심각함.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9601200" cy="1325880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52628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>
                <a:solidFill>
                  <a:srgbClr val="2D3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 THE IDEA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548640" y="48188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예산만 입력하면, AI가 충남 여행을 대신 </a:t>
            </a:r>
            <a:r>
              <a:rPr lang="en-US" sz="2000" b="1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결정하고</a:t>
            </a: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실행합니다</a:t>
            </a:r>
            <a:r>
              <a:rPr lang="en-US" altLang="ko-KR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/>
          </a:p>
        </p:txBody>
      </p:sp>
      <p:sp>
        <p:nvSpPr>
          <p:cNvPr id="15" name="Text 13"/>
          <p:cNvSpPr/>
          <p:nvPr/>
        </p:nvSpPr>
        <p:spPr>
          <a:xfrm>
            <a:off x="548640" y="53492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사용자는</a:t>
            </a: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</a:t>
            </a: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부담</a:t>
            </a: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없이</a:t>
            </a: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</a:t>
            </a: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안내하는</a:t>
            </a: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대로</a:t>
            </a: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따라가며</a:t>
            </a: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여행</a:t>
            </a: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</a:t>
            </a: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</a:t>
            </a: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앱은</a:t>
            </a: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차단되어</a:t>
            </a: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진짜</a:t>
            </a: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휴식을 경험 할 수 </a:t>
            </a:r>
            <a:r>
              <a:rPr lang="en-US" sz="12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있습니다</a:t>
            </a:r>
            <a:r>
              <a:rPr lang="en-US" altLang="ko-KR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9893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7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 USER FLOW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263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2D3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이렇게</a:t>
            </a:r>
            <a:r>
              <a:rPr lang="en-US" sz="2200" b="1" dirty="0">
                <a:solidFill>
                  <a:srgbClr val="2D3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2D3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동작합니다</a:t>
            </a:r>
            <a:r>
              <a:rPr lang="en-US" sz="2200" b="1" dirty="0">
                <a:solidFill>
                  <a:srgbClr val="2D3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5단계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48640" y="6812280"/>
            <a:ext cx="1874520" cy="2377440"/>
          </a:xfrm>
          <a:prstGeom prst="roundRect">
            <a:avLst>
              <a:gd name="adj" fmla="val 8780"/>
            </a:avLst>
          </a:prstGeom>
          <a:solidFill>
            <a:srgbClr val="2D3F37"/>
          </a:solidFill>
          <a:ln w="12700">
            <a:solidFill>
              <a:srgbClr val="2D3F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" y="6876288"/>
            <a:ext cx="1746504" cy="2249424"/>
          </a:xfrm>
          <a:prstGeom prst="roundRect">
            <a:avLst>
              <a:gd name="adj" fmla="val 68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39012" y="6912864"/>
            <a:ext cx="493776" cy="91440"/>
          </a:xfrm>
          <a:prstGeom prst="roundRect">
            <a:avLst>
              <a:gd name="adj" fmla="val 50000"/>
            </a:avLst>
          </a:prstGeom>
          <a:solidFill>
            <a:srgbClr val="2D3F37"/>
          </a:solidFill>
          <a:ln w="12700">
            <a:solidFill>
              <a:srgbClr val="2D3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705916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E07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따라와유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612648" y="7315200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예산을 입력하세요</a:t>
            </a:r>
            <a:endParaRPr lang="en-US" sz="700"/>
          </a:p>
        </p:txBody>
      </p:sp>
      <p:sp>
        <p:nvSpPr>
          <p:cNvPr id="23" name="Text 21"/>
          <p:cNvSpPr/>
          <p:nvPr/>
        </p:nvSpPr>
        <p:spPr>
          <a:xfrm>
            <a:off x="612648" y="7562088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2D3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₩300,000</a:t>
            </a:r>
            <a:endParaRPr lang="en-US" sz="1900"/>
          </a:p>
        </p:txBody>
      </p:sp>
      <p:sp>
        <p:nvSpPr>
          <p:cNvPr id="24" name="Shape 22"/>
          <p:cNvSpPr/>
          <p:nvPr/>
        </p:nvSpPr>
        <p:spPr>
          <a:xfrm>
            <a:off x="795528" y="8019288"/>
            <a:ext cx="1380744" cy="0"/>
          </a:xfrm>
          <a:prstGeom prst="line">
            <a:avLst/>
          </a:prstGeom>
          <a:noFill/>
          <a:ln w="12700">
            <a:solidFill>
              <a:srgbClr val="8FA8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8110728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1박 2일</a:t>
            </a:r>
            <a:endParaRPr lang="en-US" sz="700"/>
          </a:p>
        </p:txBody>
      </p:sp>
      <p:sp>
        <p:nvSpPr>
          <p:cNvPr id="26" name="Text 24"/>
          <p:cNvSpPr/>
          <p:nvPr/>
        </p:nvSpPr>
        <p:spPr>
          <a:xfrm>
            <a:off x="612648" y="8293608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혼자</a:t>
            </a:r>
            <a:endParaRPr lang="en-US" sz="700"/>
          </a:p>
        </p:txBody>
      </p:sp>
      <p:sp>
        <p:nvSpPr>
          <p:cNvPr id="27" name="Shape 25"/>
          <p:cNvSpPr/>
          <p:nvPr/>
        </p:nvSpPr>
        <p:spPr>
          <a:xfrm>
            <a:off x="795528" y="8567928"/>
            <a:ext cx="1380744" cy="274320"/>
          </a:xfrm>
          <a:prstGeom prst="roundRect">
            <a:avLst>
              <a:gd name="adj" fmla="val 20000"/>
            </a:avLst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" y="8567928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선결제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1193292" y="9070848"/>
            <a:ext cx="585216" cy="36576"/>
          </a:xfrm>
          <a:prstGeom prst="roundRect">
            <a:avLst>
              <a:gd name="adj" fmla="val 50000"/>
            </a:avLst>
          </a:prstGeom>
          <a:solidFill>
            <a:srgbClr val="2D3F37"/>
          </a:solidFill>
          <a:ln w="12700">
            <a:solidFill>
              <a:srgbClr val="2D3F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9464" y="6812280"/>
            <a:ext cx="1874520" cy="2377440"/>
          </a:xfrm>
          <a:prstGeom prst="roundRect">
            <a:avLst>
              <a:gd name="adj" fmla="val 8780"/>
            </a:avLst>
          </a:prstGeom>
          <a:solidFill>
            <a:srgbClr val="2D3F37"/>
          </a:solidFill>
          <a:ln w="12700">
            <a:solidFill>
              <a:srgbClr val="2D3F3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33472" y="6876288"/>
            <a:ext cx="1746504" cy="2249424"/>
          </a:xfrm>
          <a:prstGeom prst="roundRect">
            <a:avLst>
              <a:gd name="adj" fmla="val 68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59836" y="6912864"/>
            <a:ext cx="493776" cy="91440"/>
          </a:xfrm>
          <a:prstGeom prst="roundRect">
            <a:avLst>
              <a:gd name="adj" fmla="val 50000"/>
            </a:avLst>
          </a:prstGeom>
          <a:solidFill>
            <a:srgbClr val="2D3F37"/>
          </a:solidFill>
          <a:ln w="12700">
            <a:solidFill>
              <a:srgbClr val="2D3F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33472" y="705916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5C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3214116" y="7470648"/>
            <a:ext cx="585216" cy="585216"/>
          </a:xfrm>
          <a:prstGeom prst="ellipse">
            <a:avLst/>
          </a:prstGeom>
          <a:solidFill>
            <a:srgbClr val="5C7A6E"/>
          </a:solidFill>
          <a:ln w="12700">
            <a:solidFill>
              <a:srgbClr val="5C7A6E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5" name="Text 33"/>
          <p:cNvSpPr/>
          <p:nvPr/>
        </p:nvSpPr>
        <p:spPr>
          <a:xfrm>
            <a:off x="3214116" y="750722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⏳</a:t>
            </a:r>
            <a:endParaRPr lang="en-US" sz="2200"/>
          </a:p>
        </p:txBody>
      </p:sp>
      <p:sp>
        <p:nvSpPr>
          <p:cNvPr id="36" name="Text 34"/>
          <p:cNvSpPr/>
          <p:nvPr/>
        </p:nvSpPr>
        <p:spPr>
          <a:xfrm>
            <a:off x="2633472" y="8138160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2D3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충남 여행을</a:t>
            </a:r>
            <a:endParaRPr lang="en-US" sz="800"/>
          </a:p>
          <a:p>
            <a:pPr marL="0" indent="0" algn="ctr">
              <a:buNone/>
            </a:pPr>
            <a:r>
              <a:rPr lang="en-US" sz="800" b="1">
                <a:solidFill>
                  <a:srgbClr val="2D3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준비하고 있어요</a:t>
            </a:r>
            <a:endParaRPr lang="en-US" sz="800"/>
          </a:p>
        </p:txBody>
      </p:sp>
      <p:sp>
        <p:nvSpPr>
          <p:cNvPr id="37" name="Text 35"/>
          <p:cNvSpPr/>
          <p:nvPr/>
        </p:nvSpPr>
        <p:spPr>
          <a:xfrm>
            <a:off x="2816352" y="8613648"/>
            <a:ext cx="1380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5C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코스 분석</a:t>
            </a:r>
            <a:endParaRPr lang="en-US" sz="700"/>
          </a:p>
        </p:txBody>
      </p:sp>
      <p:sp>
        <p:nvSpPr>
          <p:cNvPr id="38" name="Text 36"/>
          <p:cNvSpPr/>
          <p:nvPr/>
        </p:nvSpPr>
        <p:spPr>
          <a:xfrm>
            <a:off x="2816352" y="8759952"/>
            <a:ext cx="1380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5C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식당 예약</a:t>
            </a:r>
            <a:endParaRPr lang="en-US" sz="700"/>
          </a:p>
        </p:txBody>
      </p:sp>
      <p:sp>
        <p:nvSpPr>
          <p:cNvPr id="39" name="Text 37"/>
          <p:cNvSpPr/>
          <p:nvPr/>
        </p:nvSpPr>
        <p:spPr>
          <a:xfrm>
            <a:off x="2816352" y="8906256"/>
            <a:ext cx="1380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숙소 확정</a:t>
            </a:r>
            <a:endParaRPr lang="en-US" sz="700"/>
          </a:p>
        </p:txBody>
      </p:sp>
      <p:sp>
        <p:nvSpPr>
          <p:cNvPr id="40" name="Shape 38"/>
          <p:cNvSpPr/>
          <p:nvPr/>
        </p:nvSpPr>
        <p:spPr>
          <a:xfrm>
            <a:off x="3214116" y="9070848"/>
            <a:ext cx="585216" cy="36576"/>
          </a:xfrm>
          <a:prstGeom prst="roundRect">
            <a:avLst>
              <a:gd name="adj" fmla="val 50000"/>
            </a:avLst>
          </a:prstGeom>
          <a:solidFill>
            <a:srgbClr val="2D3F37"/>
          </a:solidFill>
          <a:ln w="12700">
            <a:solidFill>
              <a:srgbClr val="2D3F3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90288" y="6812280"/>
            <a:ext cx="1874520" cy="2377440"/>
          </a:xfrm>
          <a:prstGeom prst="roundRect">
            <a:avLst>
              <a:gd name="adj" fmla="val 8780"/>
            </a:avLst>
          </a:prstGeom>
          <a:solidFill>
            <a:srgbClr val="2D3F37"/>
          </a:solidFill>
          <a:ln w="12700">
            <a:solidFill>
              <a:srgbClr val="2D3F3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54296" y="6876288"/>
            <a:ext cx="1746504" cy="2249424"/>
          </a:xfrm>
          <a:prstGeom prst="roundRect">
            <a:avLst>
              <a:gd name="adj" fmla="val 68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80660" y="6912864"/>
            <a:ext cx="493776" cy="91440"/>
          </a:xfrm>
          <a:prstGeom prst="roundRect">
            <a:avLst>
              <a:gd name="adj" fmla="val 50000"/>
            </a:avLst>
          </a:prstGeom>
          <a:solidFill>
            <a:srgbClr val="2D3F37"/>
          </a:solidFill>
          <a:ln w="12700">
            <a:solidFill>
              <a:srgbClr val="2D3F3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54296" y="705916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>
                <a:solidFill>
                  <a:srgbClr val="E07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800"/>
          </a:p>
        </p:txBody>
      </p:sp>
      <p:sp>
        <p:nvSpPr>
          <p:cNvPr id="45" name="Text 43"/>
          <p:cNvSpPr/>
          <p:nvPr/>
        </p:nvSpPr>
        <p:spPr>
          <a:xfrm>
            <a:off x="4654296" y="7351776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바로</a:t>
            </a:r>
            <a:endParaRPr lang="en-US" sz="800"/>
          </a:p>
        </p:txBody>
      </p:sp>
      <p:sp>
        <p:nvSpPr>
          <p:cNvPr id="46" name="Text 44"/>
          <p:cNvSpPr/>
          <p:nvPr/>
        </p:nvSpPr>
        <p:spPr>
          <a:xfrm>
            <a:off x="4654296" y="7562088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2D3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고속버스</a:t>
            </a:r>
            <a:endParaRPr lang="en-US" sz="1400"/>
          </a:p>
          <a:p>
            <a:pPr marL="0" indent="0" algn="ctr">
              <a:buNone/>
            </a:pPr>
            <a:r>
              <a:rPr lang="en-US" sz="1400" b="1">
                <a:solidFill>
                  <a:srgbClr val="2D3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터미널로</a:t>
            </a:r>
            <a:endParaRPr lang="en-US" sz="1400"/>
          </a:p>
        </p:txBody>
      </p:sp>
      <p:sp>
        <p:nvSpPr>
          <p:cNvPr id="47" name="Text 45"/>
          <p:cNvSpPr/>
          <p:nvPr/>
        </p:nvSpPr>
        <p:spPr>
          <a:xfrm>
            <a:off x="4654296" y="8156448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E07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/>
          </a:p>
        </p:txBody>
      </p:sp>
      <p:sp>
        <p:nvSpPr>
          <p:cNvPr id="48" name="Shape 46"/>
          <p:cNvSpPr/>
          <p:nvPr/>
        </p:nvSpPr>
        <p:spPr>
          <a:xfrm>
            <a:off x="4837176" y="8613648"/>
            <a:ext cx="1380744" cy="320040"/>
          </a:xfrm>
          <a:prstGeom prst="rect">
            <a:avLst/>
          </a:prstGeom>
          <a:solidFill>
            <a:srgbClr val="F5E6D3"/>
          </a:solidFill>
          <a:ln w="12700">
            <a:solidFill>
              <a:srgbClr val="F5E6D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37176" y="8631936"/>
            <a:ext cx="1380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2D3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🎫 14:30 출발</a:t>
            </a:r>
            <a:endParaRPr lang="en-US" sz="700"/>
          </a:p>
        </p:txBody>
      </p:sp>
      <p:sp>
        <p:nvSpPr>
          <p:cNvPr id="50" name="Text 48"/>
          <p:cNvSpPr/>
          <p:nvPr/>
        </p:nvSpPr>
        <p:spPr>
          <a:xfrm>
            <a:off x="4837176" y="8778240"/>
            <a:ext cx="1380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목적지: ???</a:t>
            </a:r>
            <a:endParaRPr lang="en-US" sz="700"/>
          </a:p>
        </p:txBody>
      </p:sp>
      <p:sp>
        <p:nvSpPr>
          <p:cNvPr id="51" name="Shape 49"/>
          <p:cNvSpPr/>
          <p:nvPr/>
        </p:nvSpPr>
        <p:spPr>
          <a:xfrm>
            <a:off x="5234940" y="9070848"/>
            <a:ext cx="585216" cy="36576"/>
          </a:xfrm>
          <a:prstGeom prst="roundRect">
            <a:avLst>
              <a:gd name="adj" fmla="val 50000"/>
            </a:avLst>
          </a:prstGeom>
          <a:solidFill>
            <a:srgbClr val="2D3F37"/>
          </a:solidFill>
          <a:ln w="12700">
            <a:solidFill>
              <a:srgbClr val="2D3F3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611112" y="6812280"/>
            <a:ext cx="1874520" cy="2377440"/>
          </a:xfrm>
          <a:prstGeom prst="roundRect">
            <a:avLst>
              <a:gd name="adj" fmla="val 8780"/>
            </a:avLst>
          </a:prstGeom>
          <a:solidFill>
            <a:srgbClr val="2D3F37"/>
          </a:solidFill>
          <a:ln w="12700">
            <a:solidFill>
              <a:srgbClr val="2D3F3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675120" y="6876288"/>
            <a:ext cx="1746504" cy="2249424"/>
          </a:xfrm>
          <a:prstGeom prst="roundRect">
            <a:avLst>
              <a:gd name="adj" fmla="val 68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01484" y="6912864"/>
            <a:ext cx="493776" cy="91440"/>
          </a:xfrm>
          <a:prstGeom prst="roundRect">
            <a:avLst>
              <a:gd name="adj" fmla="val 50000"/>
            </a:avLst>
          </a:prstGeom>
          <a:solidFill>
            <a:srgbClr val="2D3F37"/>
          </a:solidFill>
          <a:ln w="12700">
            <a:solidFill>
              <a:srgbClr val="2D3F3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75120" y="705916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>
                <a:solidFill>
                  <a:srgbClr val="5C7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800"/>
          </a:p>
        </p:txBody>
      </p:sp>
      <p:sp>
        <p:nvSpPr>
          <p:cNvPr id="56" name="Shape 54"/>
          <p:cNvSpPr/>
          <p:nvPr/>
        </p:nvSpPr>
        <p:spPr>
          <a:xfrm>
            <a:off x="6858000" y="7333488"/>
            <a:ext cx="1380744" cy="777240"/>
          </a:xfrm>
          <a:prstGeom prst="rect">
            <a:avLst/>
          </a:prstGeom>
          <a:solidFill>
            <a:srgbClr val="8FA89A"/>
          </a:solidFill>
          <a:ln w="12700">
            <a:solidFill>
              <a:srgbClr val="8FA89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58000" y="7516368"/>
            <a:ext cx="1380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E07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</a:t>
            </a:r>
            <a:endParaRPr lang="en-US" sz="2200"/>
          </a:p>
        </p:txBody>
      </p:sp>
      <p:sp>
        <p:nvSpPr>
          <p:cNvPr id="58" name="Text 56"/>
          <p:cNvSpPr/>
          <p:nvPr/>
        </p:nvSpPr>
        <p:spPr>
          <a:xfrm>
            <a:off x="6675120" y="820216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2D3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30분 후 점심</a:t>
            </a:r>
            <a:endParaRPr lang="en-US" sz="900"/>
          </a:p>
        </p:txBody>
      </p:sp>
      <p:sp>
        <p:nvSpPr>
          <p:cNvPr id="59" name="Text 57"/>
          <p:cNvSpPr/>
          <p:nvPr/>
        </p:nvSpPr>
        <p:spPr>
          <a:xfrm>
            <a:off x="6675120" y="8430768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부여 정림사지</a:t>
            </a:r>
            <a:endParaRPr lang="en-US" sz="800"/>
          </a:p>
        </p:txBody>
      </p:sp>
      <p:sp>
        <p:nvSpPr>
          <p:cNvPr id="60" name="Shape 58"/>
          <p:cNvSpPr/>
          <p:nvPr/>
        </p:nvSpPr>
        <p:spPr>
          <a:xfrm>
            <a:off x="6839712" y="8686800"/>
            <a:ext cx="1417320" cy="292608"/>
          </a:xfrm>
          <a:prstGeom prst="rect">
            <a:avLst/>
          </a:prstGeom>
          <a:solidFill>
            <a:srgbClr val="F5E6D3"/>
          </a:solidFill>
          <a:ln w="6350">
            <a:solidFill>
              <a:srgbClr val="E0785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39712" y="8686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C95A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잠시 후 안내</a:t>
            </a:r>
            <a:endParaRPr lang="en-US" sz="700"/>
          </a:p>
        </p:txBody>
      </p:sp>
      <p:sp>
        <p:nvSpPr>
          <p:cNvPr id="62" name="Shape 60"/>
          <p:cNvSpPr/>
          <p:nvPr/>
        </p:nvSpPr>
        <p:spPr>
          <a:xfrm>
            <a:off x="7255764" y="9070848"/>
            <a:ext cx="585216" cy="36576"/>
          </a:xfrm>
          <a:prstGeom prst="roundRect">
            <a:avLst>
              <a:gd name="adj" fmla="val 50000"/>
            </a:avLst>
          </a:prstGeom>
          <a:solidFill>
            <a:srgbClr val="2D3F37"/>
          </a:solidFill>
          <a:ln w="12700">
            <a:solidFill>
              <a:srgbClr val="2D3F3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631936" y="6812280"/>
            <a:ext cx="1874520" cy="2377440"/>
          </a:xfrm>
          <a:prstGeom prst="roundRect">
            <a:avLst>
              <a:gd name="adj" fmla="val 8780"/>
            </a:avLst>
          </a:prstGeom>
          <a:solidFill>
            <a:srgbClr val="2D3F37"/>
          </a:solidFill>
          <a:ln w="12700">
            <a:solidFill>
              <a:srgbClr val="2D3F37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695944" y="6876288"/>
            <a:ext cx="1746504" cy="2249424"/>
          </a:xfrm>
          <a:prstGeom prst="roundRect">
            <a:avLst>
              <a:gd name="adj" fmla="val 68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322308" y="6912864"/>
            <a:ext cx="493776" cy="91440"/>
          </a:xfrm>
          <a:prstGeom prst="roundRect">
            <a:avLst>
              <a:gd name="adj" fmla="val 50000"/>
            </a:avLst>
          </a:prstGeom>
          <a:solidFill>
            <a:srgbClr val="2D3F37"/>
          </a:solidFill>
          <a:ln w="12700">
            <a:solidFill>
              <a:srgbClr val="2D3F3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95944" y="6876288"/>
            <a:ext cx="1746504" cy="2249424"/>
          </a:xfrm>
          <a:prstGeom prst="rect">
            <a:avLst/>
          </a:prstGeom>
          <a:solidFill>
            <a:srgbClr val="2D3F37"/>
          </a:solidFill>
          <a:ln w="12700">
            <a:solidFill>
              <a:srgbClr val="2D3F3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695944" y="7104888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>
                <a:solidFill>
                  <a:srgbClr val="E07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DETOX MODE</a:t>
            </a:r>
            <a:endParaRPr lang="en-US" sz="800"/>
          </a:p>
        </p:txBody>
      </p:sp>
      <p:sp>
        <p:nvSpPr>
          <p:cNvPr id="68" name="Text 66"/>
          <p:cNvSpPr/>
          <p:nvPr/>
        </p:nvSpPr>
        <p:spPr>
          <a:xfrm>
            <a:off x="8695944" y="7424928"/>
            <a:ext cx="1746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3000"/>
          </a:p>
        </p:txBody>
      </p:sp>
      <p:sp>
        <p:nvSpPr>
          <p:cNvPr id="69" name="Text 67"/>
          <p:cNvSpPr/>
          <p:nvPr/>
        </p:nvSpPr>
        <p:spPr>
          <a:xfrm>
            <a:off x="8695944" y="8019288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여행 중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앱은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잠시 멈춤</a:t>
            </a:r>
            <a:endParaRPr lang="en-US" sz="1000"/>
          </a:p>
        </p:txBody>
      </p:sp>
      <p:sp>
        <p:nvSpPr>
          <p:cNvPr id="70" name="Text 68"/>
          <p:cNvSpPr/>
          <p:nvPr/>
        </p:nvSpPr>
        <p:spPr>
          <a:xfrm>
            <a:off x="8695944" y="868680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E07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진짜 휴식의 시간</a:t>
            </a:r>
            <a:endParaRPr lang="en-US" sz="800"/>
          </a:p>
        </p:txBody>
      </p:sp>
      <p:sp>
        <p:nvSpPr>
          <p:cNvPr id="71" name="Shape 69"/>
          <p:cNvSpPr/>
          <p:nvPr/>
        </p:nvSpPr>
        <p:spPr>
          <a:xfrm>
            <a:off x="9276588" y="9070848"/>
            <a:ext cx="585216" cy="36576"/>
          </a:xfrm>
          <a:prstGeom prst="roundRect">
            <a:avLst>
              <a:gd name="adj" fmla="val 50000"/>
            </a:avLst>
          </a:prstGeom>
          <a:solidFill>
            <a:srgbClr val="2D3F37"/>
          </a:solidFill>
          <a:ln w="12700">
            <a:solidFill>
              <a:srgbClr val="2D3F3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8640" y="92811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D3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예산 선결제</a:t>
            </a:r>
            <a:endParaRPr lang="en-US" sz="1100"/>
          </a:p>
        </p:txBody>
      </p:sp>
      <p:sp>
        <p:nvSpPr>
          <p:cNvPr id="73" name="Text 71"/>
          <p:cNvSpPr/>
          <p:nvPr/>
        </p:nvSpPr>
        <p:spPr>
          <a:xfrm>
            <a:off x="2569464" y="92811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D3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AI 자동 예약</a:t>
            </a:r>
            <a:endParaRPr lang="en-US" sz="1100"/>
          </a:p>
        </p:txBody>
      </p:sp>
      <p:sp>
        <p:nvSpPr>
          <p:cNvPr id="74" name="Text 72"/>
          <p:cNvSpPr/>
          <p:nvPr/>
        </p:nvSpPr>
        <p:spPr>
          <a:xfrm>
            <a:off x="4590288" y="92811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D3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서프라이즈</a:t>
            </a:r>
            <a:endParaRPr lang="en-US" sz="1100"/>
          </a:p>
        </p:txBody>
      </p:sp>
      <p:sp>
        <p:nvSpPr>
          <p:cNvPr id="75" name="Text 73"/>
          <p:cNvSpPr/>
          <p:nvPr/>
        </p:nvSpPr>
        <p:spPr>
          <a:xfrm>
            <a:off x="6611112" y="92811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D3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동선 관리</a:t>
            </a:r>
            <a:endParaRPr lang="en-US" sz="1100"/>
          </a:p>
        </p:txBody>
      </p:sp>
      <p:sp>
        <p:nvSpPr>
          <p:cNvPr id="76" name="Text 74"/>
          <p:cNvSpPr/>
          <p:nvPr/>
        </p:nvSpPr>
        <p:spPr>
          <a:xfrm>
            <a:off x="8631936" y="92811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D3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디지털 디톡스</a:t>
            </a:r>
            <a:endParaRPr lang="en-US" sz="1100"/>
          </a:p>
        </p:txBody>
      </p:sp>
      <p:sp>
        <p:nvSpPr>
          <p:cNvPr id="77" name="Text 75"/>
          <p:cNvSpPr/>
          <p:nvPr/>
        </p:nvSpPr>
        <p:spPr>
          <a:xfrm>
            <a:off x="548640" y="96469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E07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 CHUNGNAM CONNECTION</a:t>
            </a:r>
            <a:endParaRPr lang="en-US" sz="1100"/>
          </a:p>
        </p:txBody>
      </p:sp>
      <p:sp>
        <p:nvSpPr>
          <p:cNvPr id="78" name="Text 76"/>
          <p:cNvSpPr/>
          <p:nvPr/>
        </p:nvSpPr>
        <p:spPr>
          <a:xfrm>
            <a:off x="548640" y="99212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D3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충남 지역특화산업 연계</a:t>
            </a:r>
            <a:endParaRPr lang="en-US" sz="2200"/>
          </a:p>
        </p:txBody>
      </p:sp>
      <p:sp>
        <p:nvSpPr>
          <p:cNvPr id="79" name="Shape 77"/>
          <p:cNvSpPr/>
          <p:nvPr/>
        </p:nvSpPr>
        <p:spPr>
          <a:xfrm>
            <a:off x="548640" y="10469880"/>
            <a:ext cx="3163824" cy="1344168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9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48640" y="10469880"/>
            <a:ext cx="3163824" cy="292608"/>
          </a:xfrm>
          <a:prstGeom prst="rect">
            <a:avLst/>
          </a:prstGeom>
          <a:solidFill>
            <a:srgbClr val="2D3F37"/>
          </a:solidFill>
          <a:ln w="12700">
            <a:solidFill>
              <a:srgbClr val="2D3F37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48640" y="10469880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>
                <a:solidFill>
                  <a:srgbClr val="E07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</a:t>
            </a:r>
            <a:endParaRPr lang="en-US" sz="900"/>
          </a:p>
        </p:txBody>
      </p:sp>
      <p:sp>
        <p:nvSpPr>
          <p:cNvPr id="82" name="Text 80"/>
          <p:cNvSpPr/>
          <p:nvPr/>
        </p:nvSpPr>
        <p:spPr>
          <a:xfrm>
            <a:off x="685800" y="1083564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D3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충남의 자산</a:t>
            </a:r>
            <a:endParaRPr lang="en-US" sz="1300"/>
          </a:p>
        </p:txBody>
      </p:sp>
      <p:sp>
        <p:nvSpPr>
          <p:cNvPr id="83" name="Text 81"/>
          <p:cNvSpPr/>
          <p:nvPr/>
        </p:nvSpPr>
        <p:spPr>
          <a:xfrm>
            <a:off x="685800" y="11109960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80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유네스코</a:t>
            </a:r>
            <a:r>
              <a:rPr lang="en-US" sz="8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80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백제유산</a:t>
            </a:r>
            <a:r>
              <a:rPr lang="en-US" sz="800"/>
              <a:t> </a:t>
            </a:r>
            <a:r>
              <a:rPr lang="en-US" sz="8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(공주·부여)</a:t>
            </a:r>
            <a:endParaRPr lang="en-US" sz="800"/>
          </a:p>
        </p:txBody>
      </p:sp>
      <p:sp>
        <p:nvSpPr>
          <p:cNvPr id="84" name="Text 82"/>
          <p:cNvSpPr/>
          <p:nvPr/>
        </p:nvSpPr>
        <p:spPr>
          <a:xfrm>
            <a:off x="685800" y="11274552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태안 해안국립공원</a:t>
            </a:r>
            <a:endParaRPr lang="en-US" sz="800"/>
          </a:p>
        </p:txBody>
      </p:sp>
      <p:sp>
        <p:nvSpPr>
          <p:cNvPr id="85" name="Text 83"/>
          <p:cNvSpPr/>
          <p:nvPr/>
        </p:nvSpPr>
        <p:spPr>
          <a:xfrm>
            <a:off x="685800" y="11439144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아산 온양온천</a:t>
            </a:r>
            <a:endParaRPr lang="en-US" sz="800"/>
          </a:p>
        </p:txBody>
      </p:sp>
      <p:sp>
        <p:nvSpPr>
          <p:cNvPr id="86" name="Text 84"/>
          <p:cNvSpPr/>
          <p:nvPr/>
        </p:nvSpPr>
        <p:spPr>
          <a:xfrm>
            <a:off x="685800" y="11603736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독립기념관 (연 106만)</a:t>
            </a:r>
            <a:endParaRPr lang="en-US" sz="800"/>
          </a:p>
        </p:txBody>
      </p:sp>
      <p:sp>
        <p:nvSpPr>
          <p:cNvPr id="87" name="Shape 85"/>
          <p:cNvSpPr/>
          <p:nvPr/>
        </p:nvSpPr>
        <p:spPr>
          <a:xfrm>
            <a:off x="3849624" y="10469880"/>
            <a:ext cx="3163824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9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849624" y="10469880"/>
            <a:ext cx="3163824" cy="292608"/>
          </a:xfrm>
          <a:prstGeom prst="rect">
            <a:avLst/>
          </a:prstGeom>
          <a:solidFill>
            <a:srgbClr val="2D3F37"/>
          </a:solidFill>
          <a:ln w="12700">
            <a:solidFill>
              <a:srgbClr val="2D3F37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849624" y="10469880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>
                <a:solidFill>
                  <a:srgbClr val="E07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MERCHANTS</a:t>
            </a:r>
            <a:endParaRPr lang="en-US" sz="900"/>
          </a:p>
        </p:txBody>
      </p:sp>
      <p:sp>
        <p:nvSpPr>
          <p:cNvPr id="90" name="Text 88"/>
          <p:cNvSpPr/>
          <p:nvPr/>
        </p:nvSpPr>
        <p:spPr>
          <a:xfrm>
            <a:off x="3986784" y="1083564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D3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 소상공인 매칭</a:t>
            </a:r>
            <a:endParaRPr lang="en-US" sz="1300"/>
          </a:p>
        </p:txBody>
      </p:sp>
      <p:sp>
        <p:nvSpPr>
          <p:cNvPr id="91" name="Text 89"/>
          <p:cNvSpPr/>
          <p:nvPr/>
        </p:nvSpPr>
        <p:spPr>
          <a:xfrm>
            <a:off x="3986784" y="11109960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전통·로컬 식당</a:t>
            </a:r>
            <a:endParaRPr lang="en-US" sz="800"/>
          </a:p>
        </p:txBody>
      </p:sp>
      <p:sp>
        <p:nvSpPr>
          <p:cNvPr id="92" name="Text 90"/>
          <p:cNvSpPr/>
          <p:nvPr/>
        </p:nvSpPr>
        <p:spPr>
          <a:xfrm>
            <a:off x="3986784" y="11274552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한옥·게스트하우스·펜션</a:t>
            </a:r>
            <a:endParaRPr lang="en-US" sz="800"/>
          </a:p>
        </p:txBody>
      </p:sp>
      <p:sp>
        <p:nvSpPr>
          <p:cNvPr id="93" name="Text 91"/>
          <p:cNvSpPr/>
          <p:nvPr/>
        </p:nvSpPr>
        <p:spPr>
          <a:xfrm>
            <a:off x="3986784" y="11439144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도자기·온천·해양 체험</a:t>
            </a:r>
            <a:endParaRPr lang="en-US" sz="800"/>
          </a:p>
        </p:txBody>
      </p:sp>
      <p:sp>
        <p:nvSpPr>
          <p:cNvPr id="94" name="Text 92"/>
          <p:cNvSpPr/>
          <p:nvPr/>
        </p:nvSpPr>
        <p:spPr>
          <a:xfrm>
            <a:off x="3986784" y="11603736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AI 자동 송객·결제</a:t>
            </a:r>
            <a:endParaRPr lang="en-US" sz="800"/>
          </a:p>
        </p:txBody>
      </p:sp>
      <p:sp>
        <p:nvSpPr>
          <p:cNvPr id="95" name="Shape 93"/>
          <p:cNvSpPr/>
          <p:nvPr/>
        </p:nvSpPr>
        <p:spPr>
          <a:xfrm>
            <a:off x="7150608" y="10469880"/>
            <a:ext cx="3163824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9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150608" y="10469880"/>
            <a:ext cx="3163824" cy="292608"/>
          </a:xfrm>
          <a:prstGeom prst="rect">
            <a:avLst/>
          </a:prstGeom>
          <a:solidFill>
            <a:srgbClr val="2D3F37"/>
          </a:solidFill>
          <a:ln w="12700">
            <a:solidFill>
              <a:srgbClr val="2D3F37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150608" y="10469880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>
                <a:solidFill>
                  <a:srgbClr val="E07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</a:t>
            </a:r>
            <a:endParaRPr lang="en-US" sz="900"/>
          </a:p>
        </p:txBody>
      </p:sp>
      <p:sp>
        <p:nvSpPr>
          <p:cNvPr id="98" name="Text 96"/>
          <p:cNvSpPr/>
          <p:nvPr/>
        </p:nvSpPr>
        <p:spPr>
          <a:xfrm>
            <a:off x="7287768" y="1083564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D3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공공 협력 (B2G2C)</a:t>
            </a:r>
            <a:endParaRPr lang="en-US" sz="1300"/>
          </a:p>
        </p:txBody>
      </p:sp>
      <p:sp>
        <p:nvSpPr>
          <p:cNvPr id="99" name="Text 97"/>
          <p:cNvSpPr/>
          <p:nvPr/>
        </p:nvSpPr>
        <p:spPr>
          <a:xfrm>
            <a:off x="7287768" y="11109960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충청남도 + 시·군청</a:t>
            </a:r>
            <a:endParaRPr lang="en-US" sz="800"/>
          </a:p>
        </p:txBody>
      </p:sp>
      <p:sp>
        <p:nvSpPr>
          <p:cNvPr id="100" name="Text 98"/>
          <p:cNvSpPr/>
          <p:nvPr/>
        </p:nvSpPr>
        <p:spPr>
          <a:xfrm>
            <a:off x="7287768" y="11274552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관광공사 데이터 연동</a:t>
            </a:r>
            <a:endParaRPr lang="en-US" sz="800"/>
          </a:p>
        </p:txBody>
      </p:sp>
      <p:sp>
        <p:nvSpPr>
          <p:cNvPr id="101" name="Text 99"/>
          <p:cNvSpPr/>
          <p:nvPr/>
        </p:nvSpPr>
        <p:spPr>
          <a:xfrm>
            <a:off x="7287768" y="11439144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선문대 SW 사업단 멘토링</a:t>
            </a:r>
            <a:endParaRPr lang="en-US" sz="800"/>
          </a:p>
        </p:txBody>
      </p:sp>
      <p:sp>
        <p:nvSpPr>
          <p:cNvPr id="102" name="Text 100"/>
          <p:cNvSpPr/>
          <p:nvPr/>
        </p:nvSpPr>
        <p:spPr>
          <a:xfrm>
            <a:off x="7287768" y="11603736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충남 정주형 청년 창업 모델</a:t>
            </a:r>
            <a:endParaRPr lang="en-US" sz="800"/>
          </a:p>
        </p:txBody>
      </p:sp>
      <p:sp>
        <p:nvSpPr>
          <p:cNvPr id="103" name="Text 101"/>
          <p:cNvSpPr/>
          <p:nvPr/>
        </p:nvSpPr>
        <p:spPr>
          <a:xfrm>
            <a:off x="548640" y="1188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E07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 DIFFERENTIATION &amp; MARKET</a:t>
            </a:r>
            <a:endParaRPr lang="en-US" sz="1100"/>
          </a:p>
        </p:txBody>
      </p:sp>
      <p:sp>
        <p:nvSpPr>
          <p:cNvPr id="104" name="Text 102"/>
          <p:cNvSpPr/>
          <p:nvPr/>
        </p:nvSpPr>
        <p:spPr>
          <a:xfrm>
            <a:off x="548640" y="121615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D3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차별화와 시장 기회</a:t>
            </a:r>
            <a:endParaRPr lang="en-US" sz="2200"/>
          </a:p>
        </p:txBody>
      </p:sp>
      <p:sp>
        <p:nvSpPr>
          <p:cNvPr id="105" name="Shape 103"/>
          <p:cNvSpPr/>
          <p:nvPr/>
        </p:nvSpPr>
        <p:spPr>
          <a:xfrm>
            <a:off x="548640" y="12710160"/>
            <a:ext cx="6035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8FA89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85800" y="128016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D3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여행 앱과 다른 5가지</a:t>
            </a:r>
            <a:endParaRPr lang="en-US" sz="1200"/>
          </a:p>
        </p:txBody>
      </p:sp>
      <p:sp>
        <p:nvSpPr>
          <p:cNvPr id="107" name="Text 105"/>
          <p:cNvSpPr/>
          <p:nvPr/>
        </p:nvSpPr>
        <p:spPr>
          <a:xfrm>
            <a:off x="777240" y="13121640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AI 100% 자동 결정 (기존 앱 ≠ 사용자 직접 선택)</a:t>
            </a:r>
            <a:endParaRPr lang="en-US" sz="900"/>
          </a:p>
        </p:txBody>
      </p:sp>
      <p:sp>
        <p:nvSpPr>
          <p:cNvPr id="108" name="Text 106"/>
          <p:cNvSpPr/>
          <p:nvPr/>
        </p:nvSpPr>
        <p:spPr>
          <a:xfrm>
            <a:off x="777240" y="13322808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도착 전까지 목적지 비공개 (서프라이즈)</a:t>
            </a:r>
            <a:endParaRPr lang="en-US" sz="900"/>
          </a:p>
        </p:txBody>
      </p:sp>
      <p:sp>
        <p:nvSpPr>
          <p:cNvPr id="109" name="Text 107"/>
          <p:cNvSpPr/>
          <p:nvPr/>
        </p:nvSpPr>
        <p:spPr>
          <a:xfrm>
            <a:off x="777240" y="13523976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예산 선결제 → AI 일괄 처리</a:t>
            </a:r>
            <a:endParaRPr lang="en-US" sz="900"/>
          </a:p>
        </p:txBody>
      </p:sp>
      <p:sp>
        <p:nvSpPr>
          <p:cNvPr id="110" name="Text 108"/>
          <p:cNvSpPr/>
          <p:nvPr/>
        </p:nvSpPr>
        <p:spPr>
          <a:xfrm>
            <a:off x="777240" y="13725144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여행 중 타 앱 차단 (디지털 디톡스)</a:t>
            </a:r>
            <a:endParaRPr lang="en-US" sz="900"/>
          </a:p>
        </p:txBody>
      </p:sp>
      <p:sp>
        <p:nvSpPr>
          <p:cNvPr id="111" name="Text 109"/>
          <p:cNvSpPr/>
          <p:nvPr/>
        </p:nvSpPr>
        <p:spPr>
          <a:xfrm>
            <a:off x="777240" y="13926312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충남 지역 깊이 특화 (지자체·소상공인 연동)</a:t>
            </a:r>
            <a:endParaRPr lang="en-US" sz="900"/>
          </a:p>
        </p:txBody>
      </p:sp>
      <p:sp>
        <p:nvSpPr>
          <p:cNvPr id="112" name="Shape 110"/>
          <p:cNvSpPr/>
          <p:nvPr/>
        </p:nvSpPr>
        <p:spPr>
          <a:xfrm>
            <a:off x="6766560" y="12710160"/>
            <a:ext cx="3383280" cy="1463040"/>
          </a:xfrm>
          <a:prstGeom prst="rect">
            <a:avLst/>
          </a:prstGeom>
          <a:solidFill>
            <a:srgbClr val="2D3F37"/>
          </a:solidFill>
          <a:ln w="12700">
            <a:solidFill>
              <a:srgbClr val="2D3F37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766560" y="128016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>
                <a:solidFill>
                  <a:srgbClr val="E07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</a:t>
            </a:r>
            <a:endParaRPr lang="en-US" sz="900"/>
          </a:p>
        </p:txBody>
      </p:sp>
      <p:sp>
        <p:nvSpPr>
          <p:cNvPr id="114" name="Text 112"/>
          <p:cNvSpPr/>
          <p:nvPr/>
        </p:nvSpPr>
        <p:spPr>
          <a:xfrm>
            <a:off x="6766560" y="130942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24.5%</a:t>
            </a:r>
            <a:endParaRPr lang="en-US" sz="2200"/>
          </a:p>
        </p:txBody>
      </p:sp>
      <p:sp>
        <p:nvSpPr>
          <p:cNvPr id="115" name="Text 113"/>
          <p:cNvSpPr/>
          <p:nvPr/>
        </p:nvSpPr>
        <p:spPr>
          <a:xfrm>
            <a:off x="6766560" y="1351483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디톡스 관광 시장</a:t>
            </a:r>
            <a:endParaRPr lang="en-US" sz="900"/>
          </a:p>
        </p:txBody>
      </p:sp>
      <p:sp>
        <p:nvSpPr>
          <p:cNvPr id="116" name="Shape 114"/>
          <p:cNvSpPr/>
          <p:nvPr/>
        </p:nvSpPr>
        <p:spPr>
          <a:xfrm>
            <a:off x="7040880" y="13761720"/>
            <a:ext cx="2834640" cy="0"/>
          </a:xfrm>
          <a:prstGeom prst="line">
            <a:avLst/>
          </a:prstGeom>
          <a:noFill/>
          <a:ln w="12700">
            <a:solidFill>
              <a:srgbClr val="E07856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766560" y="13834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$65B (2025) → $467B (2034)</a:t>
            </a:r>
            <a:endParaRPr lang="en-US" sz="1100"/>
          </a:p>
        </p:txBody>
      </p:sp>
      <p:sp>
        <p:nvSpPr>
          <p:cNvPr id="118" name="Text 116"/>
          <p:cNvSpPr/>
          <p:nvPr/>
        </p:nvSpPr>
        <p:spPr>
          <a:xfrm>
            <a:off x="548640" y="14218920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출처: Polaris Market Research, 통계청 1인가구 통계 (2024), 한국관광공사 데이터랩</a:t>
            </a:r>
            <a:endParaRPr lang="en-US" sz="800"/>
          </a:p>
        </p:txBody>
      </p:sp>
      <p:sp>
        <p:nvSpPr>
          <p:cNvPr id="119" name="Shape 117"/>
          <p:cNvSpPr/>
          <p:nvPr/>
        </p:nvSpPr>
        <p:spPr>
          <a:xfrm>
            <a:off x="0" y="14676120"/>
            <a:ext cx="10689336" cy="448056"/>
          </a:xfrm>
          <a:prstGeom prst="rect">
            <a:avLst/>
          </a:prstGeom>
          <a:solidFill>
            <a:srgbClr val="2D3F37"/>
          </a:solidFill>
          <a:ln w="12700">
            <a:solidFill>
              <a:srgbClr val="2D3F37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48640" y="14676120"/>
            <a:ext cx="100584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>
                <a:solidFill>
                  <a:srgbClr val="E07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 </a:t>
            </a:r>
            <a:r>
              <a:rPr lang="en-US" sz="1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김태훈 (대표) · 김재원 · 김준서 · 이윤호</a:t>
            </a:r>
            <a:r>
              <a:rPr lang="en-US" sz="100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|     </a:t>
            </a:r>
            <a:r>
              <a:rPr lang="en-US" sz="1000" b="1" kern="0" spc="200">
                <a:solidFill>
                  <a:srgbClr val="E07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지도교사  </a:t>
            </a:r>
            <a:r>
              <a:rPr lang="en-US" sz="1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김영우</a:t>
            </a:r>
            <a:r>
              <a:rPr lang="en-US" sz="100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|     </a:t>
            </a:r>
            <a:r>
              <a:rPr lang="en-US" sz="1000">
                <a:solidFill>
                  <a:srgbClr val="F5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아산스마트팩토리마이스터고등학교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416</Words>
  <Application>Microsoft Macintosh PowerPoint</Application>
  <PresentationFormat>사용자 지정</PresentationFormat>
  <Paragraphs>84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프레젠테이션</vt:lpstr>
    </vt:vector>
  </TitlesOfParts>
  <Company>아산스마트팩토리마이스터고등학교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따라와유 본선 전시 포스터</dc:title>
  <dc:subject>PptxGenJS Presentation</dc:subject>
  <dc:creator>Kims &amp; Lee</dc:creator>
  <cp:lastModifiedBy>Microsoft Office User</cp:lastModifiedBy>
  <cp:revision>2</cp:revision>
  <dcterms:created xsi:type="dcterms:W3CDTF">2026-04-26T17:17:25Z</dcterms:created>
  <dcterms:modified xsi:type="dcterms:W3CDTF">2026-04-26T19:51:13Z</dcterms:modified>
</cp:coreProperties>
</file>