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handoutMasterIdLst>
    <p:handoutMasterId r:id="rId16"/>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3F36"/>
    <a:srgbClr val="17211D"/>
    <a:srgbClr val="456355"/>
    <a:srgbClr val="E078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46"/>
    <p:restoredTop sz="48276"/>
  </p:normalViewPr>
  <p:slideViewPr>
    <p:cSldViewPr snapToGrid="0" snapToObjects="1">
      <p:cViewPr>
        <p:scale>
          <a:sx n="112" d="100"/>
          <a:sy n="112" d="100"/>
        </p:scale>
        <p:origin x="440" y="384"/>
      </p:cViewPr>
      <p:guideLst/>
    </p:cSldViewPr>
  </p:slideViewPr>
  <p:notesTextViewPr>
    <p:cViewPr>
      <p:scale>
        <a:sx n="400" d="100"/>
        <a:sy n="4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58FABFC-6AB2-1747-9833-789452F21ABA}"/>
              </a:ext>
            </a:extLst>
          </p:cNvPr>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kumimoji="1" lang="ko-Kore-KR" altLang="en-US"/>
          </a:p>
        </p:txBody>
      </p:sp>
      <p:sp>
        <p:nvSpPr>
          <p:cNvPr id="3" name="날짜 개체 틀 2">
            <a:extLst>
              <a:ext uri="{FF2B5EF4-FFF2-40B4-BE49-F238E27FC236}">
                <a16:creationId xmlns:a16="http://schemas.microsoft.com/office/drawing/2014/main" id="{A7D63F49-ECC8-E14B-A176-066D1A85BE6C}"/>
              </a:ext>
            </a:extLst>
          </p:cNvPr>
          <p:cNvSpPr>
            <a:spLocks noGrp="1"/>
          </p:cNvSpPr>
          <p:nvPr>
            <p:ph type="dt" sz="quarter" idx="1"/>
          </p:nvPr>
        </p:nvSpPr>
        <p:spPr>
          <a:xfrm>
            <a:off x="2913063" y="0"/>
            <a:ext cx="2228850" cy="458788"/>
          </a:xfrm>
          <a:prstGeom prst="rect">
            <a:avLst/>
          </a:prstGeom>
        </p:spPr>
        <p:txBody>
          <a:bodyPr vert="horz" lIns="91440" tIns="45720" rIns="91440" bIns="45720" rtlCol="0"/>
          <a:lstStyle>
            <a:lvl1pPr algn="r">
              <a:defRPr sz="1200"/>
            </a:lvl1pPr>
          </a:lstStyle>
          <a:p>
            <a:fld id="{2CB1716F-95C9-0943-A951-6C091A99039A}" type="datetimeFigureOut">
              <a:rPr kumimoji="1" lang="ko-Kore-KR" altLang="en-US" smtClean="0"/>
              <a:t>2026. 5. 23.</a:t>
            </a:fld>
            <a:endParaRPr kumimoji="1" lang="ko-Kore-KR" altLang="en-US"/>
          </a:p>
        </p:txBody>
      </p:sp>
      <p:sp>
        <p:nvSpPr>
          <p:cNvPr id="4" name="바닥글 개체 틀 3">
            <a:extLst>
              <a:ext uri="{FF2B5EF4-FFF2-40B4-BE49-F238E27FC236}">
                <a16:creationId xmlns:a16="http://schemas.microsoft.com/office/drawing/2014/main" id="{2AEFFB6C-84F3-C344-A0F0-92A1B8C6BCC3}"/>
              </a:ext>
            </a:extLst>
          </p:cNvPr>
          <p:cNvSpPr>
            <a:spLocks noGrp="1"/>
          </p:cNvSpPr>
          <p:nvPr>
            <p:ph type="ftr" sz="quarter" idx="2"/>
          </p:nvPr>
        </p:nvSpPr>
        <p:spPr>
          <a:xfrm>
            <a:off x="0" y="8685213"/>
            <a:ext cx="2228850" cy="458787"/>
          </a:xfrm>
          <a:prstGeom prst="rect">
            <a:avLst/>
          </a:prstGeom>
        </p:spPr>
        <p:txBody>
          <a:bodyPr vert="horz" lIns="91440" tIns="45720" rIns="91440" bIns="45720" rtlCol="0" anchor="b"/>
          <a:lstStyle>
            <a:lvl1pPr algn="l">
              <a:defRPr sz="1200"/>
            </a:lvl1pPr>
          </a:lstStyle>
          <a:p>
            <a:endParaRPr kumimoji="1" lang="ko-Kore-KR" altLang="en-US"/>
          </a:p>
        </p:txBody>
      </p:sp>
      <p:sp>
        <p:nvSpPr>
          <p:cNvPr id="5" name="슬라이드 번호 개체 틀 4">
            <a:extLst>
              <a:ext uri="{FF2B5EF4-FFF2-40B4-BE49-F238E27FC236}">
                <a16:creationId xmlns:a16="http://schemas.microsoft.com/office/drawing/2014/main" id="{65D6AAB1-9CE4-1343-BDB7-3FD3F53993C7}"/>
              </a:ext>
            </a:extLst>
          </p:cNvPr>
          <p:cNvSpPr>
            <a:spLocks noGrp="1"/>
          </p:cNvSpPr>
          <p:nvPr>
            <p:ph type="sldNum" sz="quarter" idx="3"/>
          </p:nvPr>
        </p:nvSpPr>
        <p:spPr>
          <a:xfrm>
            <a:off x="2913063" y="8685213"/>
            <a:ext cx="2228850" cy="458787"/>
          </a:xfrm>
          <a:prstGeom prst="rect">
            <a:avLst/>
          </a:prstGeom>
        </p:spPr>
        <p:txBody>
          <a:bodyPr vert="horz" lIns="91440" tIns="45720" rIns="91440" bIns="45720" rtlCol="0" anchor="b"/>
          <a:lstStyle>
            <a:lvl1pPr algn="r">
              <a:defRPr sz="1200"/>
            </a:lvl1pPr>
          </a:lstStyle>
          <a:p>
            <a:fld id="{69B7B03B-D20C-7645-9EF0-CDD6585853D0}" type="slidenum">
              <a:rPr kumimoji="1" lang="ko-Kore-KR" altLang="en-US" smtClean="0"/>
              <a:t>‹#›</a:t>
            </a:fld>
            <a:endParaRPr kumimoji="1" lang="ko-Kore-KR" altLang="en-US"/>
          </a:p>
        </p:txBody>
      </p:sp>
    </p:spTree>
    <p:extLst>
      <p:ext uri="{BB962C8B-B14F-4D97-AF65-F5344CB8AC3E}">
        <p14:creationId xmlns:p14="http://schemas.microsoft.com/office/powerpoint/2010/main" val="272392799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989131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sz="1600" dirty="0"/>
              <a:t>[12초] 안녕하세요. 아산스마트팩토리마이스터고 Kims &amp; Lee 팀입니다. 저희가 만든 건, 예산과 취향만 알려주면 AI가 여행을 대신 계획하는 앱 '트레빗'입니다.</a:t>
            </a:r>
            <a:r>
              <a:rPr lang="ko-KR" altLang="en-US" sz="1600" dirty="0"/>
              <a:t/>
            </a:r>
            <a:r>
              <a:rPr lang="en-US" altLang="ko-KR" sz="1600" dirty="0"/>
              <a:t/>
            </a:r>
            <a:r>
              <a:rPr lang="ko-KR" altLang="en-US" sz="1600" dirty="0"/>
              <a:t/>
            </a:r>
            <a:r>
              <a:rPr lang="en" altLang="ko-Kore-KR" sz="1600" dirty="0"/>
              <a:t/>
            </a:r>
            <a:r>
              <a:rPr lang="ko-KR" altLang="en-US" sz="1600" dirty="0"/>
              <a:t/>
            </a:r>
            <a:r>
              <a:rPr lang="en-US" altLang="ko-KR" sz="1600" dirty="0"/>
              <a:t/>
            </a:r>
            <a:r>
              <a:rPr lang="ko-KR" altLang="en-US" sz="1600" dirty="0" err="1"/>
              <a:t/>
            </a:r>
            <a:r>
              <a:rPr lang="ko-KR" altLang="en-US" sz="1600" dirty="0"/>
              <a:t/>
            </a:r>
            <a:r>
              <a:rPr lang="ko-KR" altLang="en-US" sz="1600" dirty="0" err="1"/>
              <a:t/>
            </a:r>
            <a:r>
              <a:rPr lang="en-US" altLang="ko-KR" sz="1600" dirty="0"/>
              <a:t/>
            </a:r>
            <a:r>
              <a:rPr lang="ko-KR" altLang="en-US" sz="1600" dirty="0"/>
              <a:t/>
            </a:r>
            <a:r>
              <a:rPr lang="ko-KR" altLang="en-US" sz="1600" dirty="0" err="1"/>
              <a:t/>
            </a:r>
            <a:r>
              <a:rPr lang="ko-KR" altLang="en-US" sz="1600" dirty="0"/>
              <a:t/>
            </a:r>
            <a:r>
              <a:rPr lang="en" altLang="ko-Kore-KR" sz="1600" dirty="0" err="1"/>
              <a:t/>
            </a:r>
            <a:r>
              <a:rPr lang="en" altLang="ko-Kore-KR" sz="1600" dirty="0"/>
              <a:t/>
            </a:r>
            <a:r>
              <a:rPr lang="ko-KR" altLang="en-US" sz="1600" dirty="0"/>
              <a:t/>
            </a:r>
            <a:r>
              <a:rPr lang="en-US" altLang="ko-KR" sz="1600" dirty="0"/>
              <a:t/>
            </a:r>
            <a:r>
              <a:rPr lang="ko-KR" altLang="en-US" sz="1600" dirty="0"/>
              <a:t/>
            </a:r>
            <a:r>
              <a:rPr lang="en-US" altLang="ko-KR" sz="1600" dirty="0"/>
              <a:t/>
            </a:r>
            <a:r>
              <a:rPr lang="ko-KR" altLang="en-US" sz="1600" dirty="0"/>
              <a:t/>
            </a:r>
            <a:r>
              <a:rPr lang="en-US" altLang="ko-KR" sz="1600" dirty="0"/>
              <a:t/>
            </a:r>
            <a:endParaRPr lang="en-US" altLang="ko-KR" sz="1100" dirty="0">
              <a:latin typeface="Noto Sans KR"/>
            </a:endParaRP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sz="1600" dirty="0">
                <a:effectLst/>
                <a:latin typeface="Google Sans Text"/>
              </a:rPr>
              <a:t>[15초] 트레빗의 원칙은 하나입니다. 사용자는 결정하지 않습니다. 예산과 취향만 넣으면 AI가 코스와 식당, 숙소와 동선을 정하고, 장소는 도착하는 순간까지 비밀입니다. 다른 여행 앱들이 선택지를 늘릴 때 저희는 결정 자체를 가져갑니다.</a:t>
            </a:r>
            <a:r>
              <a:rPr lang="ko-KR" altLang="en-US" sz="1600" dirty="0">
                <a:effectLst/>
                <a:latin typeface="Google Sans Text"/>
              </a:rPr>
              <a:t/>
            </a:r>
            <a:r>
              <a:rPr lang="en-US" altLang="ko-KR" sz="1600" dirty="0">
                <a:effectLst/>
                <a:latin typeface="Google Sans Text"/>
              </a:rPr>
              <a:t/>
            </a:r>
            <a:r>
              <a:rPr lang="en-US" altLang="ko-KR" sz="1600" b="1"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dirty="0">
                <a:effectLst/>
                <a:latin typeface="Google Sans Text"/>
              </a:rPr>
              <a:t/>
            </a:r>
            <a:r>
              <a:rPr lang="en-US" altLang="ko-KR" sz="1600" dirty="0">
                <a:effectLst/>
                <a:latin typeface="Google Sans Text"/>
              </a:rPr>
              <a:t/>
            </a:r>
            <a:r>
              <a:rPr lang="en" altLang="ko-Kore-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p>
          <a:p>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b="1" dirty="0">
                <a:effectLst/>
                <a:latin typeface="Google Sans Text"/>
              </a:rPr>
              <a:t/>
            </a:r>
            <a:r>
              <a:rPr lang="ko-KR" altLang="en-US" sz="1600" b="1" dirty="0">
                <a:effectLst/>
                <a:latin typeface="Google Sans Text"/>
              </a:rPr>
              <a:t/>
            </a:r>
            <a:r>
              <a:rPr lang="en-US" altLang="ko-KR" sz="1600" b="1"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sz="1600" dirty="0">
                <a:effectLst/>
                <a:latin typeface="Google Sans Text"/>
              </a:rPr>
              <a:t>[20초] 왜 결정을 가져가야 할까요. 저희가 직접 50명에게 물었습니다. 답은 하나였습니다. 갈 데가 없어서가 아니라, 정하는 게 귀찮아서 안 간다. 저희 팀도 같았습니다. 가까운 곳조차 코스를 못 짜서 주말마다 집에 있었습니다.</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en-US" altLang="ko-KR" sz="1600" b="1"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dirty="0">
                <a:effectLst/>
                <a:latin typeface="Google Sans Text"/>
              </a:rPr>
              <a:t/>
            </a:r>
          </a:p>
          <a:p>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 altLang="ko-Kore-KR"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 altLang="ko-Kore-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sz="1600" dirty="0">
                <a:effectLst/>
                <a:latin typeface="Google Sans Text"/>
              </a:rPr>
              <a:t>[12초] 저희만의 문제가 아니었습니다. 1인 가구는 804만, MZ세대의 72%가 결정 피로를 호소합니다. 여행 계획을 짜다 평균 14시간 만에 포기합니다.</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b="1" dirty="0">
                <a:effectLst/>
                <a:latin typeface="Google Sans Text"/>
              </a:rPr>
              <a:t/>
            </a:r>
            <a:r>
              <a:rPr lang="en-US" altLang="ko-KR" sz="1600" dirty="0">
                <a:effectLst/>
                <a:latin typeface="Google Sans Text"/>
              </a:rPr>
              <a:t/>
            </a:r>
          </a:p>
          <a:p>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sz="1600" dirty="0">
                <a:effectLst/>
                <a:latin typeface="Google Sans Text"/>
              </a:rPr>
              <a:t>[15초] 트레빗은 다섯 단계입니다. 지역과 예산을 고르고, 취향 질문에 답하면, AI가 계획을 세웁니다. 그다음부터는 길을 따라가기만 하면 됩니다.</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p>
          <a:p>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en" altLang="ko-Kore-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 altLang="ko-Kore-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sz="1600" dirty="0">
                <a:effectLst/>
                <a:latin typeface="Google Sans Text"/>
              </a:rPr>
              <a:t>[질의응답 대비 · 시장 규모 질문 나오면] 국내 여행 시장 전체는 36조 8천억원이고, 저희가 노리는 1인 여행·데모 모드 시장은 5조원입니다. 3년 안에 그중 1500억, 연매출 200억을 목표로 잡았습니다. 데모 모드 여행 시장 자체가 연평균 24.5퍼센트씩 크고 있다는 게 그 근거입니다.</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en" altLang="ko-Kore-KR" sz="1600" b="1"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b="1"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 altLang="ko-Kore-KR" sz="1600" b="1"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b="1"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 altLang="ko-Kore-KR" sz="1600" b="1"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b="1" dirty="0">
                <a:effectLst/>
                <a:latin typeface="Google Sans Text"/>
              </a:rPr>
              <a:t/>
            </a:r>
            <a:r>
              <a:rPr lang="ko-KR" altLang="en-US" sz="1600" dirty="0">
                <a:effectLst/>
                <a:latin typeface="Google Sans Text"/>
              </a:rPr>
              <a:t/>
            </a:r>
            <a:r>
              <a:rPr lang="en-US" altLang="ko-KR" sz="1600" dirty="0">
                <a:effectLst/>
                <a:latin typeface="Google Sans Text"/>
              </a:rPr>
              <a:t/>
            </a:r>
          </a:p>
          <a:p>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b="1" dirty="0">
                <a:effectLst/>
                <a:latin typeface="Google Sans Text"/>
              </a:rPr>
              <a:t/>
            </a:r>
            <a:r>
              <a:rPr lang="ko-KR" altLang="en-US" sz="1600" dirty="0">
                <a:effectLst/>
                <a:latin typeface="Google Sans Text"/>
              </a:rPr>
              <a:t/>
            </a:r>
            <a:r>
              <a:rPr lang="en-US" altLang="ko-KR" sz="1600" dirty="0">
                <a:effectLst/>
                <a:latin typeface="Google Sans Text"/>
              </a:rPr>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sz="1600" dirty="0">
                <a:effectLst/>
                <a:latin typeface="Google Sans Text"/>
              </a:rPr>
              <a:t>[질의응답 대비 · 수익 구조 질문 나오면] 저희는 세 갈래로 봅니다. 첫째는 식당·숙소·체험 예약이 성사될 때마다 받는 정률 수수료 12퍼센트, 둘째는 월 9900원짜리 프리미엄 구독으로 큐레이션 우선순위나 디톡스 리포트를 제공하는 겁니다. 셋째는 지자체나 관광공사에 여행 패턴 데이터를 제공하는 B2G 사업입니다.</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b="1" dirty="0">
                <a:effectLst/>
                <a:latin typeface="Google Sans Text"/>
              </a:rPr>
              <a:t/>
            </a:r>
            <a:r>
              <a:rPr lang="ko-KR" altLang="en-US" sz="1600" b="1"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b="1"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 altLang="ko-Kore-KR" sz="1600" b="1" dirty="0">
                <a:effectLst/>
                <a:latin typeface="Google Sans Text"/>
              </a:rPr>
              <a:t/>
            </a:r>
            <a:r>
              <a:rPr lang="ko-KR" altLang="en-US" sz="1600" b="1" dirty="0">
                <a:effectLst/>
                <a:latin typeface="Google Sans Text"/>
              </a:rPr>
              <a:t/>
            </a:r>
            <a:r>
              <a:rPr lang="ko-KR" altLang="en-US" sz="1600" dirty="0">
                <a:effectLst/>
                <a:latin typeface="Google Sans Text"/>
              </a:rPr>
              <a:t/>
            </a:r>
            <a:r>
              <a:rPr lang="en-US" altLang="ko-KR" sz="1600" dirty="0">
                <a:effectLst/>
                <a:latin typeface="Google Sans Text"/>
              </a:rPr>
              <a:t/>
            </a:r>
          </a:p>
          <a:p>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sz="1600" dirty="0">
                <a:effectLst/>
                <a:latin typeface="Google Sans Text"/>
              </a:rPr>
              <a:t>[12초] 기존 여행 앱과는 정반대입니다. 선택지를 주는 대신 결정을 대신하고, 미리 보여주는 대신 도착할 때 공개합니다.</a:t>
            </a:r>
            <a:r>
              <a:rPr lang="ko-KR" altLang="en-US" sz="1600" dirty="0">
                <a:effectLst/>
                <a:latin typeface="Google Sans Text"/>
              </a:rPr>
              <a:t/>
            </a:r>
            <a:r>
              <a:rPr lang="en-US" altLang="ko-KR"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ko-KR" altLang="en-US" sz="1600" dirty="0" err="1">
                <a:effectLst/>
                <a:latin typeface="Google Sans Text"/>
              </a:rPr>
              <a:t/>
            </a:r>
            <a:r>
              <a:rPr lang="en-US" altLang="ko-KR" sz="1600"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p>
          <a:p>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 altLang="ko-Kore-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en-US" altLang="ko-KR" sz="1600" dirty="0">
                <a:effectLst/>
                <a:latin typeface="Google Sans Text"/>
              </a:rPr>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sz="1600" dirty="0">
                <a:effectLst/>
                <a:latin typeface="Google Sans Text"/>
              </a:rPr>
              <a:t>[22초] 기술은 전부 실제로 돌아갑니다. Kotlin Spring 백엔드가 사용자 프로필을 로컬 LLM인 Gemma에 넘겨 장소를 고르고 추천 이유까지 만듭니다. 걷기 싫다고 답하면 산과 트레킹 코스는 후보에서 빠집니다. LLM이 꺼져 있어도 휴리스틱으로 동작하고, 외부 API 키가 하나도 없어도 전체 흐름이 돌아가도록 만들었습니다.</a:t>
            </a:r>
            <a:r>
              <a:rPr lang="ko-KR" altLang="en-US" sz="1600" dirty="0">
                <a:effectLst/>
                <a:latin typeface="Google Sans Text"/>
              </a:rPr>
              <a:t/>
            </a:r>
            <a:r>
              <a:rPr lang="en-US" altLang="ko-KR" sz="1600" dirty="0">
                <a:effectLst/>
                <a:latin typeface="Google Sans Text"/>
              </a:rPr>
              <a:t/>
            </a:r>
            <a:r>
              <a:rPr lang="en" altLang="ko-Kore-KR" sz="1600" dirty="0">
                <a:effectLst/>
                <a:latin typeface="Google Sans Text"/>
              </a:rPr>
              <a:t/>
            </a:r>
            <a:r>
              <a:rPr lang="ko-KR" altLang="en-US" sz="1600" dirty="0">
                <a:effectLst/>
                <a:latin typeface="Google Sans Text"/>
              </a:rPr>
              <a:t/>
            </a:r>
            <a:r>
              <a:rPr lang="en" altLang="ko-Kore-KR" sz="1600" dirty="0" err="1">
                <a:effectLst/>
                <a:latin typeface="Google Sans Text"/>
              </a:rPr>
              <a:t/>
            </a:r>
            <a:r>
              <a:rPr lang="en" altLang="ko-Kore-KR"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 altLang="ko-Kore-KR" sz="1600" dirty="0">
                <a:effectLst/>
                <a:latin typeface="Google Sans Text"/>
              </a:rPr>
              <a:t/>
            </a:r>
            <a:r>
              <a:rPr lang="ko-KR" altLang="en-US" sz="1600" dirty="0">
                <a:effectLst/>
                <a:latin typeface="Google Sans Text"/>
              </a:rPr>
              <a:t/>
            </a:r>
            <a:r>
              <a:rPr lang="en-US" altLang="ko-KR" sz="1600" dirty="0">
                <a:effectLst/>
                <a:latin typeface="Google Sans Text"/>
              </a:rPr>
              <a:t/>
            </a:r>
            <a:r>
              <a:rPr lang="en" altLang="ko-Kore-KR" sz="1600" b="1" dirty="0" err="1">
                <a:effectLst/>
                <a:latin typeface="Google Sans Text"/>
              </a:rPr>
              <a:t/>
            </a:r>
            <a:r>
              <a:rPr lang="ko-KR" altLang="en-US" sz="1600" b="1" dirty="0">
                <a:effectLst/>
                <a:latin typeface="Google Sans Text"/>
              </a:rPr>
              <a:t/>
            </a:r>
            <a:r>
              <a:rPr lang="en" altLang="ko-Kore-KR" sz="1600" b="1" dirty="0">
                <a:effectLst/>
                <a:latin typeface="Google Sans Text"/>
              </a:rPr>
              <a:t/>
            </a:r>
            <a:r>
              <a:rPr lang="ko-KR" altLang="en-US" sz="1600" dirty="0">
                <a:effectLst/>
                <a:latin typeface="Google Sans Text"/>
              </a:rPr>
              <a:t/>
            </a:r>
            <a:r>
              <a:rPr lang="en-US" altLang="ko-KR" sz="1600" dirty="0">
                <a:effectLst/>
                <a:latin typeface="Google Sans Text"/>
              </a:rPr>
              <a:t/>
            </a:r>
            <a:r>
              <a:rPr lang="en" altLang="ko-Kore-KR" sz="1600" b="1" dirty="0">
                <a:effectLst/>
                <a:latin typeface="Google Sans Text"/>
              </a:rPr>
              <a:t/>
            </a:r>
            <a:r>
              <a:rPr lang="ko-KR" altLang="en-US" sz="1600" b="1" dirty="0">
                <a:effectLst/>
                <a:latin typeface="Google Sans Text"/>
              </a:rPr>
              <a:t/>
            </a:r>
            <a:r>
              <a:rPr lang="en" altLang="ko-Kore-KR" sz="1600" b="1" dirty="0">
                <a:effectLst/>
                <a:latin typeface="Google Sans Text"/>
              </a:rPr>
              <a:t/>
            </a:r>
            <a:r>
              <a:rPr lang="ko-KR" altLang="en-US" sz="1600" b="1" dirty="0">
                <a:effectLst/>
                <a:latin typeface="Google Sans Text"/>
              </a:rPr>
              <a:t/>
            </a:r>
            <a:r>
              <a:rPr lang="ko-KR" altLang="en-US" sz="1600" b="1" dirty="0" err="1">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 altLang="ko-Kore-KR" sz="1600" b="1" dirty="0" err="1">
                <a:effectLst/>
                <a:latin typeface="Google Sans Text"/>
              </a:rPr>
              <a:t/>
            </a:r>
            <a:r>
              <a:rPr lang="en" altLang="ko-Kore-KR" sz="1600" b="1" dirty="0">
                <a:effectLst/>
                <a:latin typeface="Google Sans Text"/>
              </a:rPr>
              <a:t/>
            </a:r>
            <a:r>
              <a:rPr lang="ko-KR" altLang="en-US" sz="1600" b="1"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 altLang="ko-Kore-KR" sz="1600" b="1" dirty="0">
                <a:effectLst/>
                <a:latin typeface="Google Sans Text"/>
              </a:rPr>
              <a:t/>
            </a:r>
            <a:r>
              <a:rPr lang="en" altLang="ko-Kore-KR" sz="1600" dirty="0">
                <a:effectLst/>
                <a:latin typeface="Google Sans Text"/>
              </a:rPr>
              <a:t/>
            </a:r>
            <a:r>
              <a:rPr lang="ko-KR" altLang="en-US" sz="1600" dirty="0">
                <a:effectLst/>
                <a:latin typeface="Google Sans Text"/>
              </a:rPr>
              <a:t/>
            </a:r>
            <a:r>
              <a:rPr lang="en-US" altLang="ko-KR" sz="1600" dirty="0">
                <a:effectLst/>
                <a:latin typeface="Google Sans Text"/>
              </a:rPr>
              <a:t/>
            </a:r>
          </a:p>
          <a:p>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 altLang="ko-Kore-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 altLang="ko-Kore-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sz="1600" dirty="0">
                <a:effectLst/>
                <a:latin typeface="Google Sans Text"/>
              </a:rPr>
              <a:t>[25초] 실제 화면입니다. 지역과 예산, 기간을 고르면 트레빗이 취향을 한 화면에 하나씩 묻습니다. 목적, 성별, 연령대, 좋아하는 음식, 그리고 많이 걷는 걸 좋아하는지까지. 마지막에는 "조용한 카페 위주로" 같은 자연어 문장을 그대로 받아 장소 선택에 반영합니다.</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en" altLang="ko-Kore-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p>
          <a:p>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 altLang="ko-Kore-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 altLang="ko-Kore-KR"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ko-KR" altLang="en-US" sz="1600" dirty="0" err="1">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sz="1600" dirty="0">
                <a:effectLst/>
                <a:latin typeface="Google Sans Text"/>
              </a:rPr>
              <a:t>[25초] 완성된 플랜입니다. 예산 배분과 추천 이유는 보이지만, 장소 이름은 전부 가려져 있습니다. 여행을 시작하면 발밑의 길이 조금씩만 열리고, 도착한 순간에만 장소가 공개됩니다. 화면 속 북촌한옥마을이 바로 그 순간입니다. GPS가 없어도 시뮬레이션으로 똑같이 체험할 수 있습니다.</a:t>
            </a:r>
            <a:r>
              <a:rPr lang="ko-KR" altLang="en-US" sz="1600" dirty="0">
                <a:effectLst/>
                <a:latin typeface="Google Sans Text"/>
              </a:rPr>
              <a:t/>
            </a:r>
            <a:r>
              <a:rPr lang="en-US" altLang="ko-KR" sz="1600"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p>
          <a:p>
            <a:r>
              <a:rPr lang="ko-KR" altLang="en-US" sz="1600"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b="1" dirty="0">
                <a:effectLst/>
                <a:latin typeface="Google Sans Text"/>
              </a:rPr>
              <a:t/>
            </a:r>
            <a:r>
              <a:rPr lang="en-US" altLang="ko-KR" sz="1600" b="1" dirty="0">
                <a:effectLst/>
                <a:latin typeface="Google Sans Text"/>
              </a:rPr>
              <a:t/>
            </a:r>
            <a:r>
              <a:rPr lang="ko-KR" altLang="en-US" sz="1600" b="1" dirty="0">
                <a:effectLst/>
                <a:latin typeface="Google Sans Text"/>
              </a:rPr>
              <a:t/>
            </a:r>
            <a:r>
              <a:rPr lang="ko-KR" altLang="en-US" sz="1600" b="1" dirty="0" err="1">
                <a:effectLst/>
                <a:latin typeface="Google Sans Text"/>
              </a:rPr>
              <a:t/>
            </a:r>
            <a:r>
              <a:rPr lang="ko-KR" altLang="en-US" sz="1600" dirty="0" err="1">
                <a:effectLst/>
                <a:latin typeface="Google Sans Text"/>
              </a:rPr>
              <a:t/>
            </a:r>
            <a:r>
              <a:rPr lang="en-US" altLang="ko-KR" sz="1600" dirty="0">
                <a:effectLst/>
                <a:latin typeface="Google Sans Text"/>
              </a:rPr>
              <a:t/>
            </a:r>
            <a:r>
              <a:rPr lang="ko-KR" altLang="en-US" sz="1600" dirty="0" err="1">
                <a:effectLst/>
                <a:latin typeface="Google Sans Text"/>
              </a:rPr>
              <a:t/>
            </a:r>
            <a:r>
              <a:rPr lang="en-US" altLang="ko-KR" sz="1600" dirty="0">
                <a:effectLst/>
                <a:latin typeface="Google Sans Text"/>
              </a:rPr>
              <a:t/>
            </a:r>
            <a:r>
              <a:rPr lang="ko-KR" altLang="en-US" sz="1600" dirty="0" err="1">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en" altLang="ko-Kore-KR" sz="1600" dirty="0">
                <a:effectLst/>
                <a:latin typeface="Google Sans Text"/>
              </a:rPr>
              <a:t/>
            </a:r>
            <a:r>
              <a:rPr lang="ko-KR" altLang="en-US" sz="1600" dirty="0">
                <a:effectLst/>
                <a:latin typeface="Google Sans Text"/>
              </a:rPr>
              <a:t/>
            </a:r>
            <a:r>
              <a:rPr lang="en" altLang="ko-Kore-KR"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sz="1600" dirty="0">
                <a:effectLst/>
                <a:latin typeface="Google Sans Text"/>
              </a:rPr>
              <a:t>[질의응답 대비 · 팀·확장 계획 질문 나오면] 저희가 푸는 문제는 1인 여행객의 결정 피로와 지역 관광 접근성 부족입니다. 해법은 AI가 완전히 자동으로 결정하고 서프라이즈로 공개하는 것, 여기에 GPS 없이도 체험할 수 있는 데모 모드까지 붙였습니다. 앞으로는 전국으로 넓히고, 지자체 대상 데이터 사업까지 연결할 계획입니다. 팀은 아산스마트팩토리마이스터고 4명입니다 — 저는 AI와 기획, 장한결이 데이터·백엔드, 이승주가 UI/UX와 운영, 이윤호가 QA와 테스트를 맡고 있습니다.</a:t>
            </a:r>
            <a:r>
              <a:rPr lang="ko-KR" altLang="en-US" sz="1600" dirty="0">
                <a:effectLst/>
                <a:latin typeface="Google Sans Text"/>
              </a:rPr>
              <a:t/>
            </a:r>
            <a:r>
              <a:rPr lang="en" altLang="ko-Kore-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 altLang="ko-Kore-KR" sz="1600" b="1" dirty="0">
                <a:effectLst/>
                <a:latin typeface="Google Sans Text"/>
              </a:rPr>
              <a:t/>
            </a:r>
            <a:r>
              <a:rPr lang="ko-KR" altLang="en-US" sz="1600" dirty="0">
                <a:effectLst/>
                <a:latin typeface="Google Sans Text"/>
              </a:rPr>
              <a:t/>
            </a:r>
            <a:r>
              <a:rPr lang="en-US" altLang="ko-KR" sz="1600" dirty="0">
                <a:effectLst/>
                <a:latin typeface="Google Sans Text"/>
              </a:rPr>
              <a:t/>
            </a:r>
            <a:r>
              <a:rPr lang="en" altLang="ko-Kore-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 altLang="ko-Kore-KR" sz="1600" b="1"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 altLang="ko-Kore-KR" sz="1600" b="1" dirty="0">
                <a:effectLst/>
                <a:latin typeface="Google Sans Text"/>
              </a:rPr>
              <a:t/>
            </a:r>
            <a:r>
              <a:rPr lang="en" altLang="ko-Kore-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 altLang="ko-Kore-KR" sz="1600" dirty="0">
                <a:effectLst/>
                <a:latin typeface="Google Sans Text"/>
              </a:rPr>
              <a:t/>
            </a:r>
            <a:r>
              <a:rPr lang="ko-KR" altLang="en-US" sz="1600" dirty="0">
                <a:effectLst/>
                <a:latin typeface="Google Sans Text"/>
              </a:rPr>
              <a:t/>
            </a:r>
            <a:r>
              <a:rPr lang="en" altLang="ko-Kore-KR" sz="1600" dirty="0">
                <a:effectLst/>
                <a:latin typeface="Google Sans Text"/>
              </a:rPr>
              <a:t/>
            </a:r>
            <a:r>
              <a:rPr lang="ko-KR" altLang="en-US" sz="1600" dirty="0">
                <a:effectLst/>
                <a:latin typeface="Google Sans Text"/>
              </a:rPr>
              <a:t/>
            </a:r>
            <a:r>
              <a:rPr lang="en" altLang="ko-Kore-KR"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en" altLang="ko-Kore-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 altLang="ko-Kore-KR" sz="1600" dirty="0">
                <a:effectLst/>
                <a:latin typeface="Google Sans Text"/>
              </a:rPr>
              <a:t/>
            </a:r>
            <a:r>
              <a:rPr lang="ko-KR" altLang="en-US"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err="1">
                <a:effectLst/>
                <a:latin typeface="Google Sans Text"/>
              </a:rPr>
              <a:t/>
            </a:r>
            <a:r>
              <a:rPr lang="ko-KR" altLang="en-US" sz="1600" dirty="0">
                <a:effectLst/>
                <a:latin typeface="Google Sans Text"/>
              </a:rPr>
              <a:t/>
            </a:r>
            <a:r>
              <a:rPr lang="en" altLang="ko-Kore-KR" sz="1600" dirty="0">
                <a:effectLst/>
                <a:latin typeface="Google Sans Text"/>
              </a:rPr>
              <a:t/>
            </a:r>
            <a:r>
              <a:rPr lang="ko-KR" altLang="en-US" sz="1600" dirty="0">
                <a:effectLst/>
                <a:latin typeface="Google Sans Text"/>
              </a:rPr>
              <a:t/>
            </a:r>
            <a:r>
              <a:rPr lang="en-US" altLang="ko-KR" sz="1600" dirty="0">
                <a:effectLst/>
                <a:latin typeface="Google Sans Text"/>
              </a:rPr>
              <a:t/>
            </a:r>
          </a:p>
          <a:p>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r>
              <a:rPr lang="ko-KR" altLang="en-US" sz="1600" dirty="0">
                <a:effectLst/>
                <a:latin typeface="Google Sans Text"/>
              </a:rPr>
              <a:t/>
            </a:r>
            <a:r>
              <a:rPr lang="en-US" altLang="ko-KR" sz="1600" dirty="0">
                <a:effectLst/>
                <a:latin typeface="Google Sans Text"/>
              </a:rPr>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600" dirty="0"/>
              <a:t>[13초] 트레빗은 결정 피로를 없애면서, AI가 고른 지역 상권으로 방문객을 보냅니다. 지금 보신 전부는 실제로 작동하는 서비스입니다. 감사합니다.</a:t>
            </a:r>
            <a:r>
              <a:rPr lang="en-US" altLang="ko-KR" sz="1600" dirty="0"/>
              <a:t/>
            </a:r>
            <a:r>
              <a:rPr lang="ko-KR" altLang="en-US" sz="1600" dirty="0"/>
              <a:t/>
            </a:r>
            <a:r>
              <a:rPr lang="en-US" altLang="ko-KR" sz="1600" dirty="0"/>
              <a:t/>
            </a:r>
            <a:r>
              <a:rPr lang="ko-KR" altLang="en-US" sz="1600" dirty="0"/>
              <a:t/>
            </a:r>
            <a:r>
              <a:rPr lang="en-US" altLang="ko-KR" sz="1600" dirty="0"/>
              <a:t/>
            </a:r>
            <a:r>
              <a:rPr lang="ko-KR" altLang="en-US" sz="1600" dirty="0"/>
              <a:t/>
            </a:r>
            <a:r>
              <a:rPr lang="en-US" altLang="ko-KR" sz="1600" dirty="0"/>
              <a:t/>
            </a:r>
            <a:r>
              <a:rPr lang="ko-KR" altLang="en-US" sz="1600" dirty="0" err="1"/>
              <a:t/>
            </a:r>
            <a:r>
              <a:rPr lang="ko-KR" altLang="en-US" sz="1600" dirty="0"/>
              <a:t/>
            </a:r>
            <a:r>
              <a:rPr lang="en-US" altLang="ko-KR" sz="1600" dirty="0"/>
              <a:t/>
            </a:r>
            <a:r>
              <a:rPr lang="ko-KR" altLang="en-US" sz="1600" dirty="0"/>
              <a:t/>
            </a:r>
            <a:r>
              <a:rPr lang="en-US" altLang="ko-KR" sz="1600" dirty="0"/>
              <a:t/>
            </a:r>
            <a:r>
              <a:rPr lang="ko-KR" altLang="en-US" sz="1600" dirty="0"/>
              <a:t/>
            </a:r>
            <a:r>
              <a:rPr lang="en" altLang="ko-Kore-KR" sz="1600" dirty="0"/>
              <a:t/>
            </a:r>
            <a:r>
              <a:rPr lang="ko-KR" altLang="en-US" sz="1600" dirty="0"/>
              <a:t/>
            </a:r>
            <a:r>
              <a:rPr lang="en-US" altLang="ko-KR" sz="1600" dirty="0"/>
              <a:t/>
            </a:r>
            <a:r>
              <a:rPr lang="ko-KR" altLang="en-US" sz="1600" dirty="0"/>
              <a:t/>
            </a:r>
            <a:r>
              <a:rPr lang="ko-KR" altLang="en-US" sz="1600" dirty="0" err="1"/>
              <a:t/>
            </a:r>
            <a:r>
              <a:rPr lang="en-US" altLang="ko-KR" sz="1600" dirty="0"/>
              <a:t/>
            </a:r>
            <a:r>
              <a:rPr lang="ko-KR" altLang="en-US" sz="1600" dirty="0"/>
              <a:t/>
            </a:r>
            <a:r>
              <a:rPr lang="ko-KR" altLang="en-US" sz="1600" dirty="0" err="1"/>
              <a:t/>
            </a:r>
            <a:r>
              <a:rPr lang="ko-KR" altLang="en-US" sz="1600" dirty="0"/>
              <a:t/>
            </a:r>
            <a:r>
              <a:rPr lang="en-US" altLang="ko-KR" sz="1600" dirty="0"/>
              <a:t/>
            </a:r>
            <a:r>
              <a:rPr lang="ko-KR" altLang="en-US" sz="1600" dirty="0"/>
              <a:t/>
            </a:r>
            <a:r>
              <a:rPr lang="en-US" altLang="ko-KR" sz="1600" dirty="0"/>
              <a:t/>
            </a:r>
            <a:endParaRPr sz="1100" dirty="0">
              <a:latin typeface="Noto Sans KR"/>
            </a:endParaRP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3F36"/>
        </a:solidFill>
        <a:effectLst/>
      </p:bgPr>
    </p:bg>
    <p:spTree>
      <p:nvGrpSpPr>
        <p:cNvPr id="1" name=""/>
        <p:cNvGrpSpPr/>
        <p:nvPr/>
      </p:nvGrpSpPr>
      <p:grpSpPr>
        <a:xfrm>
          <a:off x="0" y="0"/>
          <a:ext cx="0" cy="0"/>
          <a:chOff x="0" y="0"/>
          <a:chExt cx="0" cy="0"/>
        </a:xfrm>
      </p:grpSpPr>
      <p:sp>
        <p:nvSpPr>
          <p:cNvPr id="2" name="Shape 0"/>
          <p:cNvSpPr/>
          <p:nvPr/>
        </p:nvSpPr>
        <p:spPr>
          <a:xfrm>
            <a:off x="4101084" y="0"/>
            <a:ext cx="5029200" cy="5143500"/>
          </a:xfrm>
          <a:prstGeom prst="roundRect">
            <a:avLst/>
          </a:prstGeom>
          <a:solidFill>
            <a:srgbClr val="456355"/>
          </a:solidFill>
          <a:ln w="12700">
            <a:noFill/>
            <a:prstDash val="solid"/>
          </a:ln>
          <a:effectLst>
            <a:outerShdw blurRad="389763" dist="50800" dir="5400000" sx="103474" sy="103474" algn="ctr" rotWithShape="0">
              <a:srgbClr val="000000">
                <a:alpha val="26000"/>
              </a:srgbClr>
            </a:outerShdw>
          </a:effectLst>
        </p:spPr>
        <p:txBody>
          <a:bodyPr/>
          <a:lstStyle/>
          <a:p>
            <a:endParaRPr lang="ko-Kore-KR" altLang="en-US" dirty="0"/>
          </a:p>
        </p:txBody>
      </p:sp>
      <p:sp>
        <p:nvSpPr>
          <p:cNvPr id="3" name="Shape 1"/>
          <p:cNvSpPr/>
          <p:nvPr/>
        </p:nvSpPr>
        <p:spPr>
          <a:xfrm>
            <a:off x="8979408" y="0"/>
            <a:ext cx="164592" cy="5143500"/>
          </a:xfrm>
          <a:prstGeom prst="rect">
            <a:avLst/>
          </a:prstGeom>
          <a:solidFill>
            <a:srgbClr val="03B083"/>
          </a:solidFill>
          <a:ln w="12700">
            <a:solidFill>
              <a:srgbClr val="03B083"/>
            </a:solidFill>
            <a:prstDash val="solid"/>
          </a:ln>
        </p:spPr>
        <p:txBody>
          <a:bodyPr/>
          <a:lstStyle/>
          <a:p>
            <a:endParaRPr/>
          </a:p>
        </p:txBody>
      </p:sp>
      <p:sp>
        <p:nvSpPr>
          <p:cNvPr id="5" name="Text 2"/>
          <p:cNvSpPr/>
          <p:nvPr/>
        </p:nvSpPr>
        <p:spPr>
          <a:xfrm>
            <a:off x="379476" y="2404872"/>
            <a:ext cx="3657600" cy="914400"/>
          </a:xfrm>
          <a:prstGeom prst="rect">
            <a:avLst/>
          </a:prstGeom>
          <a:noFill/>
          <a:ln/>
          <a:effectLst>
            <a:outerShdw blurRad="50800" dist="50800" dir="5400000" algn="ctr" rotWithShape="0">
              <a:srgbClr val="000000">
                <a:alpha val="99506"/>
              </a:srgbClr>
            </a:outerShdw>
          </a:effectLst>
        </p:spPr>
        <p:txBody>
          <a:bodyPr wrap="square" lIns="0" tIns="0" rIns="0" bIns="0" rtlCol="0" anchor="ctr"/>
          <a:lstStyle/>
          <a:p>
            <a:pPr marL="0" indent="0">
              <a:buNone/>
            </a:pPr>
            <a:r>
              <a:rPr lang="en-US" sz="5800" b="1" kern="0" spc="-200" dirty="0">
                <a:solidFill>
                  <a:schemeClr val="bg1"/>
                </a:solidFill>
                <a:latin typeface="RecipekoreaOTF Medium" panose="02020503020101020101" pitchFamily="18" charset="-127"/>
                <a:ea typeface="RecipekoreaOTF Medium" panose="02020503020101020101" pitchFamily="18" charset="-127"/>
                <a:cs typeface="Arial" pitchFamily="34" charset="-120"/>
              </a:rPr>
              <a:t>트레빗</a:t>
            </a:r>
            <a:endParaRPr lang="en-US" sz="5800" dirty="0">
              <a:solidFill>
                <a:schemeClr val="bg1"/>
              </a:solidFill>
              <a:latin typeface="RecipekoreaOTF Medium" panose="02020503020101020101" pitchFamily="18" charset="-127"/>
              <a:ea typeface="RecipekoreaOTF Medium" panose="02020503020101020101" pitchFamily="18" charset="-127"/>
            </a:endParaRPr>
          </a:p>
        </p:txBody>
      </p:sp>
      <p:sp>
        <p:nvSpPr>
          <p:cNvPr id="6" name="Text 3"/>
          <p:cNvSpPr/>
          <p:nvPr/>
        </p:nvSpPr>
        <p:spPr>
          <a:xfrm>
            <a:off x="411480" y="3291840"/>
            <a:ext cx="3657600" cy="274320"/>
          </a:xfrm>
          <a:prstGeom prst="rect">
            <a:avLst/>
          </a:prstGeom>
          <a:noFill/>
          <a:ln/>
        </p:spPr>
        <p:txBody>
          <a:bodyPr wrap="square" lIns="0" tIns="0" rIns="0" bIns="0" rtlCol="0" anchor="ctr"/>
          <a:lstStyle/>
          <a:p>
            <a:pPr marL="0" indent="0">
              <a:buNone/>
            </a:pPr>
            <a:r>
              <a:rPr lang="en-US" sz="1200" b="1" kern="0" spc="600" dirty="0">
                <a:solidFill>
                  <a:srgbClr val="03B083"/>
                </a:solidFill>
                <a:latin typeface="Arial" pitchFamily="34" charset="0"/>
                <a:ea typeface="Arial" pitchFamily="34" charset="-122"/>
                <a:cs typeface="Arial" pitchFamily="34" charset="-120"/>
              </a:rPr>
              <a:t>Travit</a:t>
            </a:r>
            <a:endParaRPr lang="en-US" sz="1200" dirty="0"/>
          </a:p>
        </p:txBody>
      </p:sp>
      <p:sp>
        <p:nvSpPr>
          <p:cNvPr id="7" name="Text 4"/>
          <p:cNvSpPr/>
          <p:nvPr/>
        </p:nvSpPr>
        <p:spPr>
          <a:xfrm>
            <a:off x="411480" y="3703320"/>
            <a:ext cx="3657600" cy="640080"/>
          </a:xfrm>
          <a:prstGeom prst="rect">
            <a:avLst/>
          </a:prstGeom>
          <a:noFill/>
          <a:ln/>
        </p:spPr>
        <p:txBody>
          <a:bodyPr wrap="square" lIns="0" tIns="0" rIns="0" bIns="0" rtlCol="0" anchor="ctr"/>
          <a:lstStyle/>
          <a:p>
            <a:pPr marL="0" indent="0">
              <a:buNone/>
            </a:pPr>
            <a:r>
              <a:rPr lang="en-US" sz="1300" dirty="0">
                <a:solidFill>
                  <a:schemeClr val="bg1">
                    <a:lumMod val="75000"/>
                  </a:schemeClr>
                </a:solidFill>
                <a:latin typeface="Arial" pitchFamily="34" charset="0"/>
                <a:ea typeface="Arial" pitchFamily="34" charset="-122"/>
                <a:cs typeface="Arial" pitchFamily="34" charset="-120"/>
              </a:rPr>
              <a:t>예산과 취향만 알려주면, AI가 여행을</a:t>
            </a:r>
            <a:endParaRPr lang="en-US" sz="1300" dirty="0">
              <a:solidFill>
                <a:schemeClr val="bg1">
                  <a:lumMod val="75000"/>
                </a:schemeClr>
              </a:solidFill>
            </a:endParaRPr>
          </a:p>
          <a:p>
            <a:pPr marL="0" indent="0">
              <a:buNone/>
            </a:pPr>
            <a:r>
              <a:rPr lang="en-US" sz="1300" dirty="0">
                <a:solidFill>
                  <a:schemeClr val="bg1">
                    <a:lumMod val="75000"/>
                  </a:schemeClr>
                </a:solidFill>
                <a:latin typeface="Arial" pitchFamily="34" charset="0"/>
                <a:ea typeface="Arial" pitchFamily="34" charset="-122"/>
                <a:cs typeface="Arial" pitchFamily="34" charset="-120"/>
              </a:rPr>
              <a:t>대신 계획합니다</a:t>
            </a:r>
            <a:endParaRPr lang="en-US" sz="1300" dirty="0">
              <a:solidFill>
                <a:schemeClr val="bg1">
                  <a:lumMod val="75000"/>
                </a:schemeClr>
              </a:solidFill>
            </a:endParaRPr>
          </a:p>
        </p:txBody>
      </p:sp>
      <p:sp>
        <p:nvSpPr>
          <p:cNvPr id="11" name="Shape 5"/>
          <p:cNvSpPr/>
          <p:nvPr/>
        </p:nvSpPr>
        <p:spPr>
          <a:xfrm>
            <a:off x="411480" y="4480560"/>
            <a:ext cx="3657600" cy="0"/>
          </a:xfrm>
          <a:prstGeom prst="line">
            <a:avLst/>
          </a:prstGeom>
          <a:noFill/>
          <a:ln w="12700">
            <a:solidFill>
              <a:srgbClr val="D1D5DB"/>
            </a:solidFill>
            <a:prstDash val="solid"/>
          </a:ln>
        </p:spPr>
        <p:txBody>
          <a:bodyPr/>
          <a:lstStyle/>
          <a:p>
            <a:endParaRPr/>
          </a:p>
        </p:txBody>
      </p:sp>
      <p:sp>
        <p:nvSpPr>
          <p:cNvPr id="12" name="Text 6"/>
          <p:cNvSpPr/>
          <p:nvPr/>
        </p:nvSpPr>
        <p:spPr>
          <a:xfrm>
            <a:off x="411480" y="4608576"/>
            <a:ext cx="8412480" cy="228600"/>
          </a:xfrm>
          <a:prstGeom prst="rect">
            <a:avLst/>
          </a:prstGeom>
          <a:noFill/>
          <a:ln/>
        </p:spPr>
        <p:txBody>
          <a:bodyPr wrap="square" lIns="0" tIns="0" rIns="0" bIns="0" rtlCol="0" anchor="ctr"/>
          <a:lstStyle/>
          <a:p>
            <a:pPr marL="0" indent="0">
              <a:buNone/>
            </a:pPr>
            <a:r>
              <a:rPr lang="en-US" sz="950" dirty="0">
                <a:solidFill>
                  <a:schemeClr val="bg1">
                    <a:lumMod val="75000"/>
                  </a:schemeClr>
                </a:solidFill>
                <a:latin typeface="Arial" pitchFamily="34" charset="0"/>
                <a:ea typeface="Arial" pitchFamily="34" charset="-122"/>
                <a:cs typeface="Arial" pitchFamily="34" charset="-120"/>
              </a:rPr>
              <a:t>아산스마트팩토리마이스터고등학교 (PLAYLABS) </a:t>
            </a:r>
          </a:p>
          <a:p>
            <a:pPr marL="0" indent="0">
              <a:buNone/>
            </a:pPr>
            <a:r>
              <a:rPr lang="en-US" sz="950" dirty="0" err="1">
                <a:solidFill>
                  <a:schemeClr val="bg1">
                    <a:lumMod val="75000"/>
                  </a:schemeClr>
                </a:solidFill>
                <a:latin typeface="Arial" pitchFamily="34" charset="0"/>
                <a:ea typeface="Arial" pitchFamily="34" charset="-122"/>
                <a:cs typeface="Arial" pitchFamily="34" charset="-120"/>
              </a:rPr>
              <a:t>김태훈</a:t>
            </a:r>
            <a:r>
              <a:rPr lang="en-US" sz="950" dirty="0">
                <a:solidFill>
                  <a:schemeClr val="bg1">
                    <a:lumMod val="75000"/>
                  </a:schemeClr>
                </a:solidFill>
                <a:latin typeface="Arial" pitchFamily="34" charset="0"/>
                <a:ea typeface="Arial" pitchFamily="34" charset="-122"/>
                <a:cs typeface="Arial" pitchFamily="34" charset="-120"/>
              </a:rPr>
              <a:t>(대표) 장한결 이승주 </a:t>
            </a:r>
            <a:r>
              <a:rPr lang="en-US" sz="950" dirty="0" err="1">
                <a:solidFill>
                  <a:schemeClr val="bg1">
                    <a:lumMod val="75000"/>
                  </a:schemeClr>
                </a:solidFill>
                <a:latin typeface="Arial" pitchFamily="34" charset="0"/>
                <a:ea typeface="Arial" pitchFamily="34" charset="-122"/>
                <a:cs typeface="Arial" pitchFamily="34" charset="-120"/>
              </a:rPr>
              <a:t>이윤호</a:t>
            </a:r>
            <a:r>
              <a:rPr lang="en-US" sz="950" dirty="0">
                <a:solidFill>
                  <a:schemeClr val="bg1">
                    <a:lumMod val="75000"/>
                  </a:schemeClr>
                </a:solidFill>
                <a:latin typeface="Arial" pitchFamily="34" charset="0"/>
                <a:ea typeface="Arial" pitchFamily="34" charset="-122"/>
                <a:cs typeface="Arial" pitchFamily="34" charset="-120"/>
              </a:rPr>
              <a:t>  </a:t>
            </a:r>
            <a:r>
              <a:rPr lang="en-US" sz="950" dirty="0" err="1">
                <a:solidFill>
                  <a:schemeClr val="bg1">
                    <a:lumMod val="75000"/>
                  </a:schemeClr>
                </a:solidFill>
                <a:latin typeface="Arial" pitchFamily="34" charset="0"/>
                <a:ea typeface="Arial" pitchFamily="34" charset="-122"/>
                <a:cs typeface="Arial" pitchFamily="34" charset="-120"/>
              </a:rPr>
              <a:t>지도교사</a:t>
            </a:r>
            <a:r>
              <a:rPr lang="en-US" sz="950" dirty="0">
                <a:solidFill>
                  <a:schemeClr val="bg1">
                    <a:lumMod val="75000"/>
                  </a:schemeClr>
                </a:solidFill>
                <a:latin typeface="Arial" pitchFamily="34" charset="0"/>
                <a:ea typeface="Arial" pitchFamily="34" charset="-122"/>
                <a:cs typeface="Arial" pitchFamily="34" charset="-120"/>
              </a:rPr>
              <a:t> 김영우</a:t>
            </a:r>
            <a:endParaRPr lang="en-US" sz="950" dirty="0">
              <a:solidFill>
                <a:schemeClr val="bg1">
                  <a:lumMod val="75000"/>
                </a:schemeClr>
              </a:solidFill>
            </a:endParaRPr>
          </a:p>
        </p:txBody>
      </p:sp>
      <p:sp>
        <p:nvSpPr>
          <p:cNvPr id="13" name="Text 7"/>
          <p:cNvSpPr/>
          <p:nvPr/>
        </p:nvSpPr>
        <p:spPr>
          <a:xfrm>
            <a:off x="411480" y="4910328"/>
            <a:ext cx="8412480" cy="201168"/>
          </a:xfrm>
          <a:prstGeom prst="rect">
            <a:avLst/>
          </a:prstGeom>
          <a:noFill/>
          <a:ln/>
        </p:spPr>
        <p:txBody>
          <a:bodyPr wrap="square" lIns="0" tIns="0" rIns="0" bIns="0" rtlCol="0" anchor="ctr"/>
          <a:lstStyle/>
          <a:p>
            <a:pPr marL="0" indent="0">
              <a:buNone/>
            </a:pPr>
            <a:r>
              <a:rPr lang="en-US" sz="900" dirty="0">
                <a:solidFill>
                  <a:srgbClr val="D1D5DB"/>
                </a:solidFill>
                <a:latin typeface="Arial" pitchFamily="34" charset="0"/>
                <a:ea typeface="Arial" pitchFamily="34" charset="-122"/>
                <a:cs typeface="Arial" pitchFamily="34" charset="-120"/>
              </a:rPr>
              <a:t>제4회 NAVER OGQ마켓 AI Competition</a:t>
            </a:r>
            <a:endParaRPr lang="en-US" sz="900" dirty="0"/>
          </a:p>
        </p:txBody>
      </p:sp>
      <p:pic>
        <p:nvPicPr>
          <p:cNvPr id="15" name="그림 14">
            <a:extLst>
              <a:ext uri="{FF2B5EF4-FFF2-40B4-BE49-F238E27FC236}">
                <a16:creationId xmlns:a16="http://schemas.microsoft.com/office/drawing/2014/main" id="{0E0F76A7-B138-5942-99FE-B7E1E189BD26}"/>
              </a:ext>
            </a:extLst>
          </p:cNvPr>
          <p:cNvPicPr>
            <a:picLocks noChangeAspect="1"/>
          </p:cNvPicPr>
          <p:nvPr/>
        </p:nvPicPr>
        <p:blipFill>
          <a:blip r:embed="rId3"/>
          <a:stretch>
            <a:fillRect/>
          </a:stretch>
        </p:blipFill>
        <p:spPr>
          <a:xfrm>
            <a:off x="411480" y="459232"/>
            <a:ext cx="1625600" cy="1625600"/>
          </a:xfrm>
          <a:prstGeom prst="rect">
            <a:avLst/>
          </a:prstGeom>
          <a:effectLst>
            <a:outerShdw blurRad="257905" dist="50800" dir="5400000" sx="94000" sy="94000" algn="ctr" rotWithShape="0">
              <a:srgbClr val="17211D"/>
            </a:outerShdw>
          </a:effectLst>
        </p:spPr>
      </p:pic>
      <p:pic>
        <p:nvPicPr>
          <p:cNvPr id="14" name="그림 13">
            <a:extLst>
              <a:ext uri="{FF2B5EF4-FFF2-40B4-BE49-F238E27FC236}">
                <a16:creationId xmlns:a16="http://schemas.microsoft.com/office/drawing/2014/main" id="{BDF6FCB9-CAF5-2E40-9A2D-60FB73E54C6E}"/>
              </a:ext>
            </a:extLst>
          </p:cNvPr>
          <p:cNvPicPr>
            <a:picLocks noChangeAspect="1"/>
          </p:cNvPicPr>
          <p:nvPr/>
        </p:nvPicPr>
        <p:blipFill>
          <a:blip r:embed="rId4"/>
          <a:stretch>
            <a:fillRect/>
          </a:stretch>
        </p:blipFill>
        <p:spPr>
          <a:xfrm>
            <a:off x="4037076" y="0"/>
            <a:ext cx="5143500" cy="5143500"/>
          </a:xfrm>
          <a:prstGeom prst="rect">
            <a:avLst/>
          </a:prstGeom>
          <a:effectLst>
            <a:outerShdw blurRad="537028" dist="50800" dir="2880000" sx="95000" sy="95000" algn="ctr" rotWithShape="0">
              <a:srgbClr val="000000">
                <a:alpha val="49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1417320" y="608076"/>
            <a:ext cx="731520" cy="731520"/>
          </a:xfrm>
          <a:prstGeom prst="ellipse">
            <a:avLst/>
          </a:prstGeom>
          <a:solidFill>
            <a:srgbClr val="F5F5F5"/>
          </a:solidFill>
          <a:ln w="12700">
            <a:solidFill>
              <a:srgbClr val="D1D5DB"/>
            </a:solidFill>
            <a:prstDash val="solid"/>
          </a:ln>
        </p:spPr>
      </p:sp>
      <p:sp>
        <p:nvSpPr>
          <p:cNvPr id="4" name="Text 2"/>
          <p:cNvSpPr/>
          <p:nvPr/>
        </p:nvSpPr>
        <p:spPr>
          <a:xfrm>
            <a:off x="1417320" y="608076"/>
            <a:ext cx="731520" cy="731520"/>
          </a:xfrm>
          <a:prstGeom prst="rect">
            <a:avLst/>
          </a:prstGeom>
          <a:noFill/>
          <a:ln/>
        </p:spPr>
        <p:txBody>
          <a:bodyPr wrap="square" lIns="0" tIns="0" rIns="0" bIns="0" rtlCol="0" anchor="ctr"/>
          <a:lstStyle/>
          <a:p>
            <a:pPr marL="0" indent="0" algn="ctr">
              <a:buNone/>
            </a:pPr>
            <a:r>
              <a:rPr lang="en-US" sz="2200" dirty="0">
                <a:solidFill>
                  <a:srgbClr val="000000"/>
                </a:solidFill>
                <a:latin typeface="Toss Face Font Mac" pitchFamily="2" charset="0"/>
                <a:ea typeface="Toss Face Font Mac" pitchFamily="2" charset="0"/>
                <a:cs typeface="Arial" pitchFamily="34" charset="-120"/>
              </a:rPr>
              <a:t>💰</a:t>
            </a:r>
            <a:endParaRPr lang="en-US" sz="2200" dirty="0">
              <a:latin typeface="Toss Face Font Mac" pitchFamily="2" charset="0"/>
              <a:ea typeface="Toss Face Font Mac" pitchFamily="2" charset="0"/>
            </a:endParaRPr>
          </a:p>
        </p:txBody>
      </p:sp>
      <p:sp>
        <p:nvSpPr>
          <p:cNvPr id="5" name="Text 3"/>
          <p:cNvSpPr/>
          <p:nvPr/>
        </p:nvSpPr>
        <p:spPr>
          <a:xfrm>
            <a:off x="1097280" y="1403604"/>
            <a:ext cx="1371600" cy="256032"/>
          </a:xfrm>
          <a:prstGeom prst="rect">
            <a:avLst/>
          </a:prstGeom>
          <a:noFill/>
          <a:ln/>
        </p:spPr>
        <p:txBody>
          <a:bodyPr wrap="square" lIns="0" tIns="0" rIns="0" bIns="0" rtlCol="0" anchor="ctr"/>
          <a:lstStyle/>
          <a:p>
            <a:pPr marL="0" indent="0" algn="ctr">
              <a:buNone/>
            </a:pPr>
            <a:r>
              <a:rPr lang="en-US" sz="1100" dirty="0">
                <a:solidFill>
                  <a:srgbClr val="6B7280"/>
                </a:solidFill>
                <a:latin typeface="Arial" pitchFamily="34" charset="0"/>
                <a:ea typeface="Arial" pitchFamily="34" charset="-122"/>
                <a:cs typeface="Arial" pitchFamily="34" charset="-120"/>
              </a:rPr>
              <a:t>예산 입력</a:t>
            </a:r>
            <a:endParaRPr lang="en-US" sz="1100" dirty="0"/>
          </a:p>
        </p:txBody>
      </p:sp>
      <p:sp>
        <p:nvSpPr>
          <p:cNvPr id="6" name="Text 4"/>
          <p:cNvSpPr/>
          <p:nvPr/>
        </p:nvSpPr>
        <p:spPr>
          <a:xfrm>
            <a:off x="2651760" y="726948"/>
            <a:ext cx="457200" cy="502920"/>
          </a:xfrm>
          <a:prstGeom prst="rect">
            <a:avLst/>
          </a:prstGeom>
          <a:noFill/>
          <a:ln/>
        </p:spPr>
        <p:txBody>
          <a:bodyPr wrap="square" lIns="0" tIns="0" rIns="0" bIns="0" rtlCol="0" anchor="ctr"/>
          <a:lstStyle/>
          <a:p>
            <a:pPr marL="0" indent="0" algn="ctr">
              <a:buNone/>
            </a:pPr>
            <a:r>
              <a:rPr lang="en-US" sz="1800" b="1" dirty="0">
                <a:solidFill>
                  <a:srgbClr val="D1D5DB"/>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4160520" y="608076"/>
            <a:ext cx="731520" cy="731520"/>
          </a:xfrm>
          <a:prstGeom prst="ellipse">
            <a:avLst/>
          </a:prstGeom>
          <a:solidFill>
            <a:srgbClr val="03B083"/>
          </a:solidFill>
          <a:ln w="12700">
            <a:solidFill>
              <a:srgbClr val="03B083"/>
            </a:solidFill>
            <a:prstDash val="solid"/>
          </a:ln>
        </p:spPr>
      </p:sp>
      <p:sp>
        <p:nvSpPr>
          <p:cNvPr id="8" name="Text 6"/>
          <p:cNvSpPr/>
          <p:nvPr/>
        </p:nvSpPr>
        <p:spPr>
          <a:xfrm>
            <a:off x="4160520" y="608076"/>
            <a:ext cx="731520" cy="731520"/>
          </a:xfrm>
          <a:prstGeom prst="rect">
            <a:avLst/>
          </a:prstGeom>
          <a:noFill/>
          <a:ln/>
        </p:spPr>
        <p:txBody>
          <a:bodyPr wrap="square" lIns="0" tIns="0" rIns="0" bIns="0" rtlCol="0" anchor="ctr"/>
          <a:lstStyle/>
          <a:p>
            <a:pPr marL="0" indent="0" algn="ctr">
              <a:buNone/>
            </a:pPr>
            <a:r>
              <a:rPr lang="en-US" sz="2200" dirty="0">
                <a:solidFill>
                  <a:srgbClr val="000000"/>
                </a:solidFill>
                <a:latin typeface="Toss Face Font Mac" pitchFamily="2" charset="0"/>
                <a:ea typeface="Toss Face Font Mac" pitchFamily="2" charset="0"/>
                <a:cs typeface="Arial" pitchFamily="34" charset="-120"/>
              </a:rPr>
              <a:t>🤖</a:t>
            </a:r>
            <a:endParaRPr lang="en-US" sz="2200" dirty="0">
              <a:latin typeface="Toss Face Font Mac" pitchFamily="2" charset="0"/>
              <a:ea typeface="Toss Face Font Mac" pitchFamily="2" charset="0"/>
            </a:endParaRPr>
          </a:p>
        </p:txBody>
      </p:sp>
      <p:sp>
        <p:nvSpPr>
          <p:cNvPr id="9" name="Text 7"/>
          <p:cNvSpPr/>
          <p:nvPr/>
        </p:nvSpPr>
        <p:spPr>
          <a:xfrm>
            <a:off x="3840480" y="1403604"/>
            <a:ext cx="1371600" cy="256032"/>
          </a:xfrm>
          <a:prstGeom prst="rect">
            <a:avLst/>
          </a:prstGeom>
          <a:noFill/>
          <a:ln/>
        </p:spPr>
        <p:txBody>
          <a:bodyPr wrap="square" lIns="0" tIns="0" rIns="0" bIns="0" rtlCol="0" anchor="ctr"/>
          <a:lstStyle/>
          <a:p>
            <a:pPr marL="0" indent="0" algn="ctr">
              <a:buNone/>
            </a:pPr>
            <a:r>
              <a:rPr lang="en-US" sz="1100" dirty="0">
                <a:solidFill>
                  <a:srgbClr val="6B7280"/>
                </a:solidFill>
                <a:latin typeface="Arial" pitchFamily="34" charset="0"/>
                <a:ea typeface="Arial" pitchFamily="34" charset="-122"/>
                <a:cs typeface="Arial" pitchFamily="34" charset="-120"/>
              </a:rPr>
              <a:t>AI 자동 처리</a:t>
            </a:r>
            <a:endParaRPr lang="en-US" sz="1100" dirty="0"/>
          </a:p>
        </p:txBody>
      </p:sp>
      <p:sp>
        <p:nvSpPr>
          <p:cNvPr id="10" name="Text 8"/>
          <p:cNvSpPr/>
          <p:nvPr/>
        </p:nvSpPr>
        <p:spPr>
          <a:xfrm>
            <a:off x="5394960" y="726948"/>
            <a:ext cx="457200" cy="502920"/>
          </a:xfrm>
          <a:prstGeom prst="rect">
            <a:avLst/>
          </a:prstGeom>
          <a:noFill/>
          <a:ln/>
        </p:spPr>
        <p:txBody>
          <a:bodyPr wrap="square" lIns="0" tIns="0" rIns="0" bIns="0" rtlCol="0" anchor="ctr"/>
          <a:lstStyle/>
          <a:p>
            <a:pPr marL="0" indent="0" algn="ctr">
              <a:buNone/>
            </a:pPr>
            <a:r>
              <a:rPr lang="en-US" sz="1800" b="1" dirty="0">
                <a:solidFill>
                  <a:srgbClr val="D1D5DB"/>
                </a:solidFill>
                <a:latin typeface="Arial" pitchFamily="34" charset="0"/>
                <a:ea typeface="Arial" pitchFamily="34" charset="-122"/>
                <a:cs typeface="Arial" pitchFamily="34" charset="-120"/>
              </a:rPr>
              <a:t>→</a:t>
            </a:r>
            <a:endParaRPr lang="en-US" sz="1800" dirty="0"/>
          </a:p>
        </p:txBody>
      </p:sp>
      <p:sp>
        <p:nvSpPr>
          <p:cNvPr id="11" name="Shape 9"/>
          <p:cNvSpPr/>
          <p:nvPr/>
        </p:nvSpPr>
        <p:spPr>
          <a:xfrm>
            <a:off x="6903720" y="608076"/>
            <a:ext cx="731520" cy="731520"/>
          </a:xfrm>
          <a:prstGeom prst="ellipse">
            <a:avLst/>
          </a:prstGeom>
          <a:solidFill>
            <a:srgbClr val="F5F5F5"/>
          </a:solidFill>
          <a:ln w="12700">
            <a:solidFill>
              <a:srgbClr val="D1D5DB"/>
            </a:solidFill>
            <a:prstDash val="solid"/>
          </a:ln>
        </p:spPr>
      </p:sp>
      <p:sp>
        <p:nvSpPr>
          <p:cNvPr id="12" name="Text 10"/>
          <p:cNvSpPr/>
          <p:nvPr/>
        </p:nvSpPr>
        <p:spPr>
          <a:xfrm>
            <a:off x="6903720" y="608076"/>
            <a:ext cx="731520" cy="731520"/>
          </a:xfrm>
          <a:prstGeom prst="rect">
            <a:avLst/>
          </a:prstGeom>
          <a:noFill/>
          <a:ln/>
        </p:spPr>
        <p:txBody>
          <a:bodyPr wrap="square" lIns="0" tIns="0" rIns="0" bIns="0" rtlCol="0" anchor="ctr"/>
          <a:lstStyle/>
          <a:p>
            <a:pPr marL="0" indent="0" algn="ctr">
              <a:buNone/>
            </a:pPr>
            <a:r>
              <a:rPr lang="en-US" sz="2200" dirty="0">
                <a:solidFill>
                  <a:srgbClr val="000000"/>
                </a:solidFill>
                <a:latin typeface="Toss Face Font Mac" pitchFamily="2" charset="0"/>
                <a:ea typeface="Toss Face Font Mac" pitchFamily="2" charset="0"/>
                <a:cs typeface="Arial" pitchFamily="34" charset="-120"/>
              </a:rPr>
              <a:t>🎁</a:t>
            </a:r>
            <a:endParaRPr lang="en-US" sz="2200" dirty="0">
              <a:latin typeface="Toss Face Font Mac" pitchFamily="2" charset="0"/>
              <a:ea typeface="Toss Face Font Mac" pitchFamily="2" charset="0"/>
            </a:endParaRPr>
          </a:p>
        </p:txBody>
      </p:sp>
      <p:sp>
        <p:nvSpPr>
          <p:cNvPr id="13" name="Text 11"/>
          <p:cNvSpPr/>
          <p:nvPr/>
        </p:nvSpPr>
        <p:spPr>
          <a:xfrm>
            <a:off x="6583680" y="1403604"/>
            <a:ext cx="1371600" cy="256032"/>
          </a:xfrm>
          <a:prstGeom prst="rect">
            <a:avLst/>
          </a:prstGeom>
          <a:noFill/>
          <a:ln/>
        </p:spPr>
        <p:txBody>
          <a:bodyPr wrap="square" lIns="0" tIns="0" rIns="0" bIns="0" rtlCol="0" anchor="ctr"/>
          <a:lstStyle/>
          <a:p>
            <a:pPr marL="0" indent="0" algn="ctr">
              <a:buNone/>
            </a:pPr>
            <a:r>
              <a:rPr lang="en-US" sz="1100" dirty="0">
                <a:solidFill>
                  <a:srgbClr val="6B7280"/>
                </a:solidFill>
                <a:latin typeface="Arial" pitchFamily="34" charset="0"/>
                <a:ea typeface="Arial" pitchFamily="34" charset="-122"/>
                <a:cs typeface="Arial" pitchFamily="34" charset="-120"/>
              </a:rPr>
              <a:t>여행 출발</a:t>
            </a:r>
            <a:endParaRPr lang="en-US" sz="1100" dirty="0"/>
          </a:p>
        </p:txBody>
      </p:sp>
      <p:sp>
        <p:nvSpPr>
          <p:cNvPr id="14" name="Shape 12"/>
          <p:cNvSpPr/>
          <p:nvPr/>
        </p:nvSpPr>
        <p:spPr>
          <a:xfrm>
            <a:off x="1097280" y="1737360"/>
            <a:ext cx="6949440" cy="0"/>
          </a:xfrm>
          <a:prstGeom prst="line">
            <a:avLst/>
          </a:prstGeom>
          <a:noFill/>
          <a:ln w="12700">
            <a:solidFill>
              <a:srgbClr val="D1D5DB"/>
            </a:solidFill>
            <a:prstDash val="solid"/>
          </a:ln>
        </p:spPr>
      </p:sp>
      <p:sp>
        <p:nvSpPr>
          <p:cNvPr id="15" name="Text 13"/>
          <p:cNvSpPr/>
          <p:nvPr/>
        </p:nvSpPr>
        <p:spPr>
          <a:xfrm>
            <a:off x="457200" y="1920240"/>
            <a:ext cx="8229600" cy="594360"/>
          </a:xfrm>
          <a:prstGeom prst="rect">
            <a:avLst/>
          </a:prstGeom>
          <a:noFill/>
          <a:ln/>
        </p:spPr>
        <p:txBody>
          <a:bodyPr wrap="square" lIns="0" tIns="0" rIns="0" bIns="0" rtlCol="0" anchor="ctr"/>
          <a:lstStyle/>
          <a:p>
            <a:pPr marL="0" indent="0" algn="ctr">
              <a:buNone/>
            </a:pPr>
            <a:r>
              <a:rPr lang="en-US" sz="3000" dirty="0">
                <a:solidFill>
                  <a:srgbClr val="6B7280"/>
                </a:solidFill>
                <a:latin typeface="Arial" pitchFamily="34" charset="0"/>
                <a:ea typeface="Arial" pitchFamily="34" charset="-122"/>
                <a:cs typeface="Arial" pitchFamily="34" charset="-120"/>
              </a:rPr>
              <a:t>사용자는</a:t>
            </a:r>
            <a:endParaRPr lang="en-US" sz="3000" dirty="0"/>
          </a:p>
        </p:txBody>
      </p:sp>
      <p:sp>
        <p:nvSpPr>
          <p:cNvPr id="16" name="Text 14"/>
          <p:cNvSpPr/>
          <p:nvPr/>
        </p:nvSpPr>
        <p:spPr>
          <a:xfrm>
            <a:off x="457200" y="2514600"/>
            <a:ext cx="8229600" cy="960120"/>
          </a:xfrm>
          <a:prstGeom prst="rect">
            <a:avLst/>
          </a:prstGeom>
          <a:noFill/>
          <a:ln/>
        </p:spPr>
        <p:txBody>
          <a:bodyPr wrap="square" lIns="0" tIns="0" rIns="0" bIns="0" rtlCol="0" anchor="ctr"/>
          <a:lstStyle/>
          <a:p>
            <a:pPr marL="0" indent="0" algn="ctr">
              <a:buNone/>
            </a:pPr>
            <a:r>
              <a:rPr lang="en-US" sz="6000" b="1" kern="0" spc="-100" dirty="0">
                <a:solidFill>
                  <a:srgbClr val="1F2937"/>
                </a:solidFill>
                <a:latin typeface="Arial" pitchFamily="34" charset="0"/>
                <a:ea typeface="Arial" pitchFamily="34" charset="-122"/>
                <a:cs typeface="Arial" pitchFamily="34" charset="-120"/>
              </a:rPr>
              <a:t>따라가기만 하면 됩니다.</a:t>
            </a:r>
            <a:endParaRPr lang="en-US" sz="6000" dirty="0"/>
          </a:p>
        </p:txBody>
      </p:sp>
      <p:sp>
        <p:nvSpPr>
          <p:cNvPr id="18" name="Text 16"/>
          <p:cNvSpPr/>
          <p:nvPr/>
        </p:nvSpPr>
        <p:spPr>
          <a:xfrm>
            <a:off x="457200" y="3703320"/>
            <a:ext cx="8229600" cy="274320"/>
          </a:xfrm>
          <a:prstGeom prst="rect">
            <a:avLst/>
          </a:prstGeom>
          <a:noFill/>
          <a:ln/>
        </p:spPr>
        <p:txBody>
          <a:bodyPr wrap="square" lIns="0" tIns="0" rIns="0" bIns="0" rtlCol="0" anchor="ctr"/>
          <a:lstStyle/>
          <a:p>
            <a:pPr marL="0" indent="0" algn="ctr">
              <a:buNone/>
            </a:pPr>
            <a:r>
              <a:rPr lang="en-US" sz="1200" dirty="0">
                <a:solidFill>
                  <a:srgbClr val="6B7280"/>
                </a:solidFill>
                <a:latin typeface="Arial" pitchFamily="34" charset="0"/>
                <a:ea typeface="Arial" pitchFamily="34" charset="-122"/>
                <a:cs typeface="Arial" pitchFamily="34" charset="-120"/>
              </a:rPr>
              <a:t>코스·식당·숙소·이동·예약 모두 AI 결정  ·  목적지는 출발 당일 첫 공개</a:t>
            </a:r>
            <a:endParaRPr lang="en-US" sz="1200" dirty="0"/>
          </a:p>
        </p:txBody>
      </p:sp>
      <p:sp>
        <p:nvSpPr>
          <p:cNvPr id="20" name="Shape 4">
            <a:extLst>
              <a:ext uri="{FF2B5EF4-FFF2-40B4-BE49-F238E27FC236}">
                <a16:creationId xmlns:a16="http://schemas.microsoft.com/office/drawing/2014/main" id="{5F06F26B-1481-ED4A-9801-D65D64DB08EA}"/>
              </a:ext>
            </a:extLst>
          </p:cNvPr>
          <p:cNvSpPr/>
          <p:nvPr/>
        </p:nvSpPr>
        <p:spPr>
          <a:xfrm>
            <a:off x="457200" y="3474720"/>
            <a:ext cx="8229600" cy="45719"/>
          </a:xfrm>
          <a:prstGeom prst="rect">
            <a:avLst/>
          </a:prstGeom>
          <a:solidFill>
            <a:srgbClr val="03B083">
              <a:alpha val="40000"/>
            </a:srgbClr>
          </a:solidFill>
          <a:ln w="12700">
            <a:no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271707" y="658367"/>
            <a:ext cx="1828800" cy="1828800"/>
          </a:xfrm>
          <a:prstGeom prst="rect">
            <a:avLst/>
          </a:prstGeom>
          <a:noFill/>
          <a:ln/>
        </p:spPr>
        <p:txBody>
          <a:bodyPr wrap="square" lIns="0" tIns="0" rIns="0" bIns="0" rtlCol="0" anchor="ctr"/>
          <a:lstStyle/>
          <a:p>
            <a:pPr marL="0" indent="0">
              <a:buNone/>
            </a:pPr>
            <a:r>
              <a:rPr lang="en-US" sz="22000" b="1" dirty="0">
                <a:solidFill>
                  <a:srgbClr val="03B083">
                    <a:alpha val="15000"/>
                  </a:srgbClr>
                </a:solidFill>
                <a:latin typeface="Arial" pitchFamily="34" charset="0"/>
                <a:ea typeface="Arial" pitchFamily="34" charset="-122"/>
                <a:cs typeface="Arial" pitchFamily="34" charset="-120"/>
              </a:rPr>
              <a:t>"</a:t>
            </a:r>
            <a:endParaRPr lang="en-US" sz="22000" dirty="0"/>
          </a:p>
        </p:txBody>
      </p:sp>
      <p:sp>
        <p:nvSpPr>
          <p:cNvPr id="4" name="Text 2"/>
          <p:cNvSpPr/>
          <p:nvPr/>
        </p:nvSpPr>
        <p:spPr>
          <a:xfrm>
            <a:off x="822960" y="1005840"/>
            <a:ext cx="7772400" cy="621792"/>
          </a:xfrm>
          <a:prstGeom prst="rect">
            <a:avLst/>
          </a:prstGeom>
          <a:noFill/>
          <a:ln/>
        </p:spPr>
        <p:txBody>
          <a:bodyPr wrap="square" lIns="0" tIns="0" rIns="0" bIns="0" rtlCol="0" anchor="ctr"/>
          <a:lstStyle/>
          <a:p>
            <a:pPr marL="0" indent="0">
              <a:buNone/>
            </a:pPr>
            <a:r>
              <a:rPr lang="en-US" sz="3600" dirty="0">
                <a:solidFill>
                  <a:srgbClr val="6B7280"/>
                </a:solidFill>
                <a:latin typeface="Arial" pitchFamily="34" charset="0"/>
                <a:ea typeface="Arial" pitchFamily="34" charset="-122"/>
                <a:cs typeface="Arial" pitchFamily="34" charset="-120"/>
              </a:rPr>
              <a:t>갈 데가 없어서가 아니라</a:t>
            </a:r>
            <a:endParaRPr lang="en-US" sz="3600" dirty="0"/>
          </a:p>
        </p:txBody>
      </p:sp>
      <p:sp>
        <p:nvSpPr>
          <p:cNvPr id="5" name="Text 3"/>
          <p:cNvSpPr/>
          <p:nvPr/>
        </p:nvSpPr>
        <p:spPr>
          <a:xfrm>
            <a:off x="822960" y="1664208"/>
            <a:ext cx="7772400" cy="804672"/>
          </a:xfrm>
          <a:prstGeom prst="rect">
            <a:avLst/>
          </a:prstGeom>
          <a:noFill/>
          <a:ln/>
        </p:spPr>
        <p:txBody>
          <a:bodyPr wrap="square" lIns="0" tIns="0" rIns="0" bIns="0" rtlCol="0" anchor="ctr"/>
          <a:lstStyle/>
          <a:p>
            <a:pPr marL="0" indent="0">
              <a:buNone/>
            </a:pPr>
            <a:r>
              <a:rPr lang="en-US" sz="4600" b="1" dirty="0">
                <a:solidFill>
                  <a:srgbClr val="1F2937"/>
                </a:solidFill>
                <a:latin typeface="Arial" pitchFamily="34" charset="0"/>
                <a:ea typeface="Arial" pitchFamily="34" charset="-122"/>
                <a:cs typeface="Arial" pitchFamily="34" charset="-120"/>
              </a:rPr>
              <a:t>정하기 귀찮아서 안 갑니다</a:t>
            </a:r>
            <a:endParaRPr lang="en-US" sz="4600" dirty="0"/>
          </a:p>
        </p:txBody>
      </p:sp>
      <p:sp>
        <p:nvSpPr>
          <p:cNvPr id="6" name="Shape 4"/>
          <p:cNvSpPr/>
          <p:nvPr/>
        </p:nvSpPr>
        <p:spPr>
          <a:xfrm>
            <a:off x="804672" y="2441448"/>
            <a:ext cx="5166360" cy="45719"/>
          </a:xfrm>
          <a:prstGeom prst="rect">
            <a:avLst/>
          </a:prstGeom>
          <a:solidFill>
            <a:srgbClr val="03B083">
              <a:alpha val="40000"/>
            </a:srgbClr>
          </a:solidFill>
          <a:ln w="12700">
            <a:noFill/>
            <a:prstDash val="solid"/>
          </a:ln>
        </p:spPr>
      </p:sp>
      <p:sp>
        <p:nvSpPr>
          <p:cNvPr id="7" name="Text 5"/>
          <p:cNvSpPr/>
          <p:nvPr/>
        </p:nvSpPr>
        <p:spPr>
          <a:xfrm>
            <a:off x="822960" y="2578608"/>
            <a:ext cx="7315200" cy="256032"/>
          </a:xfrm>
          <a:prstGeom prst="rect">
            <a:avLst/>
          </a:prstGeom>
          <a:noFill/>
          <a:ln/>
        </p:spPr>
        <p:txBody>
          <a:bodyPr wrap="square" lIns="0" tIns="0" rIns="0" bIns="0" rtlCol="0" anchor="ctr"/>
          <a:lstStyle/>
          <a:p>
            <a:pPr marL="0" indent="0">
              <a:buNone/>
            </a:pPr>
            <a:r>
              <a:rPr lang="en-US" sz="1200" dirty="0">
                <a:solidFill>
                  <a:srgbClr val="D1D5DB"/>
                </a:solidFill>
                <a:latin typeface="Arial" pitchFamily="34" charset="0"/>
                <a:ea typeface="Arial" pitchFamily="34" charset="-122"/>
                <a:cs typeface="Arial" pitchFamily="34" charset="-120"/>
              </a:rPr>
              <a:t>— 친구 30명 직접 인터뷰 / 팀원 가족들의 실제 경험</a:t>
            </a:r>
            <a:endParaRPr lang="en-US" sz="1200" dirty="0"/>
          </a:p>
        </p:txBody>
      </p:sp>
      <p:sp>
        <p:nvSpPr>
          <p:cNvPr id="8" name="Shape 6"/>
          <p:cNvSpPr/>
          <p:nvPr/>
        </p:nvSpPr>
        <p:spPr>
          <a:xfrm>
            <a:off x="822960" y="2999232"/>
            <a:ext cx="7772400" cy="0"/>
          </a:xfrm>
          <a:prstGeom prst="line">
            <a:avLst/>
          </a:prstGeom>
          <a:noFill/>
          <a:ln w="12700">
            <a:solidFill>
              <a:srgbClr val="D1D5DB"/>
            </a:solidFill>
            <a:prstDash val="solid"/>
          </a:ln>
        </p:spPr>
      </p:sp>
      <p:sp>
        <p:nvSpPr>
          <p:cNvPr id="9" name="Text 7"/>
          <p:cNvSpPr/>
          <p:nvPr/>
        </p:nvSpPr>
        <p:spPr>
          <a:xfrm>
            <a:off x="822960" y="3163824"/>
            <a:ext cx="7772400" cy="347472"/>
          </a:xfrm>
          <a:prstGeom prst="rect">
            <a:avLst/>
          </a:prstGeom>
          <a:noFill/>
          <a:ln/>
        </p:spPr>
        <p:txBody>
          <a:bodyPr wrap="square" lIns="0" tIns="0" rIns="0" bIns="0" rtlCol="0" anchor="ctr"/>
          <a:lstStyle/>
          <a:p>
            <a:pPr marL="0" indent="0">
              <a:buNone/>
            </a:pPr>
            <a:r>
              <a:rPr lang="en-US" sz="1300" dirty="0">
                <a:solidFill>
                  <a:srgbClr val="6B7280"/>
                </a:solidFill>
                <a:latin typeface="Arial" pitchFamily="34" charset="0"/>
                <a:ea typeface="Arial" pitchFamily="34" charset="-122"/>
                <a:cs typeface="Arial" pitchFamily="34" charset="-120"/>
              </a:rPr>
              <a:t>가까운 곳조차 코스를 못 짜는 모순</a:t>
            </a:r>
            <a:endParaRPr lang="en-US" sz="1300" dirty="0"/>
          </a:p>
        </p:txBody>
      </p:sp>
      <p:sp>
        <p:nvSpPr>
          <p:cNvPr id="10" name="Text 8"/>
          <p:cNvSpPr/>
          <p:nvPr/>
        </p:nvSpPr>
        <p:spPr>
          <a:xfrm>
            <a:off x="822960" y="3547872"/>
            <a:ext cx="7772400" cy="347472"/>
          </a:xfrm>
          <a:prstGeom prst="rect">
            <a:avLst/>
          </a:prstGeom>
          <a:noFill/>
          <a:ln/>
        </p:spPr>
        <p:txBody>
          <a:bodyPr wrap="square" lIns="0" tIns="0" rIns="0" bIns="0" rtlCol="0" anchor="ctr"/>
          <a:lstStyle/>
          <a:p>
            <a:pPr marL="0" indent="0">
              <a:buNone/>
            </a:pPr>
            <a:r>
              <a:rPr lang="en-US" sz="1300" dirty="0">
                <a:solidFill>
                  <a:srgbClr val="6B7280"/>
                </a:solidFill>
                <a:latin typeface="Arial" pitchFamily="34" charset="0"/>
                <a:ea typeface="Arial" pitchFamily="34" charset="-122"/>
                <a:cs typeface="Arial" pitchFamily="34" charset="-120"/>
              </a:rPr>
              <a:t>부모님: "휴가가 있어도 어디 갈지 몰라 결국 집에"</a:t>
            </a:r>
            <a:endParaRPr lang="en-US" sz="1300" dirty="0"/>
          </a:p>
        </p:txBody>
      </p:sp>
      <p:sp>
        <p:nvSpPr>
          <p:cNvPr id="11" name="Text 9"/>
          <p:cNvSpPr/>
          <p:nvPr/>
        </p:nvSpPr>
        <p:spPr>
          <a:xfrm>
            <a:off x="822960" y="3931920"/>
            <a:ext cx="7772400" cy="347472"/>
          </a:xfrm>
          <a:prstGeom prst="rect">
            <a:avLst/>
          </a:prstGeom>
          <a:noFill/>
          <a:ln/>
        </p:spPr>
        <p:txBody>
          <a:bodyPr wrap="square" lIns="0" tIns="0" rIns="0" bIns="0" rtlCol="0" anchor="ctr"/>
          <a:lstStyle/>
          <a:p>
            <a:pPr marL="0" indent="0">
              <a:buNone/>
            </a:pPr>
            <a:r>
              <a:rPr lang="en-US" sz="1300" dirty="0">
                <a:solidFill>
                  <a:srgbClr val="6B7280"/>
                </a:solidFill>
                <a:latin typeface="Arial" pitchFamily="34" charset="0"/>
                <a:ea typeface="Arial" pitchFamily="34" charset="-122"/>
                <a:cs typeface="Arial" pitchFamily="34" charset="-120"/>
              </a:rPr>
              <a:t>기숙사 휴식 시간에도 SNS를 끊지 못하는 디지털 피로</a:t>
            </a:r>
            <a:endParaRPr lang="en-US" sz="1300" dirty="0"/>
          </a:p>
        </p:txBody>
      </p:sp>
      <p:sp>
        <p:nvSpPr>
          <p:cNvPr id="12" name="Text 10"/>
          <p:cNvSpPr/>
          <p:nvPr/>
        </p:nvSpPr>
        <p:spPr>
          <a:xfrm>
            <a:off x="822960" y="4315968"/>
            <a:ext cx="7772400" cy="347472"/>
          </a:xfrm>
          <a:prstGeom prst="rect">
            <a:avLst/>
          </a:prstGeom>
          <a:noFill/>
          <a:ln/>
        </p:spPr>
        <p:txBody>
          <a:bodyPr wrap="square" lIns="0" tIns="0" rIns="0" bIns="0" rtlCol="0" anchor="ctr"/>
          <a:lstStyle/>
          <a:p>
            <a:pPr marL="0" indent="0">
              <a:buNone/>
            </a:pPr>
            <a:r>
              <a:rPr lang="en-US" sz="1300" b="1" dirty="0">
                <a:solidFill>
                  <a:srgbClr val="03B083"/>
                </a:solidFill>
                <a:latin typeface="Arial" pitchFamily="34" charset="0"/>
                <a:ea typeface="Arial" pitchFamily="34" charset="-122"/>
                <a:cs typeface="Arial" pitchFamily="34" charset="-120"/>
              </a:rPr>
              <a:t>→ 개인 경험이 사회 문제임을 데이터로 확인</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4" name="Shape 2"/>
          <p:cNvSpPr/>
          <p:nvPr/>
        </p:nvSpPr>
        <p:spPr>
          <a:xfrm>
            <a:off x="411480" y="1673352"/>
            <a:ext cx="2722880" cy="356616"/>
          </a:xfrm>
          <a:prstGeom prst="rect">
            <a:avLst/>
          </a:prstGeom>
          <a:solidFill>
            <a:srgbClr val="03B083">
              <a:alpha val="45000"/>
            </a:srgbClr>
          </a:solidFill>
          <a:ln w="12700">
            <a:noFill/>
            <a:prstDash val="solid"/>
          </a:ln>
        </p:spPr>
      </p:sp>
      <p:sp>
        <p:nvSpPr>
          <p:cNvPr id="3" name="Text 1"/>
          <p:cNvSpPr/>
          <p:nvPr/>
        </p:nvSpPr>
        <p:spPr>
          <a:xfrm>
            <a:off x="411480" y="502920"/>
            <a:ext cx="4754880" cy="1737360"/>
          </a:xfrm>
          <a:prstGeom prst="rect">
            <a:avLst/>
          </a:prstGeom>
          <a:noFill/>
          <a:ln/>
        </p:spPr>
        <p:txBody>
          <a:bodyPr wrap="square" lIns="0" tIns="0" rIns="0" bIns="0" rtlCol="0" anchor="ctr"/>
          <a:lstStyle/>
          <a:p>
            <a:pPr marL="0" indent="0">
              <a:buNone/>
            </a:pPr>
            <a:r>
              <a:rPr lang="en-US" sz="10000" b="1" kern="0" spc="-300" dirty="0">
                <a:solidFill>
                  <a:srgbClr val="1F2937"/>
                </a:solidFill>
                <a:latin typeface="Arial" pitchFamily="34" charset="0"/>
                <a:ea typeface="Arial" pitchFamily="34" charset="-122"/>
                <a:cs typeface="Arial" pitchFamily="34" charset="-120"/>
              </a:rPr>
              <a:t>804만</a:t>
            </a:r>
            <a:endParaRPr lang="en-US" sz="10000" dirty="0"/>
          </a:p>
        </p:txBody>
      </p:sp>
      <p:sp>
        <p:nvSpPr>
          <p:cNvPr id="5" name="Text 3"/>
          <p:cNvSpPr/>
          <p:nvPr/>
        </p:nvSpPr>
        <p:spPr>
          <a:xfrm>
            <a:off x="411480" y="2212848"/>
            <a:ext cx="4754880" cy="438912"/>
          </a:xfrm>
          <a:prstGeom prst="rect">
            <a:avLst/>
          </a:prstGeom>
          <a:noFill/>
          <a:ln/>
        </p:spPr>
        <p:txBody>
          <a:bodyPr wrap="square" lIns="0" tIns="0" rIns="0" bIns="0" rtlCol="0" anchor="ctr"/>
          <a:lstStyle/>
          <a:p>
            <a:pPr marL="0" indent="0">
              <a:buNone/>
            </a:pPr>
            <a:r>
              <a:rPr lang="en-US" sz="2200" b="1" dirty="0">
                <a:solidFill>
                  <a:srgbClr val="1F2937"/>
                </a:solidFill>
                <a:latin typeface="Arial" pitchFamily="34" charset="0"/>
                <a:ea typeface="Arial" pitchFamily="34" charset="-122"/>
                <a:cs typeface="Arial" pitchFamily="34" charset="-120"/>
              </a:rPr>
              <a:t>1인 가구</a:t>
            </a:r>
            <a:endParaRPr lang="en-US" sz="2200" dirty="0"/>
          </a:p>
        </p:txBody>
      </p:sp>
      <p:sp>
        <p:nvSpPr>
          <p:cNvPr id="6" name="Text 4"/>
          <p:cNvSpPr/>
          <p:nvPr/>
        </p:nvSpPr>
        <p:spPr>
          <a:xfrm>
            <a:off x="411480" y="2688336"/>
            <a:ext cx="4754880" cy="292608"/>
          </a:xfrm>
          <a:prstGeom prst="rect">
            <a:avLst/>
          </a:prstGeom>
          <a:noFill/>
          <a:ln/>
        </p:spPr>
        <p:txBody>
          <a:bodyPr wrap="square" lIns="0" tIns="0" rIns="0" bIns="0" rtlCol="0" anchor="ctr"/>
          <a:lstStyle/>
          <a:p>
            <a:pPr marL="0" indent="0">
              <a:buNone/>
            </a:pPr>
            <a:r>
              <a:rPr lang="en-US" sz="1300" dirty="0">
                <a:solidFill>
                  <a:srgbClr val="6B7280"/>
                </a:solidFill>
                <a:latin typeface="Arial" pitchFamily="34" charset="0"/>
                <a:ea typeface="Arial" pitchFamily="34" charset="-122"/>
                <a:cs typeface="Arial" pitchFamily="34" charset="-120"/>
              </a:rPr>
              <a:t>여행 욕구는 있지만 특화 서비스가 없다</a:t>
            </a:r>
            <a:endParaRPr lang="en-US" sz="1300" dirty="0"/>
          </a:p>
        </p:txBody>
      </p:sp>
      <p:sp>
        <p:nvSpPr>
          <p:cNvPr id="7" name="Shape 5"/>
          <p:cNvSpPr/>
          <p:nvPr/>
        </p:nvSpPr>
        <p:spPr>
          <a:xfrm>
            <a:off x="5212080" y="548640"/>
            <a:ext cx="0" cy="3200400"/>
          </a:xfrm>
          <a:prstGeom prst="line">
            <a:avLst/>
          </a:prstGeom>
          <a:noFill/>
          <a:ln w="12700">
            <a:solidFill>
              <a:srgbClr val="D1D5DB"/>
            </a:solidFill>
            <a:prstDash val="solid"/>
          </a:ln>
        </p:spPr>
      </p:sp>
      <p:sp>
        <p:nvSpPr>
          <p:cNvPr id="9" name="Shape 7"/>
          <p:cNvSpPr/>
          <p:nvPr/>
        </p:nvSpPr>
        <p:spPr>
          <a:xfrm>
            <a:off x="5486399" y="1531620"/>
            <a:ext cx="2748279" cy="287020"/>
          </a:xfrm>
          <a:prstGeom prst="rect">
            <a:avLst/>
          </a:prstGeom>
          <a:solidFill>
            <a:srgbClr val="03B083">
              <a:alpha val="45000"/>
            </a:srgbClr>
          </a:solidFill>
          <a:ln w="12700">
            <a:noFill/>
            <a:prstDash val="solid"/>
          </a:ln>
        </p:spPr>
      </p:sp>
      <p:sp>
        <p:nvSpPr>
          <p:cNvPr id="8" name="Text 6"/>
          <p:cNvSpPr/>
          <p:nvPr/>
        </p:nvSpPr>
        <p:spPr>
          <a:xfrm>
            <a:off x="5486400" y="502920"/>
            <a:ext cx="3474720" cy="1554480"/>
          </a:xfrm>
          <a:prstGeom prst="rect">
            <a:avLst/>
          </a:prstGeom>
          <a:noFill/>
          <a:ln/>
        </p:spPr>
        <p:txBody>
          <a:bodyPr wrap="square" lIns="0" tIns="0" rIns="0" bIns="0" rtlCol="0" anchor="ctr"/>
          <a:lstStyle/>
          <a:p>
            <a:pPr marL="0" indent="0">
              <a:buNone/>
            </a:pPr>
            <a:r>
              <a:rPr lang="en-US" sz="8000" b="1" kern="0" spc="-200" dirty="0">
                <a:solidFill>
                  <a:srgbClr val="1F2937"/>
                </a:solidFill>
                <a:latin typeface="Arial" pitchFamily="34" charset="0"/>
                <a:ea typeface="Arial" pitchFamily="34" charset="-122"/>
                <a:cs typeface="Arial" pitchFamily="34" charset="-120"/>
              </a:rPr>
              <a:t>14시간</a:t>
            </a:r>
            <a:endParaRPr lang="en-US" sz="8000" dirty="0"/>
          </a:p>
        </p:txBody>
      </p:sp>
      <p:sp>
        <p:nvSpPr>
          <p:cNvPr id="10" name="Text 8"/>
          <p:cNvSpPr/>
          <p:nvPr/>
        </p:nvSpPr>
        <p:spPr>
          <a:xfrm>
            <a:off x="5486400" y="2029968"/>
            <a:ext cx="3474720" cy="438912"/>
          </a:xfrm>
          <a:prstGeom prst="rect">
            <a:avLst/>
          </a:prstGeom>
          <a:noFill/>
          <a:ln/>
        </p:spPr>
        <p:txBody>
          <a:bodyPr wrap="square" lIns="0" tIns="0" rIns="0" bIns="0" rtlCol="0" anchor="ctr"/>
          <a:lstStyle/>
          <a:p>
            <a:pPr marL="0" indent="0">
              <a:buNone/>
            </a:pPr>
            <a:r>
              <a:rPr lang="en-US" sz="1800" b="1" dirty="0">
                <a:solidFill>
                  <a:srgbClr val="1F2937"/>
                </a:solidFill>
                <a:latin typeface="Arial" pitchFamily="34" charset="0"/>
                <a:ea typeface="Arial" pitchFamily="34" charset="-122"/>
                <a:cs typeface="Arial" pitchFamily="34" charset="-120"/>
              </a:rPr>
              <a:t>여행 계획 평균 소요 시간</a:t>
            </a:r>
            <a:endParaRPr lang="en-US" sz="1800" dirty="0"/>
          </a:p>
        </p:txBody>
      </p:sp>
      <p:sp>
        <p:nvSpPr>
          <p:cNvPr id="11" name="Text 9"/>
          <p:cNvSpPr/>
          <p:nvPr/>
        </p:nvSpPr>
        <p:spPr>
          <a:xfrm>
            <a:off x="5486400" y="2487168"/>
            <a:ext cx="3474720" cy="292608"/>
          </a:xfrm>
          <a:prstGeom prst="rect">
            <a:avLst/>
          </a:prstGeom>
          <a:noFill/>
          <a:ln/>
        </p:spPr>
        <p:txBody>
          <a:bodyPr wrap="square" lIns="0" tIns="0" rIns="0" bIns="0" rtlCol="0" anchor="ctr"/>
          <a:lstStyle/>
          <a:p>
            <a:pPr marL="0" indent="0">
              <a:buNone/>
            </a:pPr>
            <a:r>
              <a:rPr lang="en-US" sz="1300" dirty="0">
                <a:solidFill>
                  <a:srgbClr val="6B7280"/>
                </a:solidFill>
                <a:latin typeface="Arial" pitchFamily="34" charset="0"/>
                <a:ea typeface="Arial" pitchFamily="34" charset="-122"/>
                <a:cs typeface="Arial" pitchFamily="34" charset="-120"/>
              </a:rPr>
              <a:t>결국 포기로 끝난다</a:t>
            </a:r>
            <a:endParaRPr lang="en-US" sz="1300" dirty="0"/>
          </a:p>
        </p:txBody>
      </p:sp>
      <p:sp>
        <p:nvSpPr>
          <p:cNvPr id="12" name="Shape 10"/>
          <p:cNvSpPr/>
          <p:nvPr/>
        </p:nvSpPr>
        <p:spPr>
          <a:xfrm>
            <a:off x="411480" y="3767328"/>
            <a:ext cx="8321040" cy="1024128"/>
          </a:xfrm>
          <a:prstGeom prst="roundRect">
            <a:avLst>
              <a:gd name="adj" fmla="val 7143"/>
            </a:avLst>
          </a:prstGeom>
          <a:solidFill>
            <a:srgbClr val="E9F8F2"/>
          </a:solidFill>
          <a:ln w="19050">
            <a:solidFill>
              <a:srgbClr val="03B083"/>
            </a:solidFill>
            <a:prstDash val="solid"/>
          </a:ln>
        </p:spPr>
      </p:sp>
      <p:sp>
        <p:nvSpPr>
          <p:cNvPr id="13" name="Text 11"/>
          <p:cNvSpPr/>
          <p:nvPr/>
        </p:nvSpPr>
        <p:spPr>
          <a:xfrm>
            <a:off x="411480" y="3767328"/>
            <a:ext cx="8321040" cy="1024128"/>
          </a:xfrm>
          <a:prstGeom prst="rect">
            <a:avLst/>
          </a:prstGeom>
          <a:noFill/>
          <a:ln/>
        </p:spPr>
        <p:txBody>
          <a:bodyPr wrap="square" lIns="0" tIns="0" rIns="0" bIns="0" rtlCol="0" anchor="ctr"/>
          <a:lstStyle/>
          <a:p>
            <a:pPr marL="0" indent="0" algn="ctr">
              <a:buNone/>
            </a:pPr>
            <a:r>
              <a:rPr lang="en-US" sz="1800" b="1" dirty="0">
                <a:solidFill>
                  <a:srgbClr val="03B083"/>
                </a:solidFill>
                <a:latin typeface="Arial" pitchFamily="34" charset="0"/>
                <a:ea typeface="Arial" pitchFamily="34" charset="-122"/>
                <a:cs typeface="Arial" pitchFamily="34" charset="-120"/>
              </a:rPr>
              <a:t>여행지는 늘 가던 몇 곳으로만 쏠립니다</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411480" y="475488"/>
            <a:ext cx="3703320" cy="4279392"/>
          </a:xfrm>
          <a:prstGeom prst="roundRect">
            <a:avLst>
              <a:gd name="adj" fmla="val 2963"/>
            </a:avLst>
          </a:prstGeom>
          <a:solidFill>
            <a:srgbClr val="F9FAFB"/>
          </a:solidFill>
          <a:ln w="12700">
            <a:solidFill>
              <a:srgbClr val="D1D5DB"/>
            </a:solidFill>
            <a:prstDash val="solid"/>
          </a:ln>
        </p:spPr>
      </p:sp>
      <p:sp>
        <p:nvSpPr>
          <p:cNvPr id="4" name="Shape 2"/>
          <p:cNvSpPr/>
          <p:nvPr/>
        </p:nvSpPr>
        <p:spPr>
          <a:xfrm>
            <a:off x="411480" y="475488"/>
            <a:ext cx="3703320" cy="411480"/>
          </a:xfrm>
          <a:prstGeom prst="roundRect">
            <a:avLst>
              <a:gd name="adj" fmla="val 26667"/>
            </a:avLst>
          </a:prstGeom>
          <a:solidFill>
            <a:srgbClr val="03B083"/>
          </a:solidFill>
          <a:ln w="12700">
            <a:solidFill>
              <a:srgbClr val="03B083"/>
            </a:solidFill>
            <a:prstDash val="solid"/>
          </a:ln>
        </p:spPr>
      </p:sp>
      <p:sp>
        <p:nvSpPr>
          <p:cNvPr id="5" name="Text 3"/>
          <p:cNvSpPr/>
          <p:nvPr/>
        </p:nvSpPr>
        <p:spPr>
          <a:xfrm>
            <a:off x="411480" y="475488"/>
            <a:ext cx="370332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타겟 고객</a:t>
            </a:r>
            <a:endParaRPr lang="en-US" sz="1200" dirty="0"/>
          </a:p>
        </p:txBody>
      </p:sp>
      <p:sp>
        <p:nvSpPr>
          <p:cNvPr id="6" name="Text 4"/>
          <p:cNvSpPr/>
          <p:nvPr/>
        </p:nvSpPr>
        <p:spPr>
          <a:xfrm>
            <a:off x="411480" y="960120"/>
            <a:ext cx="3703320" cy="822960"/>
          </a:xfrm>
          <a:prstGeom prst="rect">
            <a:avLst/>
          </a:prstGeom>
          <a:noFill/>
          <a:ln/>
        </p:spPr>
        <p:txBody>
          <a:bodyPr wrap="square" lIns="0" tIns="0" rIns="0" bIns="0" rtlCol="0" anchor="ctr"/>
          <a:lstStyle/>
          <a:p>
            <a:pPr marL="0" indent="0" algn="ctr">
              <a:buNone/>
            </a:pPr>
            <a:r>
              <a:rPr lang="en-US" sz="4600" dirty="0">
                <a:solidFill>
                  <a:srgbClr val="000000"/>
                </a:solidFill>
                <a:latin typeface="Toss Face Font Mac" pitchFamily="2" charset="0"/>
                <a:ea typeface="Toss Face Font Mac" pitchFamily="2" charset="0"/>
                <a:cs typeface="Arial" pitchFamily="34" charset="-120"/>
              </a:rPr>
              <a:t>👤</a:t>
            </a:r>
            <a:endParaRPr lang="en-US" sz="4600" dirty="0">
              <a:latin typeface="Toss Face Font Mac" pitchFamily="2" charset="0"/>
              <a:ea typeface="Toss Face Font Mac" pitchFamily="2" charset="0"/>
            </a:endParaRPr>
          </a:p>
        </p:txBody>
      </p:sp>
      <p:sp>
        <p:nvSpPr>
          <p:cNvPr id="7" name="Text 5"/>
          <p:cNvSpPr/>
          <p:nvPr/>
        </p:nvSpPr>
        <p:spPr>
          <a:xfrm>
            <a:off x="411480" y="1828800"/>
            <a:ext cx="3703320" cy="384048"/>
          </a:xfrm>
          <a:prstGeom prst="rect">
            <a:avLst/>
          </a:prstGeom>
          <a:noFill/>
          <a:ln/>
        </p:spPr>
        <p:txBody>
          <a:bodyPr wrap="square" lIns="0" tIns="0" rIns="0" bIns="0" rtlCol="0" anchor="ctr"/>
          <a:lstStyle/>
          <a:p>
            <a:pPr marL="0" indent="0" algn="ctr">
              <a:buNone/>
            </a:pPr>
            <a:r>
              <a:rPr lang="en-US" sz="1900" b="1" dirty="0">
                <a:solidFill>
                  <a:srgbClr val="1F2937"/>
                </a:solidFill>
                <a:latin typeface="Arial" pitchFamily="34" charset="0"/>
                <a:ea typeface="Arial" pitchFamily="34" charset="-122"/>
                <a:cs typeface="Arial" pitchFamily="34" charset="-120"/>
              </a:rPr>
              <a:t>김민준 / 32세</a:t>
            </a:r>
            <a:endParaRPr lang="en-US" sz="1900" dirty="0"/>
          </a:p>
        </p:txBody>
      </p:sp>
      <p:sp>
        <p:nvSpPr>
          <p:cNvPr id="8" name="Text 6"/>
          <p:cNvSpPr/>
          <p:nvPr/>
        </p:nvSpPr>
        <p:spPr>
          <a:xfrm>
            <a:off x="411480" y="2231136"/>
            <a:ext cx="3703320" cy="274320"/>
          </a:xfrm>
          <a:prstGeom prst="rect">
            <a:avLst/>
          </a:prstGeom>
          <a:noFill/>
          <a:ln/>
        </p:spPr>
        <p:txBody>
          <a:bodyPr wrap="square" lIns="0" tIns="0" rIns="0" bIns="0" rtlCol="0" anchor="ctr"/>
          <a:lstStyle/>
          <a:p>
            <a:pPr marL="0" indent="0" algn="ctr">
              <a:buNone/>
            </a:pPr>
            <a:r>
              <a:rPr lang="en-US" sz="1250" dirty="0">
                <a:solidFill>
                  <a:srgbClr val="6B7280"/>
                </a:solidFill>
                <a:latin typeface="Arial" pitchFamily="34" charset="0"/>
                <a:ea typeface="Arial" pitchFamily="34" charset="-122"/>
                <a:cs typeface="Arial" pitchFamily="34" charset="-120"/>
              </a:rPr>
              <a:t>IT 회사 3년차 직장인</a:t>
            </a:r>
            <a:endParaRPr lang="en-US" sz="1250" dirty="0"/>
          </a:p>
        </p:txBody>
      </p:sp>
      <p:sp>
        <p:nvSpPr>
          <p:cNvPr id="9" name="Shape 7"/>
          <p:cNvSpPr/>
          <p:nvPr/>
        </p:nvSpPr>
        <p:spPr>
          <a:xfrm>
            <a:off x="685800" y="2633472"/>
            <a:ext cx="3154680" cy="0"/>
          </a:xfrm>
          <a:prstGeom prst="line">
            <a:avLst/>
          </a:prstGeom>
          <a:noFill/>
          <a:ln w="12700">
            <a:solidFill>
              <a:srgbClr val="D1D5DB"/>
            </a:solidFill>
            <a:prstDash val="solid"/>
          </a:ln>
        </p:spPr>
      </p:sp>
      <p:sp>
        <p:nvSpPr>
          <p:cNvPr id="10" name="Text 8"/>
          <p:cNvSpPr/>
          <p:nvPr/>
        </p:nvSpPr>
        <p:spPr>
          <a:xfrm>
            <a:off x="594360" y="2798064"/>
            <a:ext cx="3401568" cy="347472"/>
          </a:xfrm>
          <a:prstGeom prst="rect">
            <a:avLst/>
          </a:prstGeom>
          <a:noFill/>
          <a:ln/>
        </p:spPr>
        <p:txBody>
          <a:bodyPr wrap="square" lIns="0" tIns="0" rIns="0" bIns="0" rtlCol="0" anchor="ctr"/>
          <a:lstStyle/>
          <a:p>
            <a:pPr marL="0" indent="0">
              <a:buNone/>
            </a:pPr>
            <a:r>
              <a:rPr lang="en-US" sz="1200" dirty="0">
                <a:solidFill>
                  <a:srgbClr val="6B7280"/>
                </a:solidFill>
                <a:latin typeface="Arial" pitchFamily="34" charset="0"/>
                <a:ea typeface="Arial" pitchFamily="34" charset="-122"/>
                <a:cs typeface="Arial" pitchFamily="34" charset="-120"/>
              </a:rPr>
              <a:t>·  연차 쌓이는 중, 여행 욕구 높음</a:t>
            </a:r>
            <a:endParaRPr lang="en-US" sz="1200" dirty="0"/>
          </a:p>
        </p:txBody>
      </p:sp>
      <p:sp>
        <p:nvSpPr>
          <p:cNvPr id="11" name="Text 9"/>
          <p:cNvSpPr/>
          <p:nvPr/>
        </p:nvSpPr>
        <p:spPr>
          <a:xfrm>
            <a:off x="594360" y="3182112"/>
            <a:ext cx="3401568" cy="347472"/>
          </a:xfrm>
          <a:prstGeom prst="rect">
            <a:avLst/>
          </a:prstGeom>
          <a:noFill/>
          <a:ln/>
        </p:spPr>
        <p:txBody>
          <a:bodyPr wrap="square" lIns="0" tIns="0" rIns="0" bIns="0" rtlCol="0" anchor="ctr"/>
          <a:lstStyle/>
          <a:p>
            <a:pPr marL="0" indent="0">
              <a:buNone/>
            </a:pPr>
            <a:r>
              <a:rPr lang="en-US" sz="1200" dirty="0">
                <a:solidFill>
                  <a:srgbClr val="6B7280"/>
                </a:solidFill>
                <a:latin typeface="Arial" pitchFamily="34" charset="0"/>
                <a:ea typeface="Arial" pitchFamily="34" charset="-122"/>
                <a:cs typeface="Arial" pitchFamily="34" charset="-120"/>
              </a:rPr>
              <a:t>·  주말엔 핸드폰 놓고 싶음</a:t>
            </a:r>
            <a:endParaRPr lang="en-US" sz="1200" dirty="0"/>
          </a:p>
        </p:txBody>
      </p:sp>
      <p:sp>
        <p:nvSpPr>
          <p:cNvPr id="12" name="Text 10"/>
          <p:cNvSpPr/>
          <p:nvPr/>
        </p:nvSpPr>
        <p:spPr>
          <a:xfrm>
            <a:off x="594360" y="3566160"/>
            <a:ext cx="3401568" cy="347472"/>
          </a:xfrm>
          <a:prstGeom prst="rect">
            <a:avLst/>
          </a:prstGeom>
          <a:noFill/>
          <a:ln/>
        </p:spPr>
        <p:txBody>
          <a:bodyPr wrap="square" lIns="0" tIns="0" rIns="0" bIns="0" rtlCol="0" anchor="ctr"/>
          <a:lstStyle/>
          <a:p>
            <a:pPr marL="0" indent="0">
              <a:buNone/>
            </a:pPr>
            <a:r>
              <a:rPr lang="en-US" sz="1200" dirty="0">
                <a:solidFill>
                  <a:srgbClr val="6B7280"/>
                </a:solidFill>
                <a:latin typeface="Arial" pitchFamily="34" charset="0"/>
                <a:ea typeface="Arial" pitchFamily="34" charset="-122"/>
                <a:cs typeface="Arial" pitchFamily="34" charset="-120"/>
              </a:rPr>
              <a:t>·  계획 세우다 지쳐서 매번 포기</a:t>
            </a:r>
            <a:endParaRPr lang="en-US" sz="1200" dirty="0"/>
          </a:p>
        </p:txBody>
      </p:sp>
      <p:sp>
        <p:nvSpPr>
          <p:cNvPr id="13" name="Text 11"/>
          <p:cNvSpPr/>
          <p:nvPr/>
        </p:nvSpPr>
        <p:spPr>
          <a:xfrm>
            <a:off x="4434840" y="475488"/>
            <a:ext cx="4572000" cy="402336"/>
          </a:xfrm>
          <a:prstGeom prst="rect">
            <a:avLst/>
          </a:prstGeom>
          <a:noFill/>
          <a:ln/>
        </p:spPr>
        <p:txBody>
          <a:bodyPr wrap="square" lIns="0" tIns="0" rIns="0" bIns="0" rtlCol="0" anchor="ctr"/>
          <a:lstStyle/>
          <a:p>
            <a:pPr marL="0" indent="0">
              <a:buNone/>
            </a:pPr>
            <a:r>
              <a:rPr lang="en-US" sz="2000" b="1" dirty="0">
                <a:solidFill>
                  <a:srgbClr val="1F2937"/>
                </a:solidFill>
                <a:latin typeface="Arial" pitchFamily="34" charset="0"/>
                <a:ea typeface="Arial" pitchFamily="34" charset="-122"/>
                <a:cs typeface="Arial" pitchFamily="34" charset="-120"/>
              </a:rPr>
              <a:t>어떻게 사용하나요?</a:t>
            </a:r>
            <a:endParaRPr lang="en-US" sz="2000" dirty="0"/>
          </a:p>
        </p:txBody>
      </p:sp>
      <p:sp>
        <p:nvSpPr>
          <p:cNvPr id="14" name="Shape 12"/>
          <p:cNvSpPr/>
          <p:nvPr/>
        </p:nvSpPr>
        <p:spPr>
          <a:xfrm>
            <a:off x="4434840" y="1060704"/>
            <a:ext cx="329184" cy="329184"/>
          </a:xfrm>
          <a:prstGeom prst="ellipse">
            <a:avLst/>
          </a:prstGeom>
          <a:solidFill>
            <a:srgbClr val="03B083"/>
          </a:solidFill>
          <a:ln w="12700">
            <a:solidFill>
              <a:srgbClr val="03B083"/>
            </a:solidFill>
            <a:prstDash val="solid"/>
          </a:ln>
        </p:spPr>
      </p:sp>
      <p:sp>
        <p:nvSpPr>
          <p:cNvPr id="15" name="Text 13"/>
          <p:cNvSpPr/>
          <p:nvPr/>
        </p:nvSpPr>
        <p:spPr>
          <a:xfrm>
            <a:off x="4434840" y="1060704"/>
            <a:ext cx="329184"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01</a:t>
            </a:r>
            <a:endParaRPr lang="en-US" sz="900" dirty="0"/>
          </a:p>
        </p:txBody>
      </p:sp>
      <p:sp>
        <p:nvSpPr>
          <p:cNvPr id="16" name="Text 14"/>
          <p:cNvSpPr/>
          <p:nvPr/>
        </p:nvSpPr>
        <p:spPr>
          <a:xfrm>
            <a:off x="4864608" y="1024128"/>
            <a:ext cx="4114800" cy="256032"/>
          </a:xfrm>
          <a:prstGeom prst="rect">
            <a:avLst/>
          </a:prstGeom>
          <a:noFill/>
          <a:ln/>
        </p:spPr>
        <p:txBody>
          <a:bodyPr wrap="square" lIns="0" tIns="0" rIns="0" bIns="0" rtlCol="0" anchor="ctr"/>
          <a:lstStyle/>
          <a:p>
            <a:pPr marL="0" indent="0">
              <a:buNone/>
            </a:pPr>
            <a:r>
              <a:rPr lang="en-US" sz="1400" b="1" dirty="0">
                <a:solidFill>
                  <a:srgbClr val="1F2937"/>
                </a:solidFill>
                <a:latin typeface="Arial" pitchFamily="34" charset="0"/>
                <a:ea typeface="Arial" pitchFamily="34" charset="-122"/>
                <a:cs typeface="Arial" pitchFamily="34" charset="-120"/>
              </a:rPr>
              <a:t>예산 30만원 입력·결제</a:t>
            </a:r>
            <a:endParaRPr lang="en-US" sz="1400" dirty="0"/>
          </a:p>
        </p:txBody>
      </p:sp>
      <p:sp>
        <p:nvSpPr>
          <p:cNvPr id="17" name="Text 15"/>
          <p:cNvSpPr/>
          <p:nvPr/>
        </p:nvSpPr>
        <p:spPr>
          <a:xfrm>
            <a:off x="4864608" y="1280160"/>
            <a:ext cx="4114800" cy="219456"/>
          </a:xfrm>
          <a:prstGeom prst="rect">
            <a:avLst/>
          </a:prstGeom>
          <a:noFill/>
          <a:ln/>
        </p:spPr>
        <p:txBody>
          <a:bodyPr wrap="square" lIns="0" tIns="0" rIns="0" bIns="0" rtlCol="0" anchor="ctr"/>
          <a:lstStyle/>
          <a:p>
            <a:pPr marL="0" indent="0">
              <a:buNone/>
            </a:pPr>
            <a:r>
              <a:rPr lang="en-US" sz="1100" dirty="0">
                <a:solidFill>
                  <a:srgbClr val="6B7280"/>
                </a:solidFill>
                <a:latin typeface="Arial" pitchFamily="34" charset="0"/>
                <a:ea typeface="Arial" pitchFamily="34" charset="-122"/>
                <a:cs typeface="Arial" pitchFamily="34" charset="-120"/>
              </a:rPr>
              <a:t>스마트폰 화면 하나로 완료</a:t>
            </a:r>
            <a:endParaRPr lang="en-US" sz="1100" dirty="0"/>
          </a:p>
        </p:txBody>
      </p:sp>
      <p:sp>
        <p:nvSpPr>
          <p:cNvPr id="18" name="Shape 16"/>
          <p:cNvSpPr/>
          <p:nvPr/>
        </p:nvSpPr>
        <p:spPr>
          <a:xfrm>
            <a:off x="4590288" y="1426464"/>
            <a:ext cx="0" cy="347472"/>
          </a:xfrm>
          <a:prstGeom prst="line">
            <a:avLst/>
          </a:prstGeom>
          <a:noFill/>
          <a:ln w="19050">
            <a:solidFill>
              <a:srgbClr val="D1D5DB"/>
            </a:solidFill>
            <a:prstDash val="solid"/>
          </a:ln>
        </p:spPr>
      </p:sp>
      <p:sp>
        <p:nvSpPr>
          <p:cNvPr id="19" name="Shape 17"/>
          <p:cNvSpPr/>
          <p:nvPr/>
        </p:nvSpPr>
        <p:spPr>
          <a:xfrm>
            <a:off x="4434840" y="1810512"/>
            <a:ext cx="329184" cy="329184"/>
          </a:xfrm>
          <a:prstGeom prst="ellipse">
            <a:avLst/>
          </a:prstGeom>
          <a:solidFill>
            <a:srgbClr val="03B083"/>
          </a:solidFill>
          <a:ln w="12700">
            <a:solidFill>
              <a:srgbClr val="03B083"/>
            </a:solidFill>
            <a:prstDash val="solid"/>
          </a:ln>
        </p:spPr>
      </p:sp>
      <p:sp>
        <p:nvSpPr>
          <p:cNvPr id="20" name="Text 18"/>
          <p:cNvSpPr/>
          <p:nvPr/>
        </p:nvSpPr>
        <p:spPr>
          <a:xfrm>
            <a:off x="4434840" y="1810512"/>
            <a:ext cx="329184"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02</a:t>
            </a:r>
            <a:endParaRPr lang="en-US" sz="900" dirty="0"/>
          </a:p>
        </p:txBody>
      </p:sp>
      <p:sp>
        <p:nvSpPr>
          <p:cNvPr id="21" name="Text 19"/>
          <p:cNvSpPr/>
          <p:nvPr/>
        </p:nvSpPr>
        <p:spPr>
          <a:xfrm>
            <a:off x="4864608" y="1773936"/>
            <a:ext cx="4114800" cy="256032"/>
          </a:xfrm>
          <a:prstGeom prst="rect">
            <a:avLst/>
          </a:prstGeom>
          <a:noFill/>
          <a:ln/>
        </p:spPr>
        <p:txBody>
          <a:bodyPr wrap="square" lIns="0" tIns="0" rIns="0" bIns="0" rtlCol="0" anchor="ctr"/>
          <a:lstStyle/>
          <a:p>
            <a:pPr marL="0" indent="0">
              <a:buNone/>
            </a:pPr>
            <a:r>
              <a:rPr lang="en-US" sz="1400" b="1" dirty="0">
                <a:solidFill>
                  <a:srgbClr val="1F2937"/>
                </a:solidFill>
                <a:latin typeface="Arial" pitchFamily="34" charset="0"/>
                <a:ea typeface="Arial" pitchFamily="34" charset="-122"/>
                <a:cs typeface="Arial" pitchFamily="34" charset="-120"/>
              </a:rPr>
              <a:t>AI가 1분 내 코스 설계</a:t>
            </a:r>
            <a:endParaRPr lang="en-US" sz="1400" dirty="0"/>
          </a:p>
        </p:txBody>
      </p:sp>
      <p:sp>
        <p:nvSpPr>
          <p:cNvPr id="22" name="Text 20"/>
          <p:cNvSpPr/>
          <p:nvPr/>
        </p:nvSpPr>
        <p:spPr>
          <a:xfrm>
            <a:off x="4864608" y="2029968"/>
            <a:ext cx="4114800" cy="219456"/>
          </a:xfrm>
          <a:prstGeom prst="rect">
            <a:avLst/>
          </a:prstGeom>
          <a:noFill/>
          <a:ln/>
        </p:spPr>
        <p:txBody>
          <a:bodyPr wrap="square" lIns="0" tIns="0" rIns="0" bIns="0" rtlCol="0" anchor="ctr"/>
          <a:lstStyle/>
          <a:p>
            <a:pPr marL="0" indent="0">
              <a:buNone/>
            </a:pPr>
            <a:r>
              <a:rPr lang="en-US" sz="1100" dirty="0">
                <a:solidFill>
                  <a:srgbClr val="6B7280"/>
                </a:solidFill>
                <a:latin typeface="Arial" pitchFamily="34" charset="0"/>
                <a:ea typeface="Arial" pitchFamily="34" charset="-122"/>
                <a:cs typeface="Arial" pitchFamily="34" charset="-120"/>
              </a:rPr>
              <a:t>코스·식당·숙소·동선 전부</a:t>
            </a:r>
            <a:endParaRPr lang="en-US" sz="1100" dirty="0"/>
          </a:p>
        </p:txBody>
      </p:sp>
      <p:sp>
        <p:nvSpPr>
          <p:cNvPr id="23" name="Shape 21"/>
          <p:cNvSpPr/>
          <p:nvPr/>
        </p:nvSpPr>
        <p:spPr>
          <a:xfrm>
            <a:off x="4590288" y="2176272"/>
            <a:ext cx="0" cy="347472"/>
          </a:xfrm>
          <a:prstGeom prst="line">
            <a:avLst/>
          </a:prstGeom>
          <a:noFill/>
          <a:ln w="19050">
            <a:solidFill>
              <a:srgbClr val="D1D5DB"/>
            </a:solidFill>
            <a:prstDash val="solid"/>
          </a:ln>
        </p:spPr>
      </p:sp>
      <p:sp>
        <p:nvSpPr>
          <p:cNvPr id="24" name="Shape 22"/>
          <p:cNvSpPr/>
          <p:nvPr/>
        </p:nvSpPr>
        <p:spPr>
          <a:xfrm>
            <a:off x="4434840" y="2560320"/>
            <a:ext cx="329184" cy="329184"/>
          </a:xfrm>
          <a:prstGeom prst="ellipse">
            <a:avLst/>
          </a:prstGeom>
          <a:solidFill>
            <a:srgbClr val="03B083"/>
          </a:solidFill>
          <a:ln w="12700">
            <a:solidFill>
              <a:srgbClr val="03B083"/>
            </a:solidFill>
            <a:prstDash val="solid"/>
          </a:ln>
        </p:spPr>
      </p:sp>
      <p:sp>
        <p:nvSpPr>
          <p:cNvPr id="25" name="Text 23"/>
          <p:cNvSpPr/>
          <p:nvPr/>
        </p:nvSpPr>
        <p:spPr>
          <a:xfrm>
            <a:off x="4434840" y="2560320"/>
            <a:ext cx="329184"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03</a:t>
            </a:r>
            <a:endParaRPr lang="en-US" sz="900" dirty="0"/>
          </a:p>
        </p:txBody>
      </p:sp>
      <p:sp>
        <p:nvSpPr>
          <p:cNvPr id="26" name="Text 24"/>
          <p:cNvSpPr/>
          <p:nvPr/>
        </p:nvSpPr>
        <p:spPr>
          <a:xfrm>
            <a:off x="4864608" y="2523744"/>
            <a:ext cx="4114800" cy="256032"/>
          </a:xfrm>
          <a:prstGeom prst="rect">
            <a:avLst/>
          </a:prstGeom>
          <a:noFill/>
          <a:ln/>
        </p:spPr>
        <p:txBody>
          <a:bodyPr wrap="square" lIns="0" tIns="0" rIns="0" bIns="0" rtlCol="0" anchor="ctr"/>
          <a:lstStyle/>
          <a:p>
            <a:pPr marL="0" indent="0">
              <a:buNone/>
            </a:pPr>
            <a:r>
              <a:rPr lang="en-US" sz="1400" b="1" dirty="0">
                <a:solidFill>
                  <a:srgbClr val="1F2937"/>
                </a:solidFill>
                <a:latin typeface="Arial" pitchFamily="34" charset="0"/>
                <a:ea typeface="Arial" pitchFamily="34" charset="-122"/>
                <a:cs typeface="Arial" pitchFamily="34" charset="-120"/>
              </a:rPr>
              <a:t>출발 당일 목적지 공개</a:t>
            </a:r>
            <a:endParaRPr lang="en-US" sz="1400" dirty="0"/>
          </a:p>
        </p:txBody>
      </p:sp>
      <p:sp>
        <p:nvSpPr>
          <p:cNvPr id="27" name="Text 25"/>
          <p:cNvSpPr/>
          <p:nvPr/>
        </p:nvSpPr>
        <p:spPr>
          <a:xfrm>
            <a:off x="4864608" y="2779776"/>
            <a:ext cx="4114800" cy="219456"/>
          </a:xfrm>
          <a:prstGeom prst="rect">
            <a:avLst/>
          </a:prstGeom>
          <a:noFill/>
          <a:ln/>
        </p:spPr>
        <p:txBody>
          <a:bodyPr wrap="square" lIns="0" tIns="0" rIns="0" bIns="0" rtlCol="0" anchor="ctr"/>
          <a:lstStyle/>
          <a:p>
            <a:pPr marL="0" indent="0">
              <a:buNone/>
            </a:pPr>
            <a:r>
              <a:rPr lang="en-US" sz="1100" dirty="0">
                <a:solidFill>
                  <a:srgbClr val="6B7280"/>
                </a:solidFill>
                <a:latin typeface="Arial" pitchFamily="34" charset="0"/>
                <a:ea typeface="Arial" pitchFamily="34" charset="-122"/>
                <a:cs typeface="Arial" pitchFamily="34" charset="-120"/>
              </a:rPr>
              <a:t>서프라이즈 — 수도권 어딘가</a:t>
            </a:r>
            <a:endParaRPr lang="en-US" sz="1100" dirty="0"/>
          </a:p>
        </p:txBody>
      </p:sp>
      <p:sp>
        <p:nvSpPr>
          <p:cNvPr id="28" name="Shape 26"/>
          <p:cNvSpPr/>
          <p:nvPr/>
        </p:nvSpPr>
        <p:spPr>
          <a:xfrm>
            <a:off x="4590288" y="2926080"/>
            <a:ext cx="0" cy="347472"/>
          </a:xfrm>
          <a:prstGeom prst="line">
            <a:avLst/>
          </a:prstGeom>
          <a:noFill/>
          <a:ln w="19050">
            <a:solidFill>
              <a:srgbClr val="D1D5DB"/>
            </a:solidFill>
            <a:prstDash val="solid"/>
          </a:ln>
        </p:spPr>
      </p:sp>
      <p:sp>
        <p:nvSpPr>
          <p:cNvPr id="29" name="Shape 27"/>
          <p:cNvSpPr/>
          <p:nvPr/>
        </p:nvSpPr>
        <p:spPr>
          <a:xfrm>
            <a:off x="4434840" y="3310128"/>
            <a:ext cx="329184" cy="329184"/>
          </a:xfrm>
          <a:prstGeom prst="ellipse">
            <a:avLst/>
          </a:prstGeom>
          <a:solidFill>
            <a:srgbClr val="03B083"/>
          </a:solidFill>
          <a:ln w="12700">
            <a:solidFill>
              <a:srgbClr val="03B083"/>
            </a:solidFill>
            <a:prstDash val="solid"/>
          </a:ln>
        </p:spPr>
      </p:sp>
      <p:sp>
        <p:nvSpPr>
          <p:cNvPr id="30" name="Text 28"/>
          <p:cNvSpPr/>
          <p:nvPr/>
        </p:nvSpPr>
        <p:spPr>
          <a:xfrm>
            <a:off x="4434840" y="3310128"/>
            <a:ext cx="329184"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04</a:t>
            </a:r>
            <a:endParaRPr lang="en-US" sz="900" dirty="0"/>
          </a:p>
        </p:txBody>
      </p:sp>
      <p:sp>
        <p:nvSpPr>
          <p:cNvPr id="31" name="Text 29"/>
          <p:cNvSpPr/>
          <p:nvPr/>
        </p:nvSpPr>
        <p:spPr>
          <a:xfrm>
            <a:off x="4864608" y="3273552"/>
            <a:ext cx="4114800" cy="256032"/>
          </a:xfrm>
          <a:prstGeom prst="rect">
            <a:avLst/>
          </a:prstGeom>
          <a:noFill/>
          <a:ln/>
        </p:spPr>
        <p:txBody>
          <a:bodyPr wrap="square" lIns="0" tIns="0" rIns="0" bIns="0" rtlCol="0" anchor="ctr"/>
          <a:lstStyle/>
          <a:p>
            <a:pPr marL="0" indent="0">
              <a:buNone/>
            </a:pPr>
            <a:r>
              <a:rPr lang="en-US" sz="1400" b="1" dirty="0">
                <a:solidFill>
                  <a:srgbClr val="1F2937"/>
                </a:solidFill>
                <a:latin typeface="Arial" pitchFamily="34" charset="0"/>
                <a:ea typeface="Arial" pitchFamily="34" charset="-122"/>
                <a:cs typeface="Arial" pitchFamily="34" charset="-120"/>
              </a:rPr>
              <a:t>실시간 동선 안내</a:t>
            </a:r>
            <a:endParaRPr lang="en-US" sz="1400" dirty="0"/>
          </a:p>
        </p:txBody>
      </p:sp>
      <p:sp>
        <p:nvSpPr>
          <p:cNvPr id="32" name="Text 30"/>
          <p:cNvSpPr/>
          <p:nvPr/>
        </p:nvSpPr>
        <p:spPr>
          <a:xfrm>
            <a:off x="4864608" y="3529584"/>
            <a:ext cx="4114800" cy="219456"/>
          </a:xfrm>
          <a:prstGeom prst="rect">
            <a:avLst/>
          </a:prstGeom>
          <a:noFill/>
          <a:ln/>
        </p:spPr>
        <p:txBody>
          <a:bodyPr wrap="square" lIns="0" tIns="0" rIns="0" bIns="0" rtlCol="0" anchor="ctr"/>
          <a:lstStyle/>
          <a:p>
            <a:pPr marL="0" indent="0">
              <a:buNone/>
            </a:pPr>
            <a:r>
              <a:rPr lang="en-US" sz="1100" dirty="0">
                <a:solidFill>
                  <a:srgbClr val="6B7280"/>
                </a:solidFill>
                <a:latin typeface="Arial" pitchFamily="34" charset="0"/>
                <a:ea typeface="Arial" pitchFamily="34" charset="-122"/>
                <a:cs typeface="Arial" pitchFamily="34" charset="-120"/>
              </a:rPr>
              <a:t>지도·알림·타이머로 안내</a:t>
            </a:r>
            <a:endParaRPr lang="en-US" sz="1100" dirty="0"/>
          </a:p>
        </p:txBody>
      </p:sp>
      <p:sp>
        <p:nvSpPr>
          <p:cNvPr id="33" name="Shape 31"/>
          <p:cNvSpPr/>
          <p:nvPr/>
        </p:nvSpPr>
        <p:spPr>
          <a:xfrm>
            <a:off x="4590288" y="3675888"/>
            <a:ext cx="0" cy="347472"/>
          </a:xfrm>
          <a:prstGeom prst="line">
            <a:avLst/>
          </a:prstGeom>
          <a:noFill/>
          <a:ln w="19050">
            <a:solidFill>
              <a:srgbClr val="D1D5DB"/>
            </a:solidFill>
            <a:prstDash val="solid"/>
          </a:ln>
        </p:spPr>
      </p:sp>
      <p:sp>
        <p:nvSpPr>
          <p:cNvPr id="34" name="Shape 32"/>
          <p:cNvSpPr/>
          <p:nvPr/>
        </p:nvSpPr>
        <p:spPr>
          <a:xfrm>
            <a:off x="4434840" y="4059936"/>
            <a:ext cx="329184" cy="329184"/>
          </a:xfrm>
          <a:prstGeom prst="ellipse">
            <a:avLst/>
          </a:prstGeom>
          <a:solidFill>
            <a:srgbClr val="03B083"/>
          </a:solidFill>
          <a:ln w="12700">
            <a:solidFill>
              <a:srgbClr val="03B083"/>
            </a:solidFill>
            <a:prstDash val="solid"/>
          </a:ln>
        </p:spPr>
      </p:sp>
      <p:sp>
        <p:nvSpPr>
          <p:cNvPr id="35" name="Text 33"/>
          <p:cNvSpPr/>
          <p:nvPr/>
        </p:nvSpPr>
        <p:spPr>
          <a:xfrm>
            <a:off x="4434840" y="4059936"/>
            <a:ext cx="329184"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05</a:t>
            </a:r>
            <a:endParaRPr lang="en-US" sz="900" dirty="0"/>
          </a:p>
        </p:txBody>
      </p:sp>
      <p:sp>
        <p:nvSpPr>
          <p:cNvPr id="36" name="Text 34"/>
          <p:cNvSpPr/>
          <p:nvPr/>
        </p:nvSpPr>
        <p:spPr>
          <a:xfrm>
            <a:off x="4864608" y="4023360"/>
            <a:ext cx="4114800" cy="256032"/>
          </a:xfrm>
          <a:prstGeom prst="rect">
            <a:avLst/>
          </a:prstGeom>
          <a:noFill/>
          <a:ln/>
        </p:spPr>
        <p:txBody>
          <a:bodyPr wrap="square" lIns="0" tIns="0" rIns="0" bIns="0" rtlCol="0" anchor="ctr"/>
          <a:lstStyle/>
          <a:p>
            <a:pPr marL="0" indent="0">
              <a:buNone/>
            </a:pPr>
            <a:r>
              <a:rPr lang="en-US" sz="1400" b="1" dirty="0">
                <a:solidFill>
                  <a:srgbClr val="1F2937"/>
                </a:solidFill>
                <a:latin typeface="Arial" pitchFamily="34" charset="0"/>
                <a:ea typeface="Arial" pitchFamily="34" charset="-122"/>
                <a:cs typeface="Arial" pitchFamily="34" charset="-120"/>
              </a:rPr>
              <a:t>데모 모드 ON</a:t>
            </a:r>
            <a:endParaRPr lang="en-US" sz="1400" dirty="0"/>
          </a:p>
        </p:txBody>
      </p:sp>
      <p:sp>
        <p:nvSpPr>
          <p:cNvPr id="37" name="Text 35"/>
          <p:cNvSpPr/>
          <p:nvPr/>
        </p:nvSpPr>
        <p:spPr>
          <a:xfrm>
            <a:off x="4864608" y="4279392"/>
            <a:ext cx="4114800" cy="219456"/>
          </a:xfrm>
          <a:prstGeom prst="rect">
            <a:avLst/>
          </a:prstGeom>
          <a:noFill/>
          <a:ln/>
        </p:spPr>
        <p:txBody>
          <a:bodyPr wrap="square" lIns="0" tIns="0" rIns="0" bIns="0" rtlCol="0" anchor="ctr"/>
          <a:lstStyle/>
          <a:p>
            <a:pPr marL="0" indent="0">
              <a:buNone/>
            </a:pPr>
            <a:r>
              <a:rPr lang="en-US" sz="1100" dirty="0">
                <a:solidFill>
                  <a:srgbClr val="6B7280"/>
                </a:solidFill>
                <a:latin typeface="Arial" pitchFamily="34" charset="0"/>
                <a:ea typeface="Arial" pitchFamily="34" charset="-122"/>
                <a:cs typeface="Arial" pitchFamily="34" charset="-120"/>
              </a:rPr>
              <a:t>여행 중 GPS 없이 체험</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name="Slide 6">
    <p:bg>
      <p:bgPr>
        <a:solidFill>
          <a:srgbClr val="FFFFFF"/>
        </a:solidFill>
        <a:effectLst/>
      </p:bgPr>
    </p:bg>
    <p:spTree>
      <p:nvGrpSpPr>
        <p:cNvPr id="1" name=""/>
        <p:cNvGrpSpPr/>
        <p:nvPr/>
      </p:nvGrpSpPr>
      <p:grpSpPr>
        <a:xfrm>
          <a:off x="0" y="0"/>
          <a:ext cx="0" cy="0"/>
          <a:chOff x="0" y="0"/>
          <a:chExt cx="0" cy="0"/>
        </a:xfrm>
      </p:grpSpPr>
      <p:sp>
        <p:nvSpPr>
          <p:cNvPr id="4" name="Shape 2"/>
          <p:cNvSpPr/>
          <p:nvPr/>
        </p:nvSpPr>
        <p:spPr>
          <a:xfrm>
            <a:off x="393192" y="830798"/>
            <a:ext cx="3410712" cy="156754"/>
          </a:xfrm>
          <a:prstGeom prst="rect">
            <a:avLst/>
          </a:prstGeom>
          <a:solidFill>
            <a:srgbClr val="03B083">
              <a:alpha val="45000"/>
            </a:srgbClr>
          </a:solidFill>
          <a:ln w="12700">
            <a:noFill/>
            <a:prstDash val="solid"/>
          </a:ln>
        </p:spPr>
        <p:txBody>
          <a:bodyPr/>
          <a:lstStyle/>
          <a:p>
            <a:endParaRPr/>
          </a:p>
        </p:txBody>
      </p:sp>
      <p:sp>
        <p:nvSpPr>
          <p:cNvPr id="3" name="Text 1"/>
          <p:cNvSpPr/>
          <p:nvPr/>
        </p:nvSpPr>
        <p:spPr>
          <a:xfrm>
            <a:off x="457200" y="393192"/>
            <a:ext cx="8321040" cy="594360"/>
          </a:xfrm>
          <a:prstGeom prst="rect">
            <a:avLst/>
          </a:prstGeom>
          <a:noFill/>
          <a:ln/>
        </p:spPr>
        <p:txBody>
          <a:bodyPr wrap="square" lIns="0" tIns="0" rIns="0" bIns="0" rtlCol="0" anchor="ctr"/>
          <a:lstStyle/>
          <a:p>
            <a:pPr marL="0" indent="0">
              <a:buNone/>
            </a:pPr>
            <a:r>
              <a:rPr lang="en-US" sz="3600" b="1" dirty="0">
                <a:solidFill>
                  <a:srgbClr val="1F2937"/>
                </a:solidFill>
                <a:latin typeface="Arial" pitchFamily="34" charset="0"/>
                <a:ea typeface="Arial" pitchFamily="34" charset="-122"/>
                <a:cs typeface="Arial" pitchFamily="34" charset="-120"/>
              </a:rPr>
              <a:t>시장은 충분히 큽니다</a:t>
            </a:r>
            <a:endParaRPr lang="en-US" sz="3600" dirty="0"/>
          </a:p>
        </p:txBody>
      </p:sp>
      <p:sp>
        <p:nvSpPr>
          <p:cNvPr id="5" name="Shape 3"/>
          <p:cNvSpPr/>
          <p:nvPr/>
        </p:nvSpPr>
        <p:spPr>
          <a:xfrm>
            <a:off x="411480" y="1170432"/>
            <a:ext cx="8321040" cy="804672"/>
          </a:xfrm>
          <a:prstGeom prst="roundRect">
            <a:avLst>
              <a:gd name="adj" fmla="val 9091"/>
            </a:avLst>
          </a:prstGeom>
          <a:solidFill>
            <a:srgbClr val="F9FAFB"/>
          </a:solidFill>
          <a:ln w="12700">
            <a:solidFill>
              <a:srgbClr val="D1D5DB"/>
            </a:solidFill>
            <a:prstDash val="solid"/>
          </a:ln>
        </p:spPr>
        <p:txBody>
          <a:bodyPr/>
          <a:lstStyle/>
          <a:p>
            <a:endParaRPr/>
          </a:p>
        </p:txBody>
      </p:sp>
      <p:sp>
        <p:nvSpPr>
          <p:cNvPr id="6" name="Text 4"/>
          <p:cNvSpPr/>
          <p:nvPr/>
        </p:nvSpPr>
        <p:spPr>
          <a:xfrm>
            <a:off x="685800" y="1175657"/>
            <a:ext cx="1097280" cy="804672"/>
          </a:xfrm>
          <a:prstGeom prst="rect">
            <a:avLst/>
          </a:prstGeom>
          <a:noFill/>
          <a:ln/>
        </p:spPr>
        <p:txBody>
          <a:bodyPr wrap="square" lIns="0" tIns="0" rIns="0" bIns="0" rtlCol="0" anchor="ctr"/>
          <a:lstStyle/>
          <a:p>
            <a:pPr marL="0" indent="0">
              <a:buNone/>
            </a:pPr>
            <a:r>
              <a:rPr lang="en-US" sz="1100" b="1" kern="0" spc="200" dirty="0">
                <a:solidFill>
                  <a:srgbClr val="1F2937"/>
                </a:solidFill>
                <a:latin typeface="Arial" pitchFamily="34" charset="0"/>
                <a:ea typeface="Arial" pitchFamily="34" charset="-122"/>
                <a:cs typeface="Arial" pitchFamily="34" charset="-120"/>
              </a:rPr>
              <a:t>TAM</a:t>
            </a:r>
            <a:endParaRPr lang="en-US" sz="1100" dirty="0"/>
          </a:p>
        </p:txBody>
      </p:sp>
      <p:sp>
        <p:nvSpPr>
          <p:cNvPr id="7" name="Text 5"/>
          <p:cNvSpPr/>
          <p:nvPr/>
        </p:nvSpPr>
        <p:spPr>
          <a:xfrm>
            <a:off x="1508760" y="1170432"/>
            <a:ext cx="3108960" cy="804672"/>
          </a:xfrm>
          <a:prstGeom prst="rect">
            <a:avLst/>
          </a:prstGeom>
          <a:noFill/>
          <a:ln/>
        </p:spPr>
        <p:txBody>
          <a:bodyPr wrap="square" lIns="0" tIns="0" rIns="0" bIns="0" rtlCol="0" anchor="ctr"/>
          <a:lstStyle/>
          <a:p>
            <a:pPr marL="0" indent="0">
              <a:buNone/>
            </a:pPr>
            <a:r>
              <a:rPr lang="en-US" sz="3800" b="1" dirty="0">
                <a:solidFill>
                  <a:srgbClr val="1F2937"/>
                </a:solidFill>
                <a:latin typeface="Arial" pitchFamily="34" charset="0"/>
                <a:ea typeface="Arial" pitchFamily="34" charset="-122"/>
                <a:cs typeface="Arial" pitchFamily="34" charset="-120"/>
              </a:rPr>
              <a:t>₩36.8조</a:t>
            </a:r>
            <a:endParaRPr lang="en-US" sz="3800" dirty="0"/>
          </a:p>
        </p:txBody>
      </p:sp>
      <p:sp>
        <p:nvSpPr>
          <p:cNvPr id="8" name="Text 6"/>
          <p:cNvSpPr/>
          <p:nvPr/>
        </p:nvSpPr>
        <p:spPr>
          <a:xfrm>
            <a:off x="4572000" y="1170432"/>
            <a:ext cx="4114800" cy="804672"/>
          </a:xfrm>
          <a:prstGeom prst="rect">
            <a:avLst/>
          </a:prstGeom>
          <a:noFill/>
          <a:ln/>
        </p:spPr>
        <p:txBody>
          <a:bodyPr wrap="square" lIns="0" tIns="0" rIns="0" bIns="0" rtlCol="0" anchor="ctr"/>
          <a:lstStyle/>
          <a:p>
            <a:pPr marL="0" indent="0">
              <a:buNone/>
            </a:pPr>
            <a:r>
              <a:rPr lang="en-US" sz="1200" dirty="0">
                <a:solidFill>
                  <a:srgbClr val="6B7280"/>
                </a:solidFill>
                <a:latin typeface="Arial" pitchFamily="34" charset="0"/>
                <a:ea typeface="Arial" pitchFamily="34" charset="-122"/>
                <a:cs typeface="Arial" pitchFamily="34" charset="-120"/>
              </a:rPr>
              <a:t>국내 여행 총 시장 (숙박+교통+식음)</a:t>
            </a:r>
            <a:endParaRPr lang="en-US" sz="1200" dirty="0"/>
          </a:p>
        </p:txBody>
      </p:sp>
      <p:sp>
        <p:nvSpPr>
          <p:cNvPr id="9" name="Shape 7"/>
          <p:cNvSpPr/>
          <p:nvPr/>
        </p:nvSpPr>
        <p:spPr>
          <a:xfrm>
            <a:off x="777240" y="2157984"/>
            <a:ext cx="7589520" cy="804672"/>
          </a:xfrm>
          <a:prstGeom prst="roundRect">
            <a:avLst>
              <a:gd name="adj" fmla="val 9091"/>
            </a:avLst>
          </a:prstGeom>
          <a:solidFill>
            <a:srgbClr val="F9FAFB"/>
          </a:solidFill>
          <a:ln w="12700">
            <a:solidFill>
              <a:srgbClr val="D1D5DB"/>
            </a:solidFill>
            <a:prstDash val="solid"/>
          </a:ln>
        </p:spPr>
        <p:txBody>
          <a:bodyPr/>
          <a:lstStyle/>
          <a:p>
            <a:endParaRPr/>
          </a:p>
        </p:txBody>
      </p:sp>
      <p:sp>
        <p:nvSpPr>
          <p:cNvPr id="10" name="Text 8"/>
          <p:cNvSpPr/>
          <p:nvPr/>
        </p:nvSpPr>
        <p:spPr>
          <a:xfrm>
            <a:off x="1051560" y="2163209"/>
            <a:ext cx="1097280" cy="804672"/>
          </a:xfrm>
          <a:prstGeom prst="rect">
            <a:avLst/>
          </a:prstGeom>
          <a:noFill/>
          <a:ln/>
        </p:spPr>
        <p:txBody>
          <a:bodyPr wrap="square" lIns="0" tIns="0" rIns="0" bIns="0" rtlCol="0" anchor="ctr"/>
          <a:lstStyle/>
          <a:p>
            <a:pPr marL="0" indent="0">
              <a:buNone/>
            </a:pPr>
            <a:r>
              <a:rPr lang="en-US" sz="1100" b="1" kern="0" spc="200" dirty="0">
                <a:solidFill>
                  <a:srgbClr val="1F2937"/>
                </a:solidFill>
                <a:latin typeface="Arial" pitchFamily="34" charset="0"/>
                <a:ea typeface="Arial" pitchFamily="34" charset="-122"/>
                <a:cs typeface="Arial" pitchFamily="34" charset="-120"/>
              </a:rPr>
              <a:t>SAM</a:t>
            </a:r>
            <a:endParaRPr lang="en-US" sz="1100" dirty="0"/>
          </a:p>
        </p:txBody>
      </p:sp>
      <p:sp>
        <p:nvSpPr>
          <p:cNvPr id="11" name="Text 9"/>
          <p:cNvSpPr/>
          <p:nvPr/>
        </p:nvSpPr>
        <p:spPr>
          <a:xfrm>
            <a:off x="1874520" y="2157984"/>
            <a:ext cx="3108960" cy="804672"/>
          </a:xfrm>
          <a:prstGeom prst="rect">
            <a:avLst/>
          </a:prstGeom>
          <a:noFill/>
          <a:ln/>
        </p:spPr>
        <p:txBody>
          <a:bodyPr wrap="square" lIns="0" tIns="0" rIns="0" bIns="0" rtlCol="0" anchor="ctr"/>
          <a:lstStyle/>
          <a:p>
            <a:pPr marL="0" indent="0">
              <a:buNone/>
            </a:pPr>
            <a:r>
              <a:rPr lang="en-US" sz="3800" b="1" dirty="0">
                <a:solidFill>
                  <a:srgbClr val="1F2937"/>
                </a:solidFill>
                <a:latin typeface="Arial" pitchFamily="34" charset="0"/>
                <a:ea typeface="Arial" pitchFamily="34" charset="-122"/>
                <a:cs typeface="Arial" pitchFamily="34" charset="-120"/>
              </a:rPr>
              <a:t>₩5조</a:t>
            </a:r>
            <a:endParaRPr lang="en-US" sz="3800" dirty="0"/>
          </a:p>
        </p:txBody>
      </p:sp>
      <p:sp>
        <p:nvSpPr>
          <p:cNvPr id="12" name="Text 10"/>
          <p:cNvSpPr/>
          <p:nvPr/>
        </p:nvSpPr>
        <p:spPr>
          <a:xfrm>
            <a:off x="4937760" y="2157984"/>
            <a:ext cx="3383280" cy="804672"/>
          </a:xfrm>
          <a:prstGeom prst="rect">
            <a:avLst/>
          </a:prstGeom>
          <a:noFill/>
          <a:ln/>
        </p:spPr>
        <p:txBody>
          <a:bodyPr wrap="square" lIns="0" tIns="0" rIns="0" bIns="0" rtlCol="0" anchor="ctr"/>
          <a:lstStyle/>
          <a:p>
            <a:pPr marL="0" indent="0">
              <a:buNone/>
            </a:pPr>
            <a:r>
              <a:rPr lang="en-US" sz="1200" dirty="0">
                <a:solidFill>
                  <a:srgbClr val="6B7280"/>
                </a:solidFill>
                <a:latin typeface="Arial" pitchFamily="34" charset="0"/>
                <a:ea typeface="Arial" pitchFamily="34" charset="-122"/>
                <a:cs typeface="Arial" pitchFamily="34" charset="-120"/>
              </a:rPr>
              <a:t>1인 여행·데모 모드 시장</a:t>
            </a:r>
            <a:endParaRPr lang="en-US" sz="1200" dirty="0"/>
          </a:p>
        </p:txBody>
      </p:sp>
      <p:sp>
        <p:nvSpPr>
          <p:cNvPr id="13" name="Shape 11"/>
          <p:cNvSpPr/>
          <p:nvPr/>
        </p:nvSpPr>
        <p:spPr>
          <a:xfrm>
            <a:off x="1143000" y="3145536"/>
            <a:ext cx="6858000" cy="804672"/>
          </a:xfrm>
          <a:prstGeom prst="roundRect">
            <a:avLst>
              <a:gd name="adj" fmla="val 9091"/>
            </a:avLst>
          </a:prstGeom>
          <a:solidFill>
            <a:srgbClr val="E9F8F2"/>
          </a:solidFill>
          <a:ln w="19050">
            <a:solidFill>
              <a:srgbClr val="03B083"/>
            </a:solidFill>
            <a:prstDash val="solid"/>
          </a:ln>
        </p:spPr>
        <p:txBody>
          <a:bodyPr/>
          <a:lstStyle/>
          <a:p>
            <a:endParaRPr/>
          </a:p>
        </p:txBody>
      </p:sp>
      <p:sp>
        <p:nvSpPr>
          <p:cNvPr id="14" name="Text 12"/>
          <p:cNvSpPr/>
          <p:nvPr/>
        </p:nvSpPr>
        <p:spPr>
          <a:xfrm>
            <a:off x="1417320" y="3150761"/>
            <a:ext cx="1097280" cy="804672"/>
          </a:xfrm>
          <a:prstGeom prst="rect">
            <a:avLst/>
          </a:prstGeom>
          <a:noFill/>
          <a:ln/>
        </p:spPr>
        <p:txBody>
          <a:bodyPr wrap="square" lIns="0" tIns="0" rIns="0" bIns="0" rtlCol="0" anchor="ctr"/>
          <a:lstStyle/>
          <a:p>
            <a:pPr marL="0" indent="0">
              <a:buNone/>
            </a:pPr>
            <a:r>
              <a:rPr lang="en-US" sz="1100" b="1" kern="0" spc="200" dirty="0">
                <a:solidFill>
                  <a:srgbClr val="03B083"/>
                </a:solidFill>
                <a:latin typeface="Arial" pitchFamily="34" charset="0"/>
                <a:ea typeface="Arial" pitchFamily="34" charset="-122"/>
                <a:cs typeface="Arial" pitchFamily="34" charset="-120"/>
              </a:rPr>
              <a:t>SOM</a:t>
            </a:r>
            <a:endParaRPr lang="en-US" sz="1100" dirty="0"/>
          </a:p>
        </p:txBody>
      </p:sp>
      <p:sp>
        <p:nvSpPr>
          <p:cNvPr id="15" name="Text 13"/>
          <p:cNvSpPr/>
          <p:nvPr/>
        </p:nvSpPr>
        <p:spPr>
          <a:xfrm>
            <a:off x="2240280" y="3145536"/>
            <a:ext cx="3108960" cy="804672"/>
          </a:xfrm>
          <a:prstGeom prst="rect">
            <a:avLst/>
          </a:prstGeom>
          <a:noFill/>
          <a:ln/>
        </p:spPr>
        <p:txBody>
          <a:bodyPr wrap="square" lIns="0" tIns="0" rIns="0" bIns="0" rtlCol="0" anchor="ctr"/>
          <a:lstStyle/>
          <a:p>
            <a:pPr marL="0" indent="0">
              <a:buNone/>
            </a:pPr>
            <a:r>
              <a:rPr lang="en-US" sz="3800" b="1" dirty="0">
                <a:solidFill>
                  <a:srgbClr val="03B083"/>
                </a:solidFill>
                <a:latin typeface="Arial" pitchFamily="34" charset="0"/>
                <a:ea typeface="Arial" pitchFamily="34" charset="-122"/>
                <a:cs typeface="Arial" pitchFamily="34" charset="-120"/>
              </a:rPr>
              <a:t>₩1,500억</a:t>
            </a:r>
            <a:endParaRPr lang="en-US" sz="3800" dirty="0"/>
          </a:p>
        </p:txBody>
      </p:sp>
      <p:sp>
        <p:nvSpPr>
          <p:cNvPr id="16" name="Text 14"/>
          <p:cNvSpPr/>
          <p:nvPr/>
        </p:nvSpPr>
        <p:spPr>
          <a:xfrm>
            <a:off x="5303520" y="3145536"/>
            <a:ext cx="2651760" cy="804672"/>
          </a:xfrm>
          <a:prstGeom prst="rect">
            <a:avLst/>
          </a:prstGeom>
          <a:noFill/>
          <a:ln/>
        </p:spPr>
        <p:txBody>
          <a:bodyPr wrap="square" lIns="0" tIns="0" rIns="0" bIns="0" rtlCol="0" anchor="ctr"/>
          <a:lstStyle/>
          <a:p>
            <a:pPr marL="0" indent="0">
              <a:buNone/>
            </a:pPr>
            <a:r>
              <a:rPr lang="en-US" sz="1200" dirty="0">
                <a:solidFill>
                  <a:srgbClr val="6B7280"/>
                </a:solidFill>
                <a:latin typeface="Arial" pitchFamily="34" charset="0"/>
                <a:ea typeface="Arial" pitchFamily="34" charset="-122"/>
                <a:cs typeface="Arial" pitchFamily="34" charset="-120"/>
              </a:rPr>
              <a:t>3년 목표 → 연매출 200억</a:t>
            </a:r>
            <a:endParaRPr lang="en-US" sz="1200" dirty="0"/>
          </a:p>
        </p:txBody>
      </p:sp>
      <p:sp>
        <p:nvSpPr>
          <p:cNvPr id="17" name="Shape 15"/>
          <p:cNvSpPr/>
          <p:nvPr/>
        </p:nvSpPr>
        <p:spPr>
          <a:xfrm>
            <a:off x="411480" y="4206240"/>
            <a:ext cx="8321040" cy="621792"/>
          </a:xfrm>
          <a:prstGeom prst="roundRect">
            <a:avLst>
              <a:gd name="adj" fmla="val 8824"/>
            </a:avLst>
          </a:prstGeom>
          <a:solidFill>
            <a:srgbClr val="F9FAFB"/>
          </a:solidFill>
          <a:ln w="12700">
            <a:solidFill>
              <a:srgbClr val="D1D5DB"/>
            </a:solidFill>
            <a:prstDash val="solid"/>
          </a:ln>
        </p:spPr>
        <p:txBody>
          <a:bodyPr/>
          <a:lstStyle/>
          <a:p>
            <a:endParaRPr/>
          </a:p>
        </p:txBody>
      </p:sp>
      <p:sp>
        <p:nvSpPr>
          <p:cNvPr id="18" name="Text 16"/>
          <p:cNvSpPr/>
          <p:nvPr/>
        </p:nvSpPr>
        <p:spPr>
          <a:xfrm>
            <a:off x="411480" y="4206240"/>
            <a:ext cx="8321040" cy="621792"/>
          </a:xfrm>
          <a:prstGeom prst="rect">
            <a:avLst/>
          </a:prstGeom>
          <a:noFill/>
          <a:ln/>
        </p:spPr>
        <p:txBody>
          <a:bodyPr wrap="square" lIns="0" tIns="0" rIns="0" bIns="0" rtlCol="0" anchor="ctr"/>
          <a:lstStyle/>
          <a:p>
            <a:pPr marL="0" indent="0" algn="ctr">
              <a:buNone/>
            </a:pPr>
            <a:r>
              <a:rPr lang="en-US" sz="1150" dirty="0">
                <a:solidFill>
                  <a:srgbClr val="6B7280"/>
                </a:solidFill>
                <a:latin typeface="Arial" pitchFamily="34" charset="0"/>
                <a:ea typeface="Arial" pitchFamily="34" charset="-122"/>
                <a:cs typeface="Arial" pitchFamily="34" charset="-120"/>
              </a:rPr>
              <a:t>데모 모드 여행 시장  CAGR 24.5%  ·  $52.3B (2024) → $466.6B (2034)   (Polaris Market Research)</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name="Slide 7">
    <p:bg>
      <p:bgPr>
        <a:solidFill>
          <a:srgbClr val="FFFFFF"/>
        </a:solidFill>
        <a:effectLst/>
      </p:bgPr>
    </p:bg>
    <p:spTree>
      <p:nvGrpSpPr>
        <p:cNvPr id="1" name=""/>
        <p:cNvGrpSpPr/>
        <p:nvPr/>
      </p:nvGrpSpPr>
      <p:grpSpPr>
        <a:xfrm>
          <a:off x="0" y="0"/>
          <a:ext cx="0" cy="0"/>
          <a:chOff x="0" y="0"/>
          <a:chExt cx="0" cy="0"/>
        </a:xfrm>
      </p:grpSpPr>
      <p:sp>
        <p:nvSpPr>
          <p:cNvPr id="4" name="Shape 2"/>
          <p:cNvSpPr/>
          <p:nvPr/>
        </p:nvSpPr>
        <p:spPr>
          <a:xfrm>
            <a:off x="393192" y="822960"/>
            <a:ext cx="2705318" cy="128016"/>
          </a:xfrm>
          <a:prstGeom prst="rect">
            <a:avLst/>
          </a:prstGeom>
          <a:solidFill>
            <a:srgbClr val="03B083">
              <a:alpha val="45000"/>
            </a:srgbClr>
          </a:solidFill>
          <a:ln w="12700">
            <a:noFill/>
            <a:prstDash val="solid"/>
          </a:ln>
        </p:spPr>
      </p:sp>
      <p:sp>
        <p:nvSpPr>
          <p:cNvPr id="3" name="Text 1"/>
          <p:cNvSpPr/>
          <p:nvPr/>
        </p:nvSpPr>
        <p:spPr>
          <a:xfrm>
            <a:off x="411480" y="384048"/>
            <a:ext cx="8321040" cy="566928"/>
          </a:xfrm>
          <a:prstGeom prst="rect">
            <a:avLst/>
          </a:prstGeom>
          <a:noFill/>
          <a:ln/>
        </p:spPr>
        <p:txBody>
          <a:bodyPr wrap="square" lIns="0" tIns="0" rIns="0" bIns="0" rtlCol="0" anchor="ctr"/>
          <a:lstStyle/>
          <a:p>
            <a:pPr marL="0" indent="0">
              <a:buNone/>
            </a:pPr>
            <a:r>
              <a:rPr lang="en-US" sz="3600" b="1" dirty="0">
                <a:solidFill>
                  <a:srgbClr val="1F2937"/>
                </a:solidFill>
                <a:latin typeface="Arial" pitchFamily="34" charset="0"/>
                <a:ea typeface="Arial" pitchFamily="34" charset="-122"/>
                <a:cs typeface="Arial" pitchFamily="34" charset="-120"/>
              </a:rPr>
              <a:t>3가지 수익 구조</a:t>
            </a:r>
            <a:endParaRPr lang="en-US" sz="3600" dirty="0"/>
          </a:p>
        </p:txBody>
      </p:sp>
      <p:sp>
        <p:nvSpPr>
          <p:cNvPr id="5" name="Shape 3"/>
          <p:cNvSpPr/>
          <p:nvPr/>
        </p:nvSpPr>
        <p:spPr>
          <a:xfrm>
            <a:off x="411480" y="1115568"/>
            <a:ext cx="2761488" cy="3611880"/>
          </a:xfrm>
          <a:prstGeom prst="roundRect">
            <a:avLst>
              <a:gd name="adj" fmla="val 3974"/>
            </a:avLst>
          </a:prstGeom>
          <a:solidFill>
            <a:srgbClr val="E9F8F2"/>
          </a:solidFill>
          <a:ln w="19050">
            <a:solidFill>
              <a:srgbClr val="03B083"/>
            </a:solidFill>
            <a:prstDash val="solid"/>
          </a:ln>
        </p:spPr>
      </p:sp>
      <p:sp>
        <p:nvSpPr>
          <p:cNvPr id="6" name="Text 4"/>
          <p:cNvSpPr/>
          <p:nvPr/>
        </p:nvSpPr>
        <p:spPr>
          <a:xfrm>
            <a:off x="411480" y="1389888"/>
            <a:ext cx="2761488" cy="685800"/>
          </a:xfrm>
          <a:prstGeom prst="rect">
            <a:avLst/>
          </a:prstGeom>
          <a:noFill/>
          <a:ln/>
        </p:spPr>
        <p:txBody>
          <a:bodyPr wrap="square" lIns="0" tIns="0" rIns="0" bIns="0" rtlCol="0" anchor="ctr"/>
          <a:lstStyle/>
          <a:p>
            <a:pPr marL="0" indent="0" algn="ctr">
              <a:buNone/>
            </a:pPr>
            <a:r>
              <a:rPr lang="en-US" sz="3600" dirty="0">
                <a:solidFill>
                  <a:srgbClr val="000000"/>
                </a:solidFill>
                <a:latin typeface="Toss Face Font Mac" pitchFamily="2" charset="0"/>
                <a:ea typeface="Toss Face Font Mac" pitchFamily="2" charset="0"/>
                <a:cs typeface="Arial" pitchFamily="34" charset="-120"/>
              </a:rPr>
              <a:t>🔗</a:t>
            </a:r>
            <a:endParaRPr lang="en-US" sz="3600" dirty="0">
              <a:latin typeface="Toss Face Font Mac" pitchFamily="2" charset="0"/>
              <a:ea typeface="Toss Face Font Mac" pitchFamily="2" charset="0"/>
            </a:endParaRPr>
          </a:p>
        </p:txBody>
      </p:sp>
      <p:sp>
        <p:nvSpPr>
          <p:cNvPr id="7" name="Text 5"/>
          <p:cNvSpPr/>
          <p:nvPr/>
        </p:nvSpPr>
        <p:spPr>
          <a:xfrm>
            <a:off x="411480" y="2176272"/>
            <a:ext cx="2761488" cy="685800"/>
          </a:xfrm>
          <a:prstGeom prst="rect">
            <a:avLst/>
          </a:prstGeom>
          <a:noFill/>
          <a:ln/>
        </p:spPr>
        <p:txBody>
          <a:bodyPr wrap="square" lIns="0" tIns="0" rIns="0" bIns="0" rtlCol="0" anchor="ctr"/>
          <a:lstStyle/>
          <a:p>
            <a:pPr marL="0" indent="0" algn="ctr">
              <a:buNone/>
            </a:pPr>
            <a:r>
              <a:rPr lang="en-US" sz="3600" b="1" dirty="0">
                <a:solidFill>
                  <a:srgbClr val="03B083"/>
                </a:solidFill>
                <a:latin typeface="Arial" pitchFamily="34" charset="0"/>
                <a:ea typeface="Arial" pitchFamily="34" charset="-122"/>
                <a:cs typeface="Arial" pitchFamily="34" charset="-120"/>
              </a:rPr>
              <a:t>12%</a:t>
            </a:r>
            <a:endParaRPr lang="en-US" sz="3600" dirty="0"/>
          </a:p>
        </p:txBody>
      </p:sp>
      <p:sp>
        <p:nvSpPr>
          <p:cNvPr id="8" name="Text 6"/>
          <p:cNvSpPr/>
          <p:nvPr/>
        </p:nvSpPr>
        <p:spPr>
          <a:xfrm>
            <a:off x="411480" y="2926080"/>
            <a:ext cx="2761488" cy="347472"/>
          </a:xfrm>
          <a:prstGeom prst="rect">
            <a:avLst/>
          </a:prstGeom>
          <a:noFill/>
          <a:ln/>
        </p:spPr>
        <p:txBody>
          <a:bodyPr wrap="square" lIns="0" tIns="0" rIns="0" bIns="0" rtlCol="0" anchor="ctr"/>
          <a:lstStyle/>
          <a:p>
            <a:pPr marL="0" indent="0" algn="ctr">
              <a:buNone/>
            </a:pPr>
            <a:r>
              <a:rPr lang="en-US" sz="1400" b="1" dirty="0">
                <a:solidFill>
                  <a:srgbClr val="1F2937"/>
                </a:solidFill>
                <a:latin typeface="Arial" pitchFamily="34" charset="0"/>
                <a:ea typeface="Arial" pitchFamily="34" charset="-122"/>
                <a:cs typeface="Arial" pitchFamily="34" charset="-120"/>
              </a:rPr>
              <a:t>예약 수수료</a:t>
            </a:r>
            <a:endParaRPr lang="en-US" sz="1400" dirty="0"/>
          </a:p>
        </p:txBody>
      </p:sp>
      <p:sp>
        <p:nvSpPr>
          <p:cNvPr id="9" name="Shape 7"/>
          <p:cNvSpPr/>
          <p:nvPr/>
        </p:nvSpPr>
        <p:spPr>
          <a:xfrm>
            <a:off x="685800" y="3310128"/>
            <a:ext cx="2212848" cy="0"/>
          </a:xfrm>
          <a:prstGeom prst="line">
            <a:avLst/>
          </a:prstGeom>
          <a:noFill/>
          <a:ln w="12700">
            <a:solidFill>
              <a:srgbClr val="D1D5DB"/>
            </a:solidFill>
            <a:prstDash val="solid"/>
          </a:ln>
        </p:spPr>
      </p:sp>
      <p:sp>
        <p:nvSpPr>
          <p:cNvPr id="10" name="Text 8"/>
          <p:cNvSpPr/>
          <p:nvPr/>
        </p:nvSpPr>
        <p:spPr>
          <a:xfrm>
            <a:off x="411480" y="3401568"/>
            <a:ext cx="2761488" cy="713232"/>
          </a:xfrm>
          <a:prstGeom prst="rect">
            <a:avLst/>
          </a:prstGeom>
          <a:noFill/>
          <a:ln/>
        </p:spPr>
        <p:txBody>
          <a:bodyPr wrap="square" lIns="0" tIns="0" rIns="0" bIns="0" rtlCol="0" anchor="ctr"/>
          <a:lstStyle/>
          <a:p>
            <a:pPr marL="0" indent="0" algn="ctr">
              <a:buNone/>
            </a:pPr>
            <a:r>
              <a:rPr lang="en-US" sz="1100" dirty="0">
                <a:solidFill>
                  <a:srgbClr val="6B7280"/>
                </a:solidFill>
                <a:latin typeface="Arial" pitchFamily="34" charset="0"/>
                <a:ea typeface="Arial" pitchFamily="34" charset="-122"/>
                <a:cs typeface="Arial" pitchFamily="34" charset="-120"/>
              </a:rPr>
              <a:t>식당·숙소·체험</a:t>
            </a:r>
            <a:endParaRPr lang="en-US" sz="1100" dirty="0"/>
          </a:p>
          <a:p>
            <a:pPr marL="0" indent="0" algn="ctr">
              <a:buNone/>
            </a:pPr>
            <a:r>
              <a:rPr lang="en-US" sz="1100" dirty="0">
                <a:solidFill>
                  <a:srgbClr val="6B7280"/>
                </a:solidFill>
                <a:latin typeface="Arial" pitchFamily="34" charset="0"/>
                <a:ea typeface="Arial" pitchFamily="34" charset="-122"/>
                <a:cs typeface="Arial" pitchFamily="34" charset="-120"/>
              </a:rPr>
              <a:t>예약 건당 정률 수수료</a:t>
            </a:r>
            <a:endParaRPr lang="en-US" sz="1100" dirty="0"/>
          </a:p>
        </p:txBody>
      </p:sp>
      <p:sp>
        <p:nvSpPr>
          <p:cNvPr id="11" name="Shape 9"/>
          <p:cNvSpPr/>
          <p:nvPr/>
        </p:nvSpPr>
        <p:spPr>
          <a:xfrm>
            <a:off x="3310128" y="1115568"/>
            <a:ext cx="2761488" cy="3611880"/>
          </a:xfrm>
          <a:prstGeom prst="roundRect">
            <a:avLst>
              <a:gd name="adj" fmla="val 3974"/>
            </a:avLst>
          </a:prstGeom>
          <a:solidFill>
            <a:srgbClr val="F9FAFB"/>
          </a:solidFill>
          <a:ln w="12700">
            <a:solidFill>
              <a:srgbClr val="D1D5DB"/>
            </a:solidFill>
            <a:prstDash val="solid"/>
          </a:ln>
        </p:spPr>
        <p:txBody>
          <a:bodyPr/>
          <a:lstStyle/>
          <a:p>
            <a:endParaRPr lang="ko-Kore-KR" altLang="en-US" dirty="0"/>
          </a:p>
        </p:txBody>
      </p:sp>
      <p:sp>
        <p:nvSpPr>
          <p:cNvPr id="12" name="Text 10"/>
          <p:cNvSpPr/>
          <p:nvPr/>
        </p:nvSpPr>
        <p:spPr>
          <a:xfrm>
            <a:off x="3310128" y="1389888"/>
            <a:ext cx="2761488" cy="685800"/>
          </a:xfrm>
          <a:prstGeom prst="rect">
            <a:avLst/>
          </a:prstGeom>
          <a:noFill/>
          <a:ln/>
        </p:spPr>
        <p:txBody>
          <a:bodyPr wrap="square" lIns="0" tIns="0" rIns="0" bIns="0" rtlCol="0" anchor="ctr"/>
          <a:lstStyle/>
          <a:p>
            <a:pPr marL="0" indent="0" algn="ctr">
              <a:buNone/>
            </a:pPr>
            <a:r>
              <a:rPr lang="en-US" sz="3600" dirty="0">
                <a:solidFill>
                  <a:srgbClr val="000000"/>
                </a:solidFill>
                <a:latin typeface="Toss Face Font Mac" pitchFamily="2" charset="0"/>
                <a:ea typeface="Toss Face Font Mac" pitchFamily="2" charset="0"/>
                <a:cs typeface="Arial" pitchFamily="34" charset="-120"/>
              </a:rPr>
              <a:t>⭐</a:t>
            </a:r>
            <a:endParaRPr lang="en-US" sz="3600" dirty="0">
              <a:latin typeface="Toss Face Font Mac" pitchFamily="2" charset="0"/>
              <a:ea typeface="Toss Face Font Mac" pitchFamily="2" charset="0"/>
            </a:endParaRPr>
          </a:p>
        </p:txBody>
      </p:sp>
      <p:sp>
        <p:nvSpPr>
          <p:cNvPr id="13" name="Text 11"/>
          <p:cNvSpPr/>
          <p:nvPr/>
        </p:nvSpPr>
        <p:spPr>
          <a:xfrm>
            <a:off x="3310128" y="2176272"/>
            <a:ext cx="2761488" cy="685800"/>
          </a:xfrm>
          <a:prstGeom prst="rect">
            <a:avLst/>
          </a:prstGeom>
          <a:noFill/>
          <a:ln/>
        </p:spPr>
        <p:txBody>
          <a:bodyPr wrap="square" lIns="0" tIns="0" rIns="0" bIns="0" rtlCol="0" anchor="ctr"/>
          <a:lstStyle/>
          <a:p>
            <a:pPr marL="0" indent="0" algn="ctr">
              <a:buNone/>
            </a:pPr>
            <a:r>
              <a:rPr lang="en-US" sz="3600" b="1" dirty="0">
                <a:solidFill>
                  <a:srgbClr val="1F2937"/>
                </a:solidFill>
                <a:latin typeface="Arial" pitchFamily="34" charset="0"/>
                <a:ea typeface="Arial" pitchFamily="34" charset="-122"/>
                <a:cs typeface="Arial" pitchFamily="34" charset="-120"/>
              </a:rPr>
              <a:t>₩9,900</a:t>
            </a:r>
            <a:endParaRPr lang="en-US" sz="3600" dirty="0"/>
          </a:p>
        </p:txBody>
      </p:sp>
      <p:sp>
        <p:nvSpPr>
          <p:cNvPr id="14" name="Text 12"/>
          <p:cNvSpPr/>
          <p:nvPr/>
        </p:nvSpPr>
        <p:spPr>
          <a:xfrm>
            <a:off x="3310128" y="2926080"/>
            <a:ext cx="2761488" cy="347472"/>
          </a:xfrm>
          <a:prstGeom prst="rect">
            <a:avLst/>
          </a:prstGeom>
          <a:noFill/>
          <a:ln/>
        </p:spPr>
        <p:txBody>
          <a:bodyPr wrap="square" lIns="0" tIns="0" rIns="0" bIns="0" rtlCol="0" anchor="ctr"/>
          <a:lstStyle/>
          <a:p>
            <a:pPr marL="0" indent="0" algn="ctr">
              <a:buNone/>
            </a:pPr>
            <a:r>
              <a:rPr lang="en-US" sz="1400" b="1" dirty="0">
                <a:solidFill>
                  <a:srgbClr val="1F2937"/>
                </a:solidFill>
                <a:latin typeface="Arial" pitchFamily="34" charset="0"/>
                <a:ea typeface="Arial" pitchFamily="34" charset="-122"/>
                <a:cs typeface="Arial" pitchFamily="34" charset="-120"/>
              </a:rPr>
              <a:t>프리미엄 구독</a:t>
            </a:r>
            <a:endParaRPr lang="en-US" sz="1400" dirty="0"/>
          </a:p>
        </p:txBody>
      </p:sp>
      <p:sp>
        <p:nvSpPr>
          <p:cNvPr id="15" name="Shape 13"/>
          <p:cNvSpPr/>
          <p:nvPr/>
        </p:nvSpPr>
        <p:spPr>
          <a:xfrm>
            <a:off x="3584448" y="3310128"/>
            <a:ext cx="2212848" cy="0"/>
          </a:xfrm>
          <a:prstGeom prst="line">
            <a:avLst/>
          </a:prstGeom>
          <a:noFill/>
          <a:ln w="12700">
            <a:solidFill>
              <a:srgbClr val="D1D5DB"/>
            </a:solidFill>
            <a:prstDash val="solid"/>
          </a:ln>
        </p:spPr>
      </p:sp>
      <p:sp>
        <p:nvSpPr>
          <p:cNvPr id="16" name="Text 14"/>
          <p:cNvSpPr/>
          <p:nvPr/>
        </p:nvSpPr>
        <p:spPr>
          <a:xfrm>
            <a:off x="3310128" y="3401568"/>
            <a:ext cx="2761488" cy="713232"/>
          </a:xfrm>
          <a:prstGeom prst="rect">
            <a:avLst/>
          </a:prstGeom>
          <a:noFill/>
          <a:ln/>
        </p:spPr>
        <p:txBody>
          <a:bodyPr wrap="square" lIns="0" tIns="0" rIns="0" bIns="0" rtlCol="0" anchor="ctr"/>
          <a:lstStyle/>
          <a:p>
            <a:pPr marL="0" indent="0" algn="ctr">
              <a:buNone/>
            </a:pPr>
            <a:r>
              <a:rPr lang="en-US" sz="1100" dirty="0">
                <a:solidFill>
                  <a:srgbClr val="6B7280"/>
                </a:solidFill>
                <a:latin typeface="Arial" pitchFamily="34" charset="0"/>
                <a:ea typeface="Arial" pitchFamily="34" charset="-122"/>
                <a:cs typeface="Arial" pitchFamily="34" charset="-120"/>
              </a:rPr>
              <a:t>월정액</a:t>
            </a:r>
            <a:endParaRPr lang="en-US" sz="1100" dirty="0"/>
          </a:p>
          <a:p>
            <a:pPr marL="0" indent="0" algn="ctr">
              <a:buNone/>
            </a:pPr>
            <a:r>
              <a:rPr lang="en-US" sz="1100" dirty="0">
                <a:solidFill>
                  <a:srgbClr val="6B7280"/>
                </a:solidFill>
                <a:latin typeface="Arial" pitchFamily="34" charset="0"/>
                <a:ea typeface="Arial" pitchFamily="34" charset="-122"/>
                <a:cs typeface="Arial" pitchFamily="34" charset="-120"/>
              </a:rPr>
              <a:t>큐레이션 우선·디톡스 리포트</a:t>
            </a:r>
            <a:endParaRPr lang="en-US" sz="1100" dirty="0"/>
          </a:p>
        </p:txBody>
      </p:sp>
      <p:sp>
        <p:nvSpPr>
          <p:cNvPr id="17" name="Shape 15"/>
          <p:cNvSpPr/>
          <p:nvPr/>
        </p:nvSpPr>
        <p:spPr>
          <a:xfrm>
            <a:off x="6208776" y="1115568"/>
            <a:ext cx="2761488" cy="3611880"/>
          </a:xfrm>
          <a:prstGeom prst="roundRect">
            <a:avLst>
              <a:gd name="adj" fmla="val 3974"/>
            </a:avLst>
          </a:prstGeom>
          <a:solidFill>
            <a:srgbClr val="F9FAFB"/>
          </a:solidFill>
          <a:ln w="12700">
            <a:solidFill>
              <a:srgbClr val="D1D5DB"/>
            </a:solidFill>
            <a:prstDash val="solid"/>
          </a:ln>
        </p:spPr>
      </p:sp>
      <p:sp>
        <p:nvSpPr>
          <p:cNvPr id="18" name="Text 16"/>
          <p:cNvSpPr/>
          <p:nvPr/>
        </p:nvSpPr>
        <p:spPr>
          <a:xfrm>
            <a:off x="6208776" y="1389888"/>
            <a:ext cx="2761488" cy="685800"/>
          </a:xfrm>
          <a:prstGeom prst="rect">
            <a:avLst/>
          </a:prstGeom>
          <a:noFill/>
          <a:ln/>
        </p:spPr>
        <p:txBody>
          <a:bodyPr wrap="square" lIns="0" tIns="0" rIns="0" bIns="0" rtlCol="0" anchor="ctr"/>
          <a:lstStyle/>
          <a:p>
            <a:pPr marL="0" indent="0" algn="ctr">
              <a:buNone/>
            </a:pPr>
            <a:r>
              <a:rPr lang="en-US" sz="3600" dirty="0">
                <a:solidFill>
                  <a:srgbClr val="000000"/>
                </a:solidFill>
                <a:latin typeface="Toss Face Font Mac" pitchFamily="2" charset="0"/>
                <a:ea typeface="Toss Face Font Mac" pitchFamily="2" charset="0"/>
                <a:cs typeface="Arial" pitchFamily="34" charset="-120"/>
              </a:rPr>
              <a:t>🏛️</a:t>
            </a:r>
            <a:endParaRPr lang="en-US" sz="3600" dirty="0">
              <a:latin typeface="Toss Face Font Mac" pitchFamily="2" charset="0"/>
              <a:ea typeface="Toss Face Font Mac" pitchFamily="2" charset="0"/>
            </a:endParaRPr>
          </a:p>
        </p:txBody>
      </p:sp>
      <p:sp>
        <p:nvSpPr>
          <p:cNvPr id="19" name="Text 17"/>
          <p:cNvSpPr/>
          <p:nvPr/>
        </p:nvSpPr>
        <p:spPr>
          <a:xfrm>
            <a:off x="6208776" y="2176272"/>
            <a:ext cx="2761488" cy="685800"/>
          </a:xfrm>
          <a:prstGeom prst="rect">
            <a:avLst/>
          </a:prstGeom>
          <a:noFill/>
          <a:ln/>
        </p:spPr>
        <p:txBody>
          <a:bodyPr wrap="square" lIns="0" tIns="0" rIns="0" bIns="0" rtlCol="0" anchor="ctr"/>
          <a:lstStyle/>
          <a:p>
            <a:pPr marL="0" indent="0" algn="ctr">
              <a:buNone/>
            </a:pPr>
            <a:r>
              <a:rPr lang="en-US" sz="3600" b="1" dirty="0">
                <a:solidFill>
                  <a:srgbClr val="1F2937"/>
                </a:solidFill>
                <a:latin typeface="Arial" pitchFamily="34" charset="0"/>
                <a:ea typeface="Arial" pitchFamily="34" charset="-122"/>
                <a:cs typeface="Arial" pitchFamily="34" charset="-120"/>
              </a:rPr>
              <a:t>B2G</a:t>
            </a:r>
            <a:endParaRPr lang="en-US" sz="3600" dirty="0"/>
          </a:p>
        </p:txBody>
      </p:sp>
      <p:sp>
        <p:nvSpPr>
          <p:cNvPr id="20" name="Text 18"/>
          <p:cNvSpPr/>
          <p:nvPr/>
        </p:nvSpPr>
        <p:spPr>
          <a:xfrm>
            <a:off x="6208776" y="2926080"/>
            <a:ext cx="2761488" cy="347472"/>
          </a:xfrm>
          <a:prstGeom prst="rect">
            <a:avLst/>
          </a:prstGeom>
          <a:noFill/>
          <a:ln/>
        </p:spPr>
        <p:txBody>
          <a:bodyPr wrap="square" lIns="0" tIns="0" rIns="0" bIns="0" rtlCol="0" anchor="ctr"/>
          <a:lstStyle/>
          <a:p>
            <a:pPr marL="0" indent="0" algn="ctr">
              <a:buNone/>
            </a:pPr>
            <a:r>
              <a:rPr lang="en-US" sz="1400" b="1" dirty="0">
                <a:solidFill>
                  <a:srgbClr val="1F2937"/>
                </a:solidFill>
                <a:latin typeface="Arial" pitchFamily="34" charset="0"/>
                <a:ea typeface="Arial" pitchFamily="34" charset="-122"/>
                <a:cs typeface="Arial" pitchFamily="34" charset="-120"/>
              </a:rPr>
              <a:t>데이터 제공</a:t>
            </a:r>
            <a:endParaRPr lang="en-US" sz="1400" dirty="0"/>
          </a:p>
        </p:txBody>
      </p:sp>
      <p:sp>
        <p:nvSpPr>
          <p:cNvPr id="21" name="Shape 19"/>
          <p:cNvSpPr/>
          <p:nvPr/>
        </p:nvSpPr>
        <p:spPr>
          <a:xfrm>
            <a:off x="6483096" y="3310128"/>
            <a:ext cx="2212848" cy="0"/>
          </a:xfrm>
          <a:prstGeom prst="line">
            <a:avLst/>
          </a:prstGeom>
          <a:noFill/>
          <a:ln w="12700">
            <a:solidFill>
              <a:srgbClr val="D1D5DB"/>
            </a:solidFill>
            <a:prstDash val="solid"/>
          </a:ln>
        </p:spPr>
      </p:sp>
      <p:sp>
        <p:nvSpPr>
          <p:cNvPr id="22" name="Text 20"/>
          <p:cNvSpPr/>
          <p:nvPr/>
        </p:nvSpPr>
        <p:spPr>
          <a:xfrm>
            <a:off x="6208776" y="3401568"/>
            <a:ext cx="2761488" cy="713232"/>
          </a:xfrm>
          <a:prstGeom prst="rect">
            <a:avLst/>
          </a:prstGeom>
          <a:noFill/>
          <a:ln/>
        </p:spPr>
        <p:txBody>
          <a:bodyPr wrap="square" lIns="0" tIns="0" rIns="0" bIns="0" rtlCol="0" anchor="ctr"/>
          <a:lstStyle/>
          <a:p>
            <a:pPr marL="0" indent="0" algn="ctr">
              <a:buNone/>
            </a:pPr>
            <a:r>
              <a:rPr lang="en-US" sz="1100" dirty="0">
                <a:solidFill>
                  <a:srgbClr val="6B7280"/>
                </a:solidFill>
                <a:latin typeface="Arial" pitchFamily="34" charset="0"/>
                <a:ea typeface="Arial" pitchFamily="34" charset="-122"/>
                <a:cs typeface="Arial" pitchFamily="34" charset="-120"/>
              </a:rPr>
              <a:t>지자체·관광공사</a:t>
            </a:r>
            <a:endParaRPr lang="en-US" sz="1100" dirty="0"/>
          </a:p>
          <a:p>
            <a:pPr marL="0" indent="0" algn="ctr">
              <a:buNone/>
            </a:pPr>
            <a:r>
              <a:rPr lang="en-US" sz="1100" dirty="0">
                <a:solidFill>
                  <a:srgbClr val="6B7280"/>
                </a:solidFill>
                <a:latin typeface="Arial" pitchFamily="34" charset="0"/>
                <a:ea typeface="Arial" pitchFamily="34" charset="-122"/>
                <a:cs typeface="Arial" pitchFamily="34" charset="-120"/>
              </a:rPr>
              <a:t>여행 패턴 분석 리포트</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Shape 2"/>
          <p:cNvSpPr/>
          <p:nvPr/>
        </p:nvSpPr>
        <p:spPr>
          <a:xfrm>
            <a:off x="393192" y="758952"/>
            <a:ext cx="3108960" cy="128016"/>
          </a:xfrm>
          <a:prstGeom prst="rect">
            <a:avLst/>
          </a:prstGeom>
          <a:solidFill>
            <a:srgbClr val="03B083">
              <a:alpha val="45000"/>
            </a:srgbClr>
          </a:solidFill>
          <a:ln w="12700">
            <a:noFill/>
            <a:prstDash val="solid"/>
          </a:ln>
        </p:spPr>
      </p:sp>
      <p:sp>
        <p:nvSpPr>
          <p:cNvPr id="3" name="Text 1"/>
          <p:cNvSpPr/>
          <p:nvPr/>
        </p:nvSpPr>
        <p:spPr>
          <a:xfrm>
            <a:off x="411480" y="347472"/>
            <a:ext cx="8321040" cy="530352"/>
          </a:xfrm>
          <a:prstGeom prst="rect">
            <a:avLst/>
          </a:prstGeom>
          <a:noFill/>
          <a:ln/>
        </p:spPr>
        <p:txBody>
          <a:bodyPr wrap="square" lIns="0" tIns="0" rIns="0" bIns="0" rtlCol="0" anchor="ctr"/>
          <a:lstStyle/>
          <a:p>
            <a:pPr marL="0" indent="0">
              <a:buNone/>
            </a:pPr>
            <a:r>
              <a:rPr lang="en-US" sz="3600" b="1" dirty="0">
                <a:solidFill>
                  <a:srgbClr val="1F2937"/>
                </a:solidFill>
                <a:latin typeface="Arial" pitchFamily="34" charset="0"/>
                <a:ea typeface="Arial" pitchFamily="34" charset="-122"/>
                <a:cs typeface="Arial" pitchFamily="34" charset="-120"/>
              </a:rPr>
              <a:t>왜 트레빗인가?</a:t>
            </a:r>
            <a:endParaRPr lang="en-US" sz="3600" dirty="0"/>
          </a:p>
        </p:txBody>
      </p:sp>
      <p:sp>
        <p:nvSpPr>
          <p:cNvPr id="5" name="Shape 3"/>
          <p:cNvSpPr/>
          <p:nvPr/>
        </p:nvSpPr>
        <p:spPr>
          <a:xfrm>
            <a:off x="2029968" y="1005840"/>
            <a:ext cx="1664208" cy="438912"/>
          </a:xfrm>
          <a:prstGeom prst="roundRect">
            <a:avLst>
              <a:gd name="adj" fmla="val 12500"/>
            </a:avLst>
          </a:prstGeom>
          <a:solidFill>
            <a:srgbClr val="03B083"/>
          </a:solidFill>
          <a:ln w="12700">
            <a:solidFill>
              <a:srgbClr val="03B083"/>
            </a:solidFill>
            <a:prstDash val="solid"/>
          </a:ln>
        </p:spPr>
      </p:sp>
      <p:sp>
        <p:nvSpPr>
          <p:cNvPr id="6" name="Text 4"/>
          <p:cNvSpPr/>
          <p:nvPr/>
        </p:nvSpPr>
        <p:spPr>
          <a:xfrm>
            <a:off x="2029968" y="1005840"/>
            <a:ext cx="1664208" cy="43891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트레빗</a:t>
            </a:r>
            <a:endParaRPr lang="en-US" sz="1150" dirty="0"/>
          </a:p>
        </p:txBody>
      </p:sp>
      <p:sp>
        <p:nvSpPr>
          <p:cNvPr id="7" name="Shape 5"/>
          <p:cNvSpPr/>
          <p:nvPr/>
        </p:nvSpPr>
        <p:spPr>
          <a:xfrm>
            <a:off x="3730752" y="1005840"/>
            <a:ext cx="1664208" cy="438912"/>
          </a:xfrm>
          <a:prstGeom prst="roundRect">
            <a:avLst>
              <a:gd name="adj" fmla="val 12500"/>
            </a:avLst>
          </a:prstGeom>
          <a:solidFill>
            <a:srgbClr val="F9FAFB"/>
          </a:solidFill>
          <a:ln w="12700">
            <a:solidFill>
              <a:srgbClr val="D1D5DB"/>
            </a:solidFill>
            <a:prstDash val="solid"/>
          </a:ln>
        </p:spPr>
      </p:sp>
      <p:sp>
        <p:nvSpPr>
          <p:cNvPr id="8" name="Text 6"/>
          <p:cNvSpPr/>
          <p:nvPr/>
        </p:nvSpPr>
        <p:spPr>
          <a:xfrm>
            <a:off x="3730752" y="1005840"/>
            <a:ext cx="1664208" cy="438912"/>
          </a:xfrm>
          <a:prstGeom prst="rect">
            <a:avLst/>
          </a:prstGeom>
          <a:noFill/>
          <a:ln/>
        </p:spPr>
        <p:txBody>
          <a:bodyPr wrap="square" lIns="0" tIns="0" rIns="0" bIns="0" rtlCol="0" anchor="ctr"/>
          <a:lstStyle/>
          <a:p>
            <a:pPr marL="0" indent="0" algn="ctr">
              <a:buNone/>
            </a:pPr>
            <a:r>
              <a:rPr lang="en-US" sz="1150" b="1" dirty="0">
                <a:solidFill>
                  <a:srgbClr val="6B7280"/>
                </a:solidFill>
                <a:latin typeface="Arial" pitchFamily="34" charset="0"/>
                <a:ea typeface="Arial" pitchFamily="34" charset="-122"/>
                <a:cs typeface="Arial" pitchFamily="34" charset="-120"/>
              </a:rPr>
              <a:t>야놀자</a:t>
            </a:r>
            <a:endParaRPr lang="en-US" sz="1150" dirty="0"/>
          </a:p>
        </p:txBody>
      </p:sp>
      <p:sp>
        <p:nvSpPr>
          <p:cNvPr id="9" name="Shape 7"/>
          <p:cNvSpPr/>
          <p:nvPr/>
        </p:nvSpPr>
        <p:spPr>
          <a:xfrm>
            <a:off x="5431536" y="1005840"/>
            <a:ext cx="1664208" cy="438912"/>
          </a:xfrm>
          <a:prstGeom prst="roundRect">
            <a:avLst>
              <a:gd name="adj" fmla="val 12500"/>
            </a:avLst>
          </a:prstGeom>
          <a:solidFill>
            <a:srgbClr val="F9FAFB"/>
          </a:solidFill>
          <a:ln w="12700">
            <a:solidFill>
              <a:srgbClr val="D1D5DB"/>
            </a:solidFill>
            <a:prstDash val="solid"/>
          </a:ln>
        </p:spPr>
      </p:sp>
      <p:sp>
        <p:nvSpPr>
          <p:cNvPr id="10" name="Text 8"/>
          <p:cNvSpPr/>
          <p:nvPr/>
        </p:nvSpPr>
        <p:spPr>
          <a:xfrm>
            <a:off x="5431536" y="1005840"/>
            <a:ext cx="1664208" cy="438912"/>
          </a:xfrm>
          <a:prstGeom prst="rect">
            <a:avLst/>
          </a:prstGeom>
          <a:noFill/>
          <a:ln/>
        </p:spPr>
        <p:txBody>
          <a:bodyPr wrap="square" lIns="0" tIns="0" rIns="0" bIns="0" rtlCol="0" anchor="ctr"/>
          <a:lstStyle/>
          <a:p>
            <a:pPr marL="0" indent="0" algn="ctr">
              <a:buNone/>
            </a:pPr>
            <a:r>
              <a:rPr lang="en-US" sz="1150" b="1" dirty="0">
                <a:solidFill>
                  <a:srgbClr val="6B7280"/>
                </a:solidFill>
                <a:latin typeface="Arial" pitchFamily="34" charset="0"/>
                <a:ea typeface="Arial" pitchFamily="34" charset="-122"/>
                <a:cs typeface="Arial" pitchFamily="34" charset="-120"/>
              </a:rPr>
              <a:t>트리플</a:t>
            </a:r>
            <a:endParaRPr lang="en-US" sz="1150" dirty="0"/>
          </a:p>
        </p:txBody>
      </p:sp>
      <p:sp>
        <p:nvSpPr>
          <p:cNvPr id="11" name="Shape 9"/>
          <p:cNvSpPr/>
          <p:nvPr/>
        </p:nvSpPr>
        <p:spPr>
          <a:xfrm>
            <a:off x="7132320" y="1005840"/>
            <a:ext cx="1664208" cy="438912"/>
          </a:xfrm>
          <a:prstGeom prst="roundRect">
            <a:avLst>
              <a:gd name="adj" fmla="val 12500"/>
            </a:avLst>
          </a:prstGeom>
          <a:solidFill>
            <a:srgbClr val="F9FAFB"/>
          </a:solidFill>
          <a:ln w="12700">
            <a:solidFill>
              <a:srgbClr val="D1D5DB"/>
            </a:solidFill>
            <a:prstDash val="solid"/>
          </a:ln>
        </p:spPr>
      </p:sp>
      <p:sp>
        <p:nvSpPr>
          <p:cNvPr id="12" name="Text 10"/>
          <p:cNvSpPr/>
          <p:nvPr/>
        </p:nvSpPr>
        <p:spPr>
          <a:xfrm>
            <a:off x="7132320" y="1005840"/>
            <a:ext cx="1664208" cy="438912"/>
          </a:xfrm>
          <a:prstGeom prst="rect">
            <a:avLst/>
          </a:prstGeom>
          <a:noFill/>
          <a:ln/>
        </p:spPr>
        <p:txBody>
          <a:bodyPr wrap="square" lIns="0" tIns="0" rIns="0" bIns="0" rtlCol="0" anchor="ctr"/>
          <a:lstStyle/>
          <a:p>
            <a:pPr marL="0" indent="0" algn="ctr">
              <a:buNone/>
            </a:pPr>
            <a:r>
              <a:rPr lang="en-US" sz="1150" b="1" dirty="0">
                <a:solidFill>
                  <a:srgbClr val="6B7280"/>
                </a:solidFill>
                <a:latin typeface="Arial" pitchFamily="34" charset="0"/>
                <a:ea typeface="Arial" pitchFamily="34" charset="-122"/>
                <a:cs typeface="Arial" pitchFamily="34" charset="-120"/>
              </a:rPr>
              <a:t>네이버 여행</a:t>
            </a:r>
            <a:endParaRPr lang="en-US" sz="1150" dirty="0"/>
          </a:p>
        </p:txBody>
      </p:sp>
      <p:sp>
        <p:nvSpPr>
          <p:cNvPr id="13" name="Shape 11"/>
          <p:cNvSpPr/>
          <p:nvPr/>
        </p:nvSpPr>
        <p:spPr>
          <a:xfrm>
            <a:off x="347472" y="1572768"/>
            <a:ext cx="8449056" cy="566928"/>
          </a:xfrm>
          <a:prstGeom prst="rect">
            <a:avLst/>
          </a:prstGeom>
          <a:solidFill>
            <a:srgbClr val="FFFFFF"/>
          </a:solidFill>
          <a:ln w="12700">
            <a:solidFill>
              <a:srgbClr val="D1D5DB"/>
            </a:solidFill>
            <a:prstDash val="solid"/>
          </a:ln>
        </p:spPr>
      </p:sp>
      <p:sp>
        <p:nvSpPr>
          <p:cNvPr id="14" name="Text 12"/>
          <p:cNvSpPr/>
          <p:nvPr/>
        </p:nvSpPr>
        <p:spPr>
          <a:xfrm>
            <a:off x="457200" y="1572768"/>
            <a:ext cx="1536192" cy="566928"/>
          </a:xfrm>
          <a:prstGeom prst="rect">
            <a:avLst/>
          </a:prstGeom>
          <a:noFill/>
          <a:ln/>
        </p:spPr>
        <p:txBody>
          <a:bodyPr wrap="square" lIns="0" tIns="0" rIns="0" bIns="0" rtlCol="0" anchor="ctr"/>
          <a:lstStyle/>
          <a:p>
            <a:pPr marL="0" indent="0">
              <a:buNone/>
            </a:pPr>
            <a:r>
              <a:rPr lang="en-US" sz="1300" b="1" dirty="0">
                <a:solidFill>
                  <a:srgbClr val="1F2937"/>
                </a:solidFill>
                <a:latin typeface="Arial" pitchFamily="34" charset="0"/>
                <a:ea typeface="Arial" pitchFamily="34" charset="-122"/>
                <a:cs typeface="Arial" pitchFamily="34" charset="-120"/>
              </a:rPr>
              <a:t>AI 완전 자동 결정</a:t>
            </a:r>
            <a:endParaRPr lang="en-US" sz="1300" dirty="0"/>
          </a:p>
        </p:txBody>
      </p:sp>
      <p:sp>
        <p:nvSpPr>
          <p:cNvPr id="15" name="Text 13"/>
          <p:cNvSpPr/>
          <p:nvPr/>
        </p:nvSpPr>
        <p:spPr>
          <a:xfrm>
            <a:off x="2121408" y="1572768"/>
            <a:ext cx="1481328" cy="566928"/>
          </a:xfrm>
          <a:prstGeom prst="rect">
            <a:avLst/>
          </a:prstGeom>
          <a:noFill/>
          <a:ln/>
        </p:spPr>
        <p:txBody>
          <a:bodyPr wrap="square" lIns="0" tIns="0" rIns="0" bIns="0" rtlCol="0" anchor="ctr"/>
          <a:lstStyle/>
          <a:p>
            <a:pPr marL="0" indent="0" algn="ctr">
              <a:buNone/>
            </a:pPr>
            <a:r>
              <a:rPr lang="en-US" sz="1800" b="1" dirty="0">
                <a:solidFill>
                  <a:srgbClr val="03B083"/>
                </a:solidFill>
                <a:latin typeface="Arial" pitchFamily="34" charset="0"/>
                <a:ea typeface="Arial" pitchFamily="34" charset="-122"/>
                <a:cs typeface="Arial" pitchFamily="34" charset="-120"/>
              </a:rPr>
              <a:t>✓</a:t>
            </a:r>
            <a:endParaRPr lang="en-US" sz="1800" dirty="0"/>
          </a:p>
        </p:txBody>
      </p:sp>
      <p:sp>
        <p:nvSpPr>
          <p:cNvPr id="16" name="Text 14"/>
          <p:cNvSpPr/>
          <p:nvPr/>
        </p:nvSpPr>
        <p:spPr>
          <a:xfrm>
            <a:off x="3822192" y="1572768"/>
            <a:ext cx="1481328" cy="56692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
        <p:nvSpPr>
          <p:cNvPr id="17" name="Text 15"/>
          <p:cNvSpPr/>
          <p:nvPr/>
        </p:nvSpPr>
        <p:spPr>
          <a:xfrm>
            <a:off x="5522976" y="1572768"/>
            <a:ext cx="1481328" cy="56692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
        <p:nvSpPr>
          <p:cNvPr id="18" name="Text 16"/>
          <p:cNvSpPr/>
          <p:nvPr/>
        </p:nvSpPr>
        <p:spPr>
          <a:xfrm>
            <a:off x="7223760" y="1572768"/>
            <a:ext cx="1481328" cy="56692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
        <p:nvSpPr>
          <p:cNvPr id="19" name="Shape 17"/>
          <p:cNvSpPr/>
          <p:nvPr/>
        </p:nvSpPr>
        <p:spPr>
          <a:xfrm>
            <a:off x="347472" y="2167128"/>
            <a:ext cx="8449056" cy="566928"/>
          </a:xfrm>
          <a:prstGeom prst="rect">
            <a:avLst/>
          </a:prstGeom>
          <a:solidFill>
            <a:srgbClr val="F9FAFB"/>
          </a:solidFill>
          <a:ln w="12700">
            <a:solidFill>
              <a:srgbClr val="D1D5DB"/>
            </a:solidFill>
            <a:prstDash val="solid"/>
          </a:ln>
        </p:spPr>
      </p:sp>
      <p:sp>
        <p:nvSpPr>
          <p:cNvPr id="20" name="Text 18"/>
          <p:cNvSpPr/>
          <p:nvPr/>
        </p:nvSpPr>
        <p:spPr>
          <a:xfrm>
            <a:off x="457200" y="2167128"/>
            <a:ext cx="1536192" cy="566928"/>
          </a:xfrm>
          <a:prstGeom prst="rect">
            <a:avLst/>
          </a:prstGeom>
          <a:noFill/>
          <a:ln/>
        </p:spPr>
        <p:txBody>
          <a:bodyPr wrap="square" lIns="0" tIns="0" rIns="0" bIns="0" rtlCol="0" anchor="ctr"/>
          <a:lstStyle/>
          <a:p>
            <a:pPr marL="0" indent="0">
              <a:buNone/>
            </a:pPr>
            <a:r>
              <a:rPr lang="en-US" sz="1300" b="1" dirty="0">
                <a:solidFill>
                  <a:srgbClr val="1F2937"/>
                </a:solidFill>
                <a:latin typeface="Arial" pitchFamily="34" charset="0"/>
                <a:ea typeface="Arial" pitchFamily="34" charset="-122"/>
                <a:cs typeface="Arial" pitchFamily="34" charset="-120"/>
              </a:rPr>
              <a:t>서프라이즈 공개</a:t>
            </a:r>
            <a:endParaRPr lang="en-US" sz="1300" dirty="0"/>
          </a:p>
        </p:txBody>
      </p:sp>
      <p:sp>
        <p:nvSpPr>
          <p:cNvPr id="21" name="Text 19"/>
          <p:cNvSpPr/>
          <p:nvPr/>
        </p:nvSpPr>
        <p:spPr>
          <a:xfrm>
            <a:off x="2121408" y="2167128"/>
            <a:ext cx="1481328" cy="566928"/>
          </a:xfrm>
          <a:prstGeom prst="rect">
            <a:avLst/>
          </a:prstGeom>
          <a:noFill/>
          <a:ln/>
        </p:spPr>
        <p:txBody>
          <a:bodyPr wrap="square" lIns="0" tIns="0" rIns="0" bIns="0" rtlCol="0" anchor="ctr"/>
          <a:lstStyle/>
          <a:p>
            <a:pPr marL="0" indent="0" algn="ctr">
              <a:buNone/>
            </a:pPr>
            <a:r>
              <a:rPr lang="en-US" sz="1800" b="1" dirty="0">
                <a:solidFill>
                  <a:srgbClr val="03B083"/>
                </a:solidFill>
                <a:latin typeface="Arial" pitchFamily="34" charset="0"/>
                <a:ea typeface="Arial" pitchFamily="34" charset="-122"/>
                <a:cs typeface="Arial" pitchFamily="34" charset="-120"/>
              </a:rPr>
              <a:t>✓</a:t>
            </a:r>
            <a:endParaRPr lang="en-US" sz="1800" dirty="0"/>
          </a:p>
        </p:txBody>
      </p:sp>
      <p:sp>
        <p:nvSpPr>
          <p:cNvPr id="22" name="Text 20"/>
          <p:cNvSpPr/>
          <p:nvPr/>
        </p:nvSpPr>
        <p:spPr>
          <a:xfrm>
            <a:off x="3822192" y="2167128"/>
            <a:ext cx="1481328" cy="56692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
        <p:nvSpPr>
          <p:cNvPr id="23" name="Text 21"/>
          <p:cNvSpPr/>
          <p:nvPr/>
        </p:nvSpPr>
        <p:spPr>
          <a:xfrm>
            <a:off x="5522976" y="2167128"/>
            <a:ext cx="1481328" cy="56692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
        <p:nvSpPr>
          <p:cNvPr id="24" name="Text 22"/>
          <p:cNvSpPr/>
          <p:nvPr/>
        </p:nvSpPr>
        <p:spPr>
          <a:xfrm>
            <a:off x="7223760" y="2167128"/>
            <a:ext cx="1481328" cy="56692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
        <p:nvSpPr>
          <p:cNvPr id="25" name="Shape 23"/>
          <p:cNvSpPr/>
          <p:nvPr/>
        </p:nvSpPr>
        <p:spPr>
          <a:xfrm>
            <a:off x="347472" y="2761488"/>
            <a:ext cx="8449056" cy="566928"/>
          </a:xfrm>
          <a:prstGeom prst="rect">
            <a:avLst/>
          </a:prstGeom>
          <a:solidFill>
            <a:srgbClr val="FFFFFF"/>
          </a:solidFill>
          <a:ln w="12700">
            <a:solidFill>
              <a:srgbClr val="D1D5DB"/>
            </a:solidFill>
            <a:prstDash val="solid"/>
          </a:ln>
        </p:spPr>
      </p:sp>
      <p:sp>
        <p:nvSpPr>
          <p:cNvPr id="26" name="Text 24"/>
          <p:cNvSpPr/>
          <p:nvPr/>
        </p:nvSpPr>
        <p:spPr>
          <a:xfrm>
            <a:off x="457200" y="2761488"/>
            <a:ext cx="1536192" cy="566928"/>
          </a:xfrm>
          <a:prstGeom prst="rect">
            <a:avLst/>
          </a:prstGeom>
          <a:noFill/>
          <a:ln/>
        </p:spPr>
        <p:txBody>
          <a:bodyPr wrap="square" lIns="0" tIns="0" rIns="0" bIns="0" rtlCol="0" anchor="ctr"/>
          <a:lstStyle/>
          <a:p>
            <a:pPr marL="0" indent="0">
              <a:buNone/>
            </a:pPr>
            <a:r>
              <a:rPr lang="en-US" sz="1300" b="1" dirty="0">
                <a:solidFill>
                  <a:srgbClr val="1F2937"/>
                </a:solidFill>
                <a:latin typeface="Arial" pitchFamily="34" charset="0"/>
                <a:ea typeface="Arial" pitchFamily="34" charset="-122"/>
                <a:cs typeface="Arial" pitchFamily="34" charset="-120"/>
              </a:rPr>
              <a:t>예산 선결제</a:t>
            </a:r>
            <a:endParaRPr lang="en-US" sz="1300" dirty="0"/>
          </a:p>
        </p:txBody>
      </p:sp>
      <p:sp>
        <p:nvSpPr>
          <p:cNvPr id="27" name="Text 25"/>
          <p:cNvSpPr/>
          <p:nvPr/>
        </p:nvSpPr>
        <p:spPr>
          <a:xfrm>
            <a:off x="2121408" y="2761488"/>
            <a:ext cx="1481328" cy="566928"/>
          </a:xfrm>
          <a:prstGeom prst="rect">
            <a:avLst/>
          </a:prstGeom>
          <a:noFill/>
          <a:ln/>
        </p:spPr>
        <p:txBody>
          <a:bodyPr wrap="square" lIns="0" tIns="0" rIns="0" bIns="0" rtlCol="0" anchor="ctr"/>
          <a:lstStyle/>
          <a:p>
            <a:pPr marL="0" indent="0" algn="ctr">
              <a:buNone/>
            </a:pPr>
            <a:r>
              <a:rPr lang="en-US" sz="1800" b="1" dirty="0">
                <a:solidFill>
                  <a:srgbClr val="03B083"/>
                </a:solidFill>
                <a:latin typeface="Arial" pitchFamily="34" charset="0"/>
                <a:ea typeface="Arial" pitchFamily="34" charset="-122"/>
                <a:cs typeface="Arial" pitchFamily="34" charset="-120"/>
              </a:rPr>
              <a:t>✓</a:t>
            </a:r>
            <a:endParaRPr lang="en-US" sz="1800" dirty="0"/>
          </a:p>
        </p:txBody>
      </p:sp>
      <p:sp>
        <p:nvSpPr>
          <p:cNvPr id="28" name="Text 26"/>
          <p:cNvSpPr/>
          <p:nvPr/>
        </p:nvSpPr>
        <p:spPr>
          <a:xfrm>
            <a:off x="3822192" y="2761488"/>
            <a:ext cx="1481328" cy="56692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
        <p:nvSpPr>
          <p:cNvPr id="29" name="Text 27"/>
          <p:cNvSpPr/>
          <p:nvPr/>
        </p:nvSpPr>
        <p:spPr>
          <a:xfrm>
            <a:off x="5522976" y="2761488"/>
            <a:ext cx="1481328" cy="56692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
        <p:nvSpPr>
          <p:cNvPr id="30" name="Text 28"/>
          <p:cNvSpPr/>
          <p:nvPr/>
        </p:nvSpPr>
        <p:spPr>
          <a:xfrm>
            <a:off x="7223760" y="2761488"/>
            <a:ext cx="1481328" cy="56692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
        <p:nvSpPr>
          <p:cNvPr id="31" name="Shape 29"/>
          <p:cNvSpPr/>
          <p:nvPr/>
        </p:nvSpPr>
        <p:spPr>
          <a:xfrm>
            <a:off x="347472" y="3355848"/>
            <a:ext cx="8449056" cy="566928"/>
          </a:xfrm>
          <a:prstGeom prst="rect">
            <a:avLst/>
          </a:prstGeom>
          <a:solidFill>
            <a:srgbClr val="F9FAFB"/>
          </a:solidFill>
          <a:ln w="12700">
            <a:solidFill>
              <a:srgbClr val="D1D5DB"/>
            </a:solidFill>
            <a:prstDash val="solid"/>
          </a:ln>
        </p:spPr>
      </p:sp>
      <p:sp>
        <p:nvSpPr>
          <p:cNvPr id="32" name="Text 30"/>
          <p:cNvSpPr/>
          <p:nvPr/>
        </p:nvSpPr>
        <p:spPr>
          <a:xfrm>
            <a:off x="457200" y="3355848"/>
            <a:ext cx="1536192" cy="566928"/>
          </a:xfrm>
          <a:prstGeom prst="rect">
            <a:avLst/>
          </a:prstGeom>
          <a:noFill/>
          <a:ln/>
        </p:spPr>
        <p:txBody>
          <a:bodyPr wrap="square" lIns="0" tIns="0" rIns="0" bIns="0" rtlCol="0" anchor="ctr"/>
          <a:lstStyle/>
          <a:p>
            <a:pPr marL="0" indent="0">
              <a:buNone/>
            </a:pPr>
            <a:r>
              <a:rPr lang="en-US" sz="1300" b="1" dirty="0">
                <a:solidFill>
                  <a:srgbClr val="1F2937"/>
                </a:solidFill>
                <a:latin typeface="Arial" pitchFamily="34" charset="0"/>
                <a:ea typeface="Arial" pitchFamily="34" charset="-122"/>
                <a:cs typeface="Arial" pitchFamily="34" charset="-120"/>
              </a:rPr>
              <a:t>데모 모드</a:t>
            </a:r>
            <a:endParaRPr lang="en-US" sz="1300" dirty="0"/>
          </a:p>
        </p:txBody>
      </p:sp>
      <p:sp>
        <p:nvSpPr>
          <p:cNvPr id="33" name="Text 31"/>
          <p:cNvSpPr/>
          <p:nvPr/>
        </p:nvSpPr>
        <p:spPr>
          <a:xfrm>
            <a:off x="2121408" y="3355848"/>
            <a:ext cx="1481328" cy="566928"/>
          </a:xfrm>
          <a:prstGeom prst="rect">
            <a:avLst/>
          </a:prstGeom>
          <a:noFill/>
          <a:ln/>
        </p:spPr>
        <p:txBody>
          <a:bodyPr wrap="square" lIns="0" tIns="0" rIns="0" bIns="0" rtlCol="0" anchor="ctr"/>
          <a:lstStyle/>
          <a:p>
            <a:pPr marL="0" indent="0" algn="ctr">
              <a:buNone/>
            </a:pPr>
            <a:r>
              <a:rPr lang="en-US" sz="1800" b="1" dirty="0">
                <a:solidFill>
                  <a:srgbClr val="03B083"/>
                </a:solidFill>
                <a:latin typeface="Arial" pitchFamily="34" charset="0"/>
                <a:ea typeface="Arial" pitchFamily="34" charset="-122"/>
                <a:cs typeface="Arial" pitchFamily="34" charset="-120"/>
              </a:rPr>
              <a:t>✓</a:t>
            </a:r>
            <a:endParaRPr lang="en-US" sz="1800" dirty="0"/>
          </a:p>
        </p:txBody>
      </p:sp>
      <p:sp>
        <p:nvSpPr>
          <p:cNvPr id="34" name="Text 32"/>
          <p:cNvSpPr/>
          <p:nvPr/>
        </p:nvSpPr>
        <p:spPr>
          <a:xfrm>
            <a:off x="3822192" y="3355848"/>
            <a:ext cx="1481328" cy="56692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
        <p:nvSpPr>
          <p:cNvPr id="35" name="Text 33"/>
          <p:cNvSpPr/>
          <p:nvPr/>
        </p:nvSpPr>
        <p:spPr>
          <a:xfrm>
            <a:off x="5522976" y="3355848"/>
            <a:ext cx="1481328" cy="56692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
        <p:nvSpPr>
          <p:cNvPr id="36" name="Text 34"/>
          <p:cNvSpPr/>
          <p:nvPr/>
        </p:nvSpPr>
        <p:spPr>
          <a:xfrm>
            <a:off x="7223760" y="3355848"/>
            <a:ext cx="1481328" cy="56692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
        <p:nvSpPr>
          <p:cNvPr id="37" name="Shape 35"/>
          <p:cNvSpPr/>
          <p:nvPr/>
        </p:nvSpPr>
        <p:spPr>
          <a:xfrm>
            <a:off x="347472" y="3950208"/>
            <a:ext cx="8449056" cy="566928"/>
          </a:xfrm>
          <a:prstGeom prst="rect">
            <a:avLst/>
          </a:prstGeom>
          <a:solidFill>
            <a:srgbClr val="FFFFFF"/>
          </a:solidFill>
          <a:ln w="12700">
            <a:solidFill>
              <a:srgbClr val="D1D5DB"/>
            </a:solidFill>
            <a:prstDash val="solid"/>
          </a:ln>
        </p:spPr>
      </p:sp>
      <p:sp>
        <p:nvSpPr>
          <p:cNvPr id="38" name="Text 36"/>
          <p:cNvSpPr/>
          <p:nvPr/>
        </p:nvSpPr>
        <p:spPr>
          <a:xfrm>
            <a:off x="457200" y="3950208"/>
            <a:ext cx="1536192" cy="566928"/>
          </a:xfrm>
          <a:prstGeom prst="rect">
            <a:avLst/>
          </a:prstGeom>
          <a:noFill/>
          <a:ln/>
        </p:spPr>
        <p:txBody>
          <a:bodyPr wrap="square" lIns="0" tIns="0" rIns="0" bIns="0" rtlCol="0" anchor="ctr"/>
          <a:lstStyle/>
          <a:p>
            <a:pPr marL="0" indent="0">
              <a:buNone/>
            </a:pPr>
            <a:r>
              <a:rPr lang="en-US" sz="1300" b="1" dirty="0">
                <a:solidFill>
                  <a:srgbClr val="1F2937"/>
                </a:solidFill>
                <a:latin typeface="Arial" pitchFamily="34" charset="0"/>
                <a:ea typeface="Arial" pitchFamily="34" charset="-122"/>
                <a:cs typeface="Arial" pitchFamily="34" charset="-120"/>
              </a:rPr>
              <a:t>지역 소상공인 연계</a:t>
            </a:r>
            <a:endParaRPr lang="en-US" sz="1300" dirty="0"/>
          </a:p>
        </p:txBody>
      </p:sp>
      <p:sp>
        <p:nvSpPr>
          <p:cNvPr id="39" name="Text 37"/>
          <p:cNvSpPr/>
          <p:nvPr/>
        </p:nvSpPr>
        <p:spPr>
          <a:xfrm>
            <a:off x="2121408" y="3950208"/>
            <a:ext cx="1481328" cy="566928"/>
          </a:xfrm>
          <a:prstGeom prst="rect">
            <a:avLst/>
          </a:prstGeom>
          <a:noFill/>
          <a:ln/>
        </p:spPr>
        <p:txBody>
          <a:bodyPr wrap="square" lIns="0" tIns="0" rIns="0" bIns="0" rtlCol="0" anchor="ctr"/>
          <a:lstStyle/>
          <a:p>
            <a:pPr marL="0" indent="0" algn="ctr">
              <a:buNone/>
            </a:pPr>
            <a:r>
              <a:rPr lang="en-US" sz="1800" b="1" dirty="0">
                <a:solidFill>
                  <a:srgbClr val="03B083"/>
                </a:solidFill>
                <a:latin typeface="Arial" pitchFamily="34" charset="0"/>
                <a:ea typeface="Arial" pitchFamily="34" charset="-122"/>
                <a:cs typeface="Arial" pitchFamily="34" charset="-120"/>
              </a:rPr>
              <a:t>✓</a:t>
            </a:r>
            <a:endParaRPr lang="en-US" sz="1800" dirty="0"/>
          </a:p>
        </p:txBody>
      </p:sp>
      <p:sp>
        <p:nvSpPr>
          <p:cNvPr id="40" name="Text 38"/>
          <p:cNvSpPr/>
          <p:nvPr/>
        </p:nvSpPr>
        <p:spPr>
          <a:xfrm>
            <a:off x="3822192" y="3950208"/>
            <a:ext cx="1481328" cy="56692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
        <p:nvSpPr>
          <p:cNvPr id="41" name="Text 39"/>
          <p:cNvSpPr/>
          <p:nvPr/>
        </p:nvSpPr>
        <p:spPr>
          <a:xfrm>
            <a:off x="5522976" y="3950208"/>
            <a:ext cx="1481328" cy="56692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
        <p:nvSpPr>
          <p:cNvPr id="42" name="Text 40"/>
          <p:cNvSpPr/>
          <p:nvPr/>
        </p:nvSpPr>
        <p:spPr>
          <a:xfrm>
            <a:off x="7223760" y="3950208"/>
            <a:ext cx="1481328" cy="56692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Shape 2"/>
          <p:cNvSpPr/>
          <p:nvPr/>
        </p:nvSpPr>
        <p:spPr>
          <a:xfrm>
            <a:off x="334409" y="671431"/>
            <a:ext cx="2659597" cy="206393"/>
          </a:xfrm>
          <a:prstGeom prst="rect">
            <a:avLst/>
          </a:prstGeom>
          <a:solidFill>
            <a:srgbClr val="03B083">
              <a:alpha val="45000"/>
            </a:srgbClr>
          </a:solidFill>
          <a:ln w="12700">
            <a:noFill/>
            <a:prstDash val="solid"/>
          </a:ln>
        </p:spPr>
      </p:sp>
      <p:sp>
        <p:nvSpPr>
          <p:cNvPr id="3" name="Text 1"/>
          <p:cNvSpPr/>
          <p:nvPr/>
        </p:nvSpPr>
        <p:spPr>
          <a:xfrm>
            <a:off x="411480" y="347472"/>
            <a:ext cx="8321040" cy="502920"/>
          </a:xfrm>
          <a:prstGeom prst="rect">
            <a:avLst/>
          </a:prstGeom>
          <a:noFill/>
          <a:ln/>
        </p:spPr>
        <p:txBody>
          <a:bodyPr wrap="square" lIns="0" tIns="0" rIns="0" bIns="0" rtlCol="0" anchor="ctr"/>
          <a:lstStyle/>
          <a:p>
            <a:pPr marL="0" indent="0">
              <a:buNone/>
            </a:pPr>
            <a:r>
              <a:rPr lang="en-US" sz="3600" b="1" dirty="0">
                <a:solidFill>
                  <a:srgbClr val="1F2937"/>
                </a:solidFill>
                <a:latin typeface="Arial" pitchFamily="34" charset="0"/>
                <a:ea typeface="Arial" pitchFamily="34" charset="-122"/>
                <a:cs typeface="Arial" pitchFamily="34" charset="-120"/>
              </a:rPr>
              <a:t>기술 아키텍처</a:t>
            </a:r>
            <a:endParaRPr lang="en-US" sz="3600" dirty="0"/>
          </a:p>
        </p:txBody>
      </p:sp>
      <p:sp>
        <p:nvSpPr>
          <p:cNvPr id="5" name="Shape 3"/>
          <p:cNvSpPr/>
          <p:nvPr/>
        </p:nvSpPr>
        <p:spPr>
          <a:xfrm>
            <a:off x="2011680" y="1060704"/>
            <a:ext cx="6675120" cy="3721608"/>
          </a:xfrm>
          <a:prstGeom prst="roundRect">
            <a:avLst>
              <a:gd name="adj" fmla="val 2381"/>
            </a:avLst>
          </a:prstGeom>
          <a:solidFill>
            <a:srgbClr val="F9FAFB"/>
          </a:solidFill>
          <a:ln w="12700">
            <a:solidFill>
              <a:srgbClr val="D1D5DB"/>
            </a:solidFill>
            <a:prstDash val="solid"/>
          </a:ln>
        </p:spPr>
      </p:sp>
      <p:sp>
        <p:nvSpPr>
          <p:cNvPr id="6" name="Shape 4"/>
          <p:cNvSpPr/>
          <p:nvPr/>
        </p:nvSpPr>
        <p:spPr>
          <a:xfrm>
            <a:off x="2011680" y="1005840"/>
            <a:ext cx="6675120" cy="438912"/>
          </a:xfrm>
          <a:prstGeom prst="roundRect">
            <a:avLst>
              <a:gd name="adj" fmla="val 20833"/>
            </a:avLst>
          </a:prstGeom>
          <a:solidFill>
            <a:srgbClr val="2D3F37"/>
          </a:solidFill>
          <a:ln w="12700">
            <a:solidFill>
              <a:srgbClr val="2D3F37"/>
            </a:solidFill>
            <a:prstDash val="solid"/>
          </a:ln>
        </p:spPr>
      </p:sp>
      <p:sp>
        <p:nvSpPr>
          <p:cNvPr id="7" name="Text 5"/>
          <p:cNvSpPr/>
          <p:nvPr/>
        </p:nvSpPr>
        <p:spPr>
          <a:xfrm>
            <a:off x="2011680" y="1005840"/>
            <a:ext cx="3200400" cy="438912"/>
          </a:xfrm>
          <a:prstGeom prst="rect">
            <a:avLst/>
          </a:prstGeom>
          <a:noFill/>
          <a:ln/>
        </p:spPr>
        <p:txBody>
          <a:bodyPr wrap="square" lIns="101600" tIns="101600" rIns="101600" bIns="101600" rtlCol="0" anchor="ctr"/>
          <a:lstStyle/>
          <a:p>
            <a:pPr marL="0" indent="0">
              <a:buNone/>
            </a:pPr>
            <a:r>
              <a:rPr lang="en-US" sz="1300" b="1" dirty="0">
                <a:solidFill>
                  <a:srgbClr val="FFFFFF"/>
                </a:solidFill>
                <a:latin typeface="Arial" pitchFamily="34" charset="0"/>
                <a:ea typeface="Arial" pitchFamily="34" charset="-122"/>
                <a:cs typeface="Arial" pitchFamily="34" charset="-120"/>
              </a:rPr>
              <a:t>AI 추천 엔진</a:t>
            </a:r>
            <a:endParaRPr lang="en-US" sz="1300" dirty="0"/>
          </a:p>
        </p:txBody>
      </p:sp>
      <p:sp>
        <p:nvSpPr>
          <p:cNvPr id="8" name="Text 6"/>
          <p:cNvSpPr/>
          <p:nvPr/>
        </p:nvSpPr>
        <p:spPr>
          <a:xfrm>
            <a:off x="5212080" y="1005840"/>
            <a:ext cx="3474720" cy="438912"/>
          </a:xfrm>
          <a:prstGeom prst="rect">
            <a:avLst/>
          </a:prstGeom>
          <a:noFill/>
          <a:ln/>
        </p:spPr>
        <p:txBody>
          <a:bodyPr wrap="square" lIns="101600" tIns="101600" rIns="101600" bIns="101600" rtlCol="0" anchor="ctr"/>
          <a:lstStyle/>
          <a:p>
            <a:pPr marL="0" indent="0" algn="r">
              <a:buNone/>
            </a:pPr>
            <a:r>
              <a:rPr lang="en-US" sz="1000" dirty="0">
                <a:solidFill>
                  <a:srgbClr val="8FA89A"/>
                </a:solidFill>
                <a:latin typeface="Arial" pitchFamily="34" charset="0"/>
                <a:ea typeface="Arial" pitchFamily="34" charset="-122"/>
                <a:cs typeface="Arial" pitchFamily="34" charset="-120"/>
              </a:rPr>
              <a:t>Jetpack Compose(KMP)  ·  Kotlin Spring Boot  ·  Docker</a:t>
            </a:r>
            <a:endParaRPr lang="en-US" sz="1000" dirty="0"/>
          </a:p>
        </p:txBody>
      </p:sp>
      <p:sp>
        <p:nvSpPr>
          <p:cNvPr id="9" name="Shape 7"/>
          <p:cNvSpPr/>
          <p:nvPr/>
        </p:nvSpPr>
        <p:spPr>
          <a:xfrm>
            <a:off x="2148840" y="1572768"/>
            <a:ext cx="6382512" cy="621792"/>
          </a:xfrm>
          <a:prstGeom prst="roundRect">
            <a:avLst>
              <a:gd name="adj" fmla="val 8824"/>
            </a:avLst>
          </a:prstGeom>
          <a:solidFill>
            <a:srgbClr val="E9F8F2"/>
          </a:solidFill>
          <a:ln w="12700">
            <a:solidFill>
              <a:srgbClr val="03B083"/>
            </a:solidFill>
            <a:prstDash val="solid"/>
          </a:ln>
        </p:spPr>
      </p:sp>
      <p:sp>
        <p:nvSpPr>
          <p:cNvPr id="10" name="Shape 8"/>
          <p:cNvSpPr/>
          <p:nvPr/>
        </p:nvSpPr>
        <p:spPr>
          <a:xfrm>
            <a:off x="2267712" y="1664208"/>
            <a:ext cx="1371600" cy="438912"/>
          </a:xfrm>
          <a:prstGeom prst="roundRect">
            <a:avLst>
              <a:gd name="adj" fmla="val 8333"/>
            </a:avLst>
          </a:prstGeom>
          <a:solidFill>
            <a:srgbClr val="03B083"/>
          </a:solidFill>
          <a:ln w="12700">
            <a:solidFill>
              <a:srgbClr val="03B083"/>
            </a:solidFill>
            <a:prstDash val="solid"/>
          </a:ln>
        </p:spPr>
      </p:sp>
      <p:sp>
        <p:nvSpPr>
          <p:cNvPr id="11" name="Text 9"/>
          <p:cNvSpPr/>
          <p:nvPr/>
        </p:nvSpPr>
        <p:spPr>
          <a:xfrm>
            <a:off x="2267712" y="1664208"/>
            <a:ext cx="1371600"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일정 설계</a:t>
            </a:r>
            <a:endParaRPr lang="en-US" sz="1100" dirty="0"/>
          </a:p>
        </p:txBody>
      </p:sp>
      <p:sp>
        <p:nvSpPr>
          <p:cNvPr id="12" name="Text 10"/>
          <p:cNvSpPr/>
          <p:nvPr/>
        </p:nvSpPr>
        <p:spPr>
          <a:xfrm>
            <a:off x="4005072" y="1572768"/>
            <a:ext cx="2011680" cy="621792"/>
          </a:xfrm>
          <a:prstGeom prst="rect">
            <a:avLst/>
          </a:prstGeom>
          <a:noFill/>
          <a:ln/>
        </p:spPr>
        <p:txBody>
          <a:bodyPr wrap="square" lIns="0" tIns="0" rIns="0" bIns="0" rtlCol="0" anchor="ctr"/>
          <a:lstStyle/>
          <a:p>
            <a:pPr marL="0" indent="0">
              <a:buNone/>
            </a:pPr>
            <a:r>
              <a:rPr lang="en-US" sz="1200" b="1" dirty="0">
                <a:solidFill>
                  <a:srgbClr val="1F2937"/>
                </a:solidFill>
                <a:latin typeface="Arial" pitchFamily="34" charset="0"/>
                <a:ea typeface="Arial" pitchFamily="34" charset="-122"/>
                <a:cs typeface="Arial" pitchFamily="34" charset="-120"/>
              </a:rPr>
              <a:t>로컬 LLM · Gemma 26B</a:t>
            </a:r>
            <a:endParaRPr lang="en-US" sz="1200" dirty="0"/>
          </a:p>
        </p:txBody>
      </p:sp>
      <p:sp>
        <p:nvSpPr>
          <p:cNvPr id="13" name="Text 11"/>
          <p:cNvSpPr/>
          <p:nvPr/>
        </p:nvSpPr>
        <p:spPr>
          <a:xfrm>
            <a:off x="5971032" y="1572768"/>
            <a:ext cx="2834640" cy="621792"/>
          </a:xfrm>
          <a:prstGeom prst="rect">
            <a:avLst/>
          </a:prstGeom>
          <a:noFill/>
          <a:ln/>
        </p:spPr>
        <p:txBody>
          <a:bodyPr wrap="square" lIns="0" tIns="0" rIns="0" bIns="0" rtlCol="0" anchor="ctr"/>
          <a:lstStyle/>
          <a:p>
            <a:pPr marL="0" indent="0">
              <a:buNone/>
            </a:pPr>
            <a:r>
              <a:rPr lang="en-US" sz="1100" dirty="0">
                <a:solidFill>
                  <a:srgbClr val="6B7280"/>
                </a:solidFill>
                <a:latin typeface="Arial" pitchFamily="34" charset="0"/>
                <a:ea typeface="Arial" pitchFamily="34" charset="-122"/>
                <a:cs typeface="Arial" pitchFamily="34" charset="-120"/>
              </a:rPr>
              <a:t>프로필·취향 → 장소 선택 + 추천 이유</a:t>
            </a:r>
            <a:endParaRPr lang="en-US" sz="1100" dirty="0"/>
          </a:p>
        </p:txBody>
      </p:sp>
      <p:sp>
        <p:nvSpPr>
          <p:cNvPr id="14" name="Shape 12"/>
          <p:cNvSpPr/>
          <p:nvPr/>
        </p:nvSpPr>
        <p:spPr>
          <a:xfrm>
            <a:off x="2148840" y="2304288"/>
            <a:ext cx="6382512" cy="621792"/>
          </a:xfrm>
          <a:prstGeom prst="roundRect">
            <a:avLst>
              <a:gd name="adj" fmla="val 8824"/>
            </a:avLst>
          </a:prstGeom>
          <a:solidFill>
            <a:srgbClr val="FFFFFF"/>
          </a:solidFill>
          <a:ln w="12700">
            <a:solidFill>
              <a:srgbClr val="D1D5DB"/>
            </a:solidFill>
            <a:prstDash val="solid"/>
          </a:ln>
        </p:spPr>
      </p:sp>
      <p:sp>
        <p:nvSpPr>
          <p:cNvPr id="15" name="Shape 13"/>
          <p:cNvSpPr/>
          <p:nvPr/>
        </p:nvSpPr>
        <p:spPr>
          <a:xfrm>
            <a:off x="2267712" y="2395728"/>
            <a:ext cx="1371600" cy="438912"/>
          </a:xfrm>
          <a:prstGeom prst="roundRect">
            <a:avLst>
              <a:gd name="adj" fmla="val 8333"/>
            </a:avLst>
          </a:prstGeom>
          <a:solidFill>
            <a:srgbClr val="2D3F37"/>
          </a:solidFill>
          <a:ln w="12700">
            <a:solidFill>
              <a:srgbClr val="2D3F37"/>
            </a:solidFill>
            <a:prstDash val="solid"/>
          </a:ln>
        </p:spPr>
      </p:sp>
      <p:sp>
        <p:nvSpPr>
          <p:cNvPr id="16" name="Text 14"/>
          <p:cNvSpPr/>
          <p:nvPr/>
        </p:nvSpPr>
        <p:spPr>
          <a:xfrm>
            <a:off x="2267712" y="2395728"/>
            <a:ext cx="1371600"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취향 필터</a:t>
            </a:r>
            <a:endParaRPr lang="en-US" sz="1100" dirty="0"/>
          </a:p>
        </p:txBody>
      </p:sp>
      <p:sp>
        <p:nvSpPr>
          <p:cNvPr id="17" name="Text 15"/>
          <p:cNvSpPr/>
          <p:nvPr/>
        </p:nvSpPr>
        <p:spPr>
          <a:xfrm>
            <a:off x="4005072" y="2304288"/>
            <a:ext cx="2011680" cy="621792"/>
          </a:xfrm>
          <a:prstGeom prst="rect">
            <a:avLst/>
          </a:prstGeom>
          <a:noFill/>
          <a:ln/>
        </p:spPr>
        <p:txBody>
          <a:bodyPr wrap="square" lIns="0" tIns="0" rIns="0" bIns="0" rtlCol="0" anchor="ctr"/>
          <a:lstStyle/>
          <a:p>
            <a:pPr marL="0" indent="0">
              <a:buNone/>
            </a:pPr>
            <a:r>
              <a:rPr lang="en-US" sz="1200" b="1" dirty="0">
                <a:solidFill>
                  <a:srgbClr val="1F2937"/>
                </a:solidFill>
                <a:latin typeface="Arial" pitchFamily="34" charset="0"/>
                <a:ea typeface="Arial" pitchFamily="34" charset="-122"/>
                <a:cs typeface="Arial" pitchFamily="34" charset="-120"/>
              </a:rPr>
              <a:t>키워드·태그 매칭</a:t>
            </a:r>
            <a:endParaRPr lang="en-US" sz="1200" dirty="0"/>
          </a:p>
        </p:txBody>
      </p:sp>
      <p:sp>
        <p:nvSpPr>
          <p:cNvPr id="18" name="Text 16"/>
          <p:cNvSpPr/>
          <p:nvPr/>
        </p:nvSpPr>
        <p:spPr>
          <a:xfrm>
            <a:off x="5971032" y="2304288"/>
            <a:ext cx="2834640" cy="621792"/>
          </a:xfrm>
          <a:prstGeom prst="rect">
            <a:avLst/>
          </a:prstGeom>
          <a:noFill/>
          <a:ln/>
        </p:spPr>
        <p:txBody>
          <a:bodyPr wrap="square" lIns="0" tIns="0" rIns="0" bIns="0" rtlCol="0" anchor="ctr"/>
          <a:lstStyle/>
          <a:p>
            <a:pPr marL="0" indent="0">
              <a:buNone/>
            </a:pPr>
            <a:r>
              <a:rPr lang="en-US" sz="1100" dirty="0">
                <a:solidFill>
                  <a:srgbClr val="6B7280"/>
                </a:solidFill>
                <a:latin typeface="Arial" pitchFamily="34" charset="0"/>
                <a:ea typeface="Arial" pitchFamily="34" charset="-122"/>
                <a:cs typeface="Arial" pitchFamily="34" charset="-120"/>
              </a:rPr>
              <a:t>걷기 기피 시 산·트레킹 자동 제외</a:t>
            </a:r>
            <a:endParaRPr lang="en-US" sz="1100" dirty="0"/>
          </a:p>
        </p:txBody>
      </p:sp>
      <p:sp>
        <p:nvSpPr>
          <p:cNvPr id="19" name="Shape 17"/>
          <p:cNvSpPr/>
          <p:nvPr/>
        </p:nvSpPr>
        <p:spPr>
          <a:xfrm>
            <a:off x="2148840" y="3035808"/>
            <a:ext cx="6382512" cy="621792"/>
          </a:xfrm>
          <a:prstGeom prst="roundRect">
            <a:avLst>
              <a:gd name="adj" fmla="val 8824"/>
            </a:avLst>
          </a:prstGeom>
          <a:solidFill>
            <a:srgbClr val="FFFFFF"/>
          </a:solidFill>
          <a:ln w="12700">
            <a:solidFill>
              <a:srgbClr val="D1D5DB"/>
            </a:solidFill>
            <a:prstDash val="solid"/>
          </a:ln>
        </p:spPr>
      </p:sp>
      <p:sp>
        <p:nvSpPr>
          <p:cNvPr id="20" name="Shape 18"/>
          <p:cNvSpPr/>
          <p:nvPr/>
        </p:nvSpPr>
        <p:spPr>
          <a:xfrm>
            <a:off x="2267712" y="3127248"/>
            <a:ext cx="1371600" cy="438912"/>
          </a:xfrm>
          <a:prstGeom prst="roundRect">
            <a:avLst>
              <a:gd name="adj" fmla="val 8333"/>
            </a:avLst>
          </a:prstGeom>
          <a:solidFill>
            <a:srgbClr val="2D3F37"/>
          </a:solidFill>
          <a:ln w="12700">
            <a:solidFill>
              <a:srgbClr val="2D3F37"/>
            </a:solidFill>
            <a:prstDash val="solid"/>
          </a:ln>
        </p:spPr>
      </p:sp>
      <p:sp>
        <p:nvSpPr>
          <p:cNvPr id="21" name="Text 19"/>
          <p:cNvSpPr/>
          <p:nvPr/>
        </p:nvSpPr>
        <p:spPr>
          <a:xfrm>
            <a:off x="2267712" y="3127248"/>
            <a:ext cx="1371600"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예산 배분</a:t>
            </a:r>
            <a:endParaRPr lang="en-US" sz="1100" dirty="0"/>
          </a:p>
        </p:txBody>
      </p:sp>
      <p:sp>
        <p:nvSpPr>
          <p:cNvPr id="22" name="Text 20"/>
          <p:cNvSpPr/>
          <p:nvPr/>
        </p:nvSpPr>
        <p:spPr>
          <a:xfrm>
            <a:off x="4005072" y="3035808"/>
            <a:ext cx="2011680" cy="621792"/>
          </a:xfrm>
          <a:prstGeom prst="rect">
            <a:avLst/>
          </a:prstGeom>
          <a:noFill/>
          <a:ln/>
        </p:spPr>
        <p:txBody>
          <a:bodyPr wrap="square" lIns="0" tIns="0" rIns="0" bIns="0" rtlCol="0" anchor="ctr"/>
          <a:lstStyle/>
          <a:p>
            <a:pPr marL="0" indent="0">
              <a:buNone/>
            </a:pPr>
            <a:r>
              <a:rPr lang="en-US" sz="1200" b="1" dirty="0">
                <a:solidFill>
                  <a:srgbClr val="1F2937"/>
                </a:solidFill>
                <a:latin typeface="Arial" pitchFamily="34" charset="0"/>
                <a:ea typeface="Arial" pitchFamily="34" charset="-122"/>
                <a:cs typeface="Arial" pitchFamily="34" charset="-120"/>
              </a:rPr>
              <a:t>제약 조건 스코어링</a:t>
            </a:r>
            <a:endParaRPr lang="en-US" sz="1200" dirty="0"/>
          </a:p>
        </p:txBody>
      </p:sp>
      <p:sp>
        <p:nvSpPr>
          <p:cNvPr id="23" name="Text 21"/>
          <p:cNvSpPr/>
          <p:nvPr/>
        </p:nvSpPr>
        <p:spPr>
          <a:xfrm>
            <a:off x="5971032" y="3035808"/>
            <a:ext cx="2834640" cy="621792"/>
          </a:xfrm>
          <a:prstGeom prst="rect">
            <a:avLst/>
          </a:prstGeom>
          <a:noFill/>
          <a:ln/>
        </p:spPr>
        <p:txBody>
          <a:bodyPr wrap="square" lIns="0" tIns="0" rIns="0" bIns="0" rtlCol="0" anchor="ctr"/>
          <a:lstStyle/>
          <a:p>
            <a:pPr marL="0" indent="0">
              <a:buNone/>
            </a:pPr>
            <a:r>
              <a:rPr lang="en-US" sz="1100" dirty="0">
                <a:solidFill>
                  <a:srgbClr val="6B7280"/>
                </a:solidFill>
                <a:latin typeface="Arial" pitchFamily="34" charset="0"/>
                <a:ea typeface="Arial" pitchFamily="34" charset="-122"/>
                <a:cs typeface="Arial" pitchFamily="34" charset="-120"/>
              </a:rPr>
              <a:t>숙박40·관광30·식비20·교통10</a:t>
            </a:r>
            <a:endParaRPr lang="en-US" sz="1100" dirty="0"/>
          </a:p>
        </p:txBody>
      </p:sp>
      <p:sp>
        <p:nvSpPr>
          <p:cNvPr id="24" name="Shape 22"/>
          <p:cNvSpPr/>
          <p:nvPr/>
        </p:nvSpPr>
        <p:spPr>
          <a:xfrm>
            <a:off x="2148840" y="3767328"/>
            <a:ext cx="6382512" cy="621792"/>
          </a:xfrm>
          <a:prstGeom prst="roundRect">
            <a:avLst>
              <a:gd name="adj" fmla="val 8824"/>
            </a:avLst>
          </a:prstGeom>
          <a:solidFill>
            <a:srgbClr val="FFFFFF"/>
          </a:solidFill>
          <a:ln w="12700">
            <a:solidFill>
              <a:srgbClr val="D1D5DB"/>
            </a:solidFill>
            <a:prstDash val="solid"/>
          </a:ln>
        </p:spPr>
      </p:sp>
      <p:sp>
        <p:nvSpPr>
          <p:cNvPr id="25" name="Shape 23"/>
          <p:cNvSpPr/>
          <p:nvPr/>
        </p:nvSpPr>
        <p:spPr>
          <a:xfrm>
            <a:off x="2267712" y="3858768"/>
            <a:ext cx="1371600" cy="438912"/>
          </a:xfrm>
          <a:prstGeom prst="roundRect">
            <a:avLst>
              <a:gd name="adj" fmla="val 8333"/>
            </a:avLst>
          </a:prstGeom>
          <a:solidFill>
            <a:srgbClr val="2D3F37"/>
          </a:solidFill>
          <a:ln w="12700">
            <a:solidFill>
              <a:srgbClr val="2D3F37"/>
            </a:solidFill>
            <a:prstDash val="solid"/>
          </a:ln>
        </p:spPr>
      </p:sp>
      <p:sp>
        <p:nvSpPr>
          <p:cNvPr id="26" name="Text 24"/>
          <p:cNvSpPr/>
          <p:nvPr/>
        </p:nvSpPr>
        <p:spPr>
          <a:xfrm>
            <a:off x="2267712" y="3858768"/>
            <a:ext cx="1371600"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동선 최적화</a:t>
            </a:r>
            <a:endParaRPr lang="en-US" sz="1100" dirty="0"/>
          </a:p>
        </p:txBody>
      </p:sp>
      <p:sp>
        <p:nvSpPr>
          <p:cNvPr id="27" name="Text 25"/>
          <p:cNvSpPr/>
          <p:nvPr/>
        </p:nvSpPr>
        <p:spPr>
          <a:xfrm>
            <a:off x="4005072" y="3767328"/>
            <a:ext cx="2011680" cy="621792"/>
          </a:xfrm>
          <a:prstGeom prst="rect">
            <a:avLst/>
          </a:prstGeom>
          <a:noFill/>
          <a:ln/>
        </p:spPr>
        <p:txBody>
          <a:bodyPr wrap="square" lIns="0" tIns="0" rIns="0" bIns="0" rtlCol="0" anchor="ctr"/>
          <a:lstStyle/>
          <a:p>
            <a:pPr marL="0" indent="0">
              <a:buNone/>
            </a:pPr>
            <a:r>
              <a:rPr lang="en-US" sz="1200" b="1" dirty="0">
                <a:solidFill>
                  <a:srgbClr val="1F2937"/>
                </a:solidFill>
                <a:latin typeface="Arial" pitchFamily="34" charset="0"/>
                <a:ea typeface="Arial" pitchFamily="34" charset="-122"/>
                <a:cs typeface="Arial" pitchFamily="34" charset="-120"/>
              </a:rPr>
              <a:t>최근접 이웃 휴리스틱</a:t>
            </a:r>
            <a:endParaRPr lang="en-US" sz="1200" dirty="0"/>
          </a:p>
        </p:txBody>
      </p:sp>
      <p:sp>
        <p:nvSpPr>
          <p:cNvPr id="28" name="Text 26"/>
          <p:cNvSpPr/>
          <p:nvPr/>
        </p:nvSpPr>
        <p:spPr>
          <a:xfrm>
            <a:off x="5971032" y="3767328"/>
            <a:ext cx="2834640" cy="621792"/>
          </a:xfrm>
          <a:prstGeom prst="rect">
            <a:avLst/>
          </a:prstGeom>
          <a:noFill/>
          <a:ln/>
        </p:spPr>
        <p:txBody>
          <a:bodyPr wrap="square" lIns="0" tIns="0" rIns="0" bIns="0" rtlCol="0" anchor="ctr"/>
          <a:lstStyle/>
          <a:p>
            <a:pPr marL="0" indent="0">
              <a:buNone/>
            </a:pPr>
            <a:r>
              <a:rPr lang="en-US" sz="1100" dirty="0">
                <a:solidFill>
                  <a:srgbClr val="6B7280"/>
                </a:solidFill>
                <a:latin typeface="Arial" pitchFamily="34" charset="0"/>
                <a:ea typeface="Arial" pitchFamily="34" charset="-122"/>
                <a:cs typeface="Arial" pitchFamily="34" charset="-120"/>
              </a:rPr>
              <a:t>이동 시간 최소화 + 대중교통</a:t>
            </a:r>
            <a:endParaRPr lang="en-US" sz="1100" dirty="0"/>
          </a:p>
        </p:txBody>
      </p:sp>
      <p:sp>
        <p:nvSpPr>
          <p:cNvPr id="29" name="Shape 27"/>
          <p:cNvSpPr/>
          <p:nvPr/>
        </p:nvSpPr>
        <p:spPr>
          <a:xfrm>
            <a:off x="457200" y="2007761"/>
            <a:ext cx="868680" cy="868680"/>
          </a:xfrm>
          <a:prstGeom prst="ellipse">
            <a:avLst/>
          </a:prstGeom>
          <a:solidFill>
            <a:srgbClr val="F9FAFB"/>
          </a:solidFill>
          <a:ln w="12700">
            <a:solidFill>
              <a:srgbClr val="D1D5DB"/>
            </a:solidFill>
            <a:prstDash val="solid"/>
          </a:ln>
        </p:spPr>
      </p:sp>
      <p:sp>
        <p:nvSpPr>
          <p:cNvPr id="30" name="Text 28"/>
          <p:cNvSpPr/>
          <p:nvPr/>
        </p:nvSpPr>
        <p:spPr>
          <a:xfrm>
            <a:off x="457200" y="2007761"/>
            <a:ext cx="868680" cy="868680"/>
          </a:xfrm>
          <a:prstGeom prst="rect">
            <a:avLst/>
          </a:prstGeom>
          <a:noFill/>
          <a:ln/>
        </p:spPr>
        <p:txBody>
          <a:bodyPr wrap="square" lIns="0" tIns="0" rIns="0" bIns="0" rtlCol="0" anchor="ctr"/>
          <a:lstStyle/>
          <a:p>
            <a:pPr marL="0" indent="0" algn="ctr">
              <a:buNone/>
            </a:pPr>
            <a:r>
              <a:rPr lang="en-US" sz="2800" dirty="0">
                <a:solidFill>
                  <a:srgbClr val="000000"/>
                </a:solidFill>
                <a:latin typeface="Toss Face Font Mac" pitchFamily="2" charset="0"/>
                <a:ea typeface="Toss Face Font Mac" pitchFamily="2" charset="0"/>
                <a:cs typeface="Arial" pitchFamily="34" charset="-120"/>
              </a:rPr>
              <a:t>👤</a:t>
            </a:r>
            <a:endParaRPr lang="en-US" sz="2800" dirty="0">
              <a:latin typeface="Toss Face Font Mac" pitchFamily="2" charset="0"/>
              <a:ea typeface="Toss Face Font Mac" pitchFamily="2" charset="0"/>
            </a:endParaRPr>
          </a:p>
        </p:txBody>
      </p:sp>
      <p:sp>
        <p:nvSpPr>
          <p:cNvPr id="31" name="Text 29"/>
          <p:cNvSpPr/>
          <p:nvPr/>
        </p:nvSpPr>
        <p:spPr>
          <a:xfrm>
            <a:off x="457200" y="2922161"/>
            <a:ext cx="868680" cy="256032"/>
          </a:xfrm>
          <a:prstGeom prst="rect">
            <a:avLst/>
          </a:prstGeom>
          <a:noFill/>
          <a:ln/>
        </p:spPr>
        <p:txBody>
          <a:bodyPr wrap="square" lIns="0" tIns="0" rIns="0" bIns="0" rtlCol="0" anchor="ctr"/>
          <a:lstStyle/>
          <a:p>
            <a:pPr marL="0" indent="0" algn="ctr">
              <a:buNone/>
            </a:pPr>
            <a:r>
              <a:rPr lang="en-US" sz="1000" dirty="0">
                <a:solidFill>
                  <a:srgbClr val="6B7280"/>
                </a:solidFill>
                <a:latin typeface="Arial" pitchFamily="34" charset="0"/>
                <a:ea typeface="Arial" pitchFamily="34" charset="-122"/>
                <a:cs typeface="Arial" pitchFamily="34" charset="-120"/>
              </a:rPr>
              <a:t>사용자</a:t>
            </a:r>
            <a:endParaRPr lang="en-US" sz="1000" dirty="0"/>
          </a:p>
        </p:txBody>
      </p:sp>
      <p:sp>
        <p:nvSpPr>
          <p:cNvPr id="33" name="Text 31"/>
          <p:cNvSpPr/>
          <p:nvPr/>
        </p:nvSpPr>
        <p:spPr>
          <a:xfrm>
            <a:off x="1225296" y="2203704"/>
            <a:ext cx="804672" cy="384048"/>
          </a:xfrm>
          <a:prstGeom prst="rect">
            <a:avLst/>
          </a:prstGeom>
          <a:noFill/>
          <a:ln/>
        </p:spPr>
        <p:txBody>
          <a:bodyPr wrap="square" lIns="0" tIns="0" rIns="0" bIns="0" rtlCol="0" anchor="ctr"/>
          <a:lstStyle/>
          <a:p>
            <a:pPr marL="0" indent="0" algn="ctr">
              <a:buNone/>
            </a:pPr>
            <a:r>
              <a:rPr lang="en-US" sz="1800" dirty="0">
                <a:solidFill>
                  <a:srgbClr val="D1D5DB"/>
                </a:solidFill>
                <a:latin typeface="Arial" pitchFamily="34" charset="0"/>
                <a:ea typeface="Arial" pitchFamily="34" charset="-122"/>
                <a:cs typeface="Arial" pitchFamily="34" charset="-120"/>
              </a:rPr>
              <a:t>↔</a:t>
            </a:r>
            <a:endParaRPr lang="en-US" sz="1800" dirty="0"/>
          </a:p>
        </p:txBody>
      </p:sp>
      <p:sp>
        <p:nvSpPr>
          <p:cNvPr id="34" name="Shape 32"/>
          <p:cNvSpPr/>
          <p:nvPr/>
        </p:nvSpPr>
        <p:spPr>
          <a:xfrm>
            <a:off x="2011680" y="4572000"/>
            <a:ext cx="6675120" cy="256032"/>
          </a:xfrm>
          <a:prstGeom prst="roundRect">
            <a:avLst>
              <a:gd name="adj" fmla="val 14286"/>
            </a:avLst>
          </a:prstGeom>
          <a:solidFill>
            <a:srgbClr val="2D3F37"/>
          </a:solidFill>
          <a:ln w="12700">
            <a:solidFill>
              <a:srgbClr val="2D3F37"/>
            </a:solidFill>
            <a:prstDash val="solid"/>
          </a:ln>
        </p:spPr>
      </p:sp>
      <p:sp>
        <p:nvSpPr>
          <p:cNvPr id="35" name="Text 33"/>
          <p:cNvSpPr/>
          <p:nvPr/>
        </p:nvSpPr>
        <p:spPr>
          <a:xfrm>
            <a:off x="2011680" y="4572000"/>
            <a:ext cx="6675120" cy="256032"/>
          </a:xfrm>
          <a:prstGeom prst="rect">
            <a:avLst/>
          </a:prstGeom>
          <a:noFill/>
          <a:ln/>
        </p:spPr>
        <p:txBody>
          <a:bodyPr wrap="square" lIns="0" tIns="0" rIns="0" bIns="0" rtlCol="0" anchor="ctr"/>
          <a:lstStyle/>
          <a:p>
            <a:pPr marL="0" indent="0" algn="ctr">
              <a:buNone/>
            </a:pPr>
            <a:r>
              <a:rPr lang="en-US" sz="950" dirty="0">
                <a:solidFill>
                  <a:srgbClr val="8FA89A"/>
                </a:solidFill>
                <a:latin typeface="Arial" pitchFamily="34" charset="0"/>
                <a:ea typeface="Arial" pitchFamily="34" charset="-122"/>
                <a:cs typeface="Arial" pitchFamily="34" charset="-120"/>
              </a:rPr>
              <a:t>H2 + JPA  ·  TMAP POI  ·  국토부 TAGO 실시간 버스  ·  OSRM 보행 경로</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56032"/>
            <a:ext cx="2743200" cy="228600"/>
          </a:xfrm>
          <a:prstGeom prst="rect">
            <a:avLst/>
          </a:prstGeom>
          <a:noFill/>
          <a:ln/>
        </p:spPr>
        <p:txBody>
          <a:bodyPr wrap="square" lIns="0" tIns="0" rIns="0" bIns="0" rtlCol="0" anchor="ctr"/>
          <a:lstStyle/>
          <a:p>
            <a:pPr marL="0" indent="0">
              <a:buNone/>
            </a:pPr>
            <a:r>
              <a:rPr lang="en-US" sz="1100" kern="0" spc="200" dirty="0">
                <a:solidFill>
                  <a:srgbClr val="6B7280"/>
                </a:solidFill>
                <a:latin typeface="Arial" pitchFamily="34" charset="0"/>
                <a:ea typeface="Arial" pitchFamily="34" charset="-122"/>
                <a:cs typeface="Arial" pitchFamily="34" charset="-120"/>
              </a:rPr>
              <a:t>주요 기능</a:t>
            </a:r>
            <a:endParaRPr lang="en-US" sz="1100" dirty="0"/>
          </a:p>
        </p:txBody>
      </p:sp>
      <p:sp>
        <p:nvSpPr>
          <p:cNvPr id="3" name="Shape 1"/>
          <p:cNvSpPr/>
          <p:nvPr/>
        </p:nvSpPr>
        <p:spPr>
          <a:xfrm>
            <a:off x="411480" y="843173"/>
            <a:ext cx="3520440" cy="146304"/>
          </a:xfrm>
          <a:prstGeom prst="rect">
            <a:avLst/>
          </a:prstGeom>
          <a:solidFill>
            <a:srgbClr val="03B083">
              <a:alpha val="45000"/>
            </a:srgbClr>
          </a:solidFill>
          <a:ln w="12700">
            <a:noFill/>
            <a:prstDash val="solid"/>
          </a:ln>
        </p:spPr>
      </p:sp>
      <p:pic>
        <p:nvPicPr>
          <p:cNvPr id="6" name="Image 0" descr="/Users/kimtaehun/Documents/2026프로젝트/인공지능_여행앱_따라와유_프로젝트/선문대_창업아이디어_경진대회/app_screens/mockup_phone1.png"/>
          <p:cNvPicPr>
            <a:picLocks noChangeAspect="1"/>
          </p:cNvPicPr>
          <p:nvPr/>
        </p:nvPicPr>
        <p:blipFill>
          <a:blip r:embed="rId3"/>
          <a:stretch>
            <a:fillRect/>
          </a:stretch>
        </p:blipFill>
        <p:spPr>
          <a:xfrm>
            <a:off x="2031094" y="1120140"/>
            <a:ext cx="1691640" cy="3566160"/>
          </a:xfrm>
          <a:prstGeom prst="rect">
            <a:avLst/>
          </a:prstGeom>
        </p:spPr>
      </p:pic>
      <p:pic>
        <p:nvPicPr>
          <p:cNvPr id="7" name="Image 1" descr="/Users/kimtaehun/Documents/2026프로젝트/인공지능_여행앱_따라와유_프로젝트/선문대_창업아이디어_경진대회/app_screens/mockup_phone2.png"/>
          <p:cNvPicPr>
            <a:picLocks noChangeAspect="1"/>
          </p:cNvPicPr>
          <p:nvPr/>
        </p:nvPicPr>
        <p:blipFill>
          <a:blip r:embed="rId4"/>
          <a:stretch>
            <a:fillRect/>
          </a:stretch>
        </p:blipFill>
        <p:spPr>
          <a:xfrm>
            <a:off x="5917294" y="1120140"/>
            <a:ext cx="1691640" cy="3566160"/>
          </a:xfrm>
          <a:prstGeom prst="rect">
            <a:avLst/>
          </a:prstGeom>
        </p:spPr>
      </p:pic>
      <p:sp>
        <p:nvSpPr>
          <p:cNvPr id="8" name="Text 4"/>
          <p:cNvSpPr/>
          <p:nvPr/>
        </p:nvSpPr>
        <p:spPr>
          <a:xfrm>
            <a:off x="2031094" y="4742178"/>
            <a:ext cx="1691640" cy="256032"/>
          </a:xfrm>
          <a:prstGeom prst="rect">
            <a:avLst/>
          </a:prstGeom>
          <a:noFill/>
          <a:ln/>
        </p:spPr>
        <p:txBody>
          <a:bodyPr wrap="square" lIns="0" tIns="0" rIns="0" bIns="0" rtlCol="0" anchor="ctr"/>
          <a:lstStyle/>
          <a:p>
            <a:pPr marL="0" indent="0" algn="ctr">
              <a:buNone/>
            </a:pPr>
            <a:r>
              <a:rPr lang="en-US" sz="1200" b="1" dirty="0">
                <a:solidFill>
                  <a:srgbClr val="03B083"/>
                </a:solidFill>
                <a:latin typeface="Arial" pitchFamily="34" charset="0"/>
                <a:ea typeface="Arial" pitchFamily="34" charset="-122"/>
                <a:cs typeface="Arial" pitchFamily="34" charset="-120"/>
              </a:rPr>
              <a:t>① 취향 질문</a:t>
            </a:r>
            <a:endParaRPr lang="en-US" sz="1200" dirty="0"/>
          </a:p>
        </p:txBody>
      </p:sp>
      <p:sp>
        <p:nvSpPr>
          <p:cNvPr id="9" name="Text 5"/>
          <p:cNvSpPr/>
          <p:nvPr/>
        </p:nvSpPr>
        <p:spPr>
          <a:xfrm>
            <a:off x="5917294" y="4742178"/>
            <a:ext cx="1691640" cy="256032"/>
          </a:xfrm>
          <a:prstGeom prst="rect">
            <a:avLst/>
          </a:prstGeom>
          <a:noFill/>
          <a:ln/>
        </p:spPr>
        <p:txBody>
          <a:bodyPr wrap="square" lIns="0" tIns="0" rIns="0" bIns="0" rtlCol="0" anchor="ctr"/>
          <a:lstStyle/>
          <a:p>
            <a:pPr marL="0" indent="0" algn="ctr">
              <a:buNone/>
            </a:pPr>
            <a:r>
              <a:rPr lang="en-US" sz="1200" b="1" dirty="0">
                <a:solidFill>
                  <a:srgbClr val="03B083"/>
                </a:solidFill>
                <a:latin typeface="Arial" pitchFamily="34" charset="0"/>
                <a:ea typeface="Arial" pitchFamily="34" charset="-122"/>
                <a:cs typeface="Arial" pitchFamily="34" charset="-120"/>
              </a:rPr>
              <a:t>② 자연어 취향 입력</a:t>
            </a:r>
            <a:endParaRPr lang="en-US" sz="1200" dirty="0"/>
          </a:p>
        </p:txBody>
      </p:sp>
      <p:sp>
        <p:nvSpPr>
          <p:cNvPr id="10" name="Shape 6"/>
          <p:cNvSpPr/>
          <p:nvPr/>
        </p:nvSpPr>
        <p:spPr>
          <a:xfrm>
            <a:off x="2168254" y="1805940"/>
            <a:ext cx="109728" cy="109728"/>
          </a:xfrm>
          <a:prstGeom prst="ellipse">
            <a:avLst/>
          </a:prstGeom>
          <a:solidFill>
            <a:srgbClr val="03B083"/>
          </a:solidFill>
          <a:ln w="12700">
            <a:solidFill>
              <a:schemeClr val="accent2">
                <a:lumMod val="75000"/>
              </a:schemeClr>
            </a:solidFill>
            <a:prstDash val="solid"/>
          </a:ln>
        </p:spPr>
      </p:sp>
      <p:sp>
        <p:nvSpPr>
          <p:cNvPr id="11" name="Shape 7"/>
          <p:cNvSpPr/>
          <p:nvPr/>
        </p:nvSpPr>
        <p:spPr>
          <a:xfrm flipV="1">
            <a:off x="1738486" y="1860786"/>
            <a:ext cx="466324" cy="0"/>
          </a:xfrm>
          <a:prstGeom prst="line">
            <a:avLst/>
          </a:prstGeom>
          <a:noFill/>
          <a:ln w="9525">
            <a:solidFill>
              <a:srgbClr val="8FA89A"/>
            </a:solidFill>
            <a:prstDash val="dash"/>
          </a:ln>
        </p:spPr>
      </p:sp>
      <p:sp>
        <p:nvSpPr>
          <p:cNvPr id="13" name="Text 9"/>
          <p:cNvSpPr/>
          <p:nvPr/>
        </p:nvSpPr>
        <p:spPr>
          <a:xfrm>
            <a:off x="6351" y="1665504"/>
            <a:ext cx="1691640" cy="365760"/>
          </a:xfrm>
          <a:prstGeom prst="rect">
            <a:avLst/>
          </a:prstGeom>
          <a:noFill/>
          <a:ln/>
        </p:spPr>
        <p:txBody>
          <a:bodyPr wrap="square" lIns="0" tIns="0" rIns="0" bIns="0" rtlCol="0" anchor="ctr"/>
          <a:lstStyle/>
          <a:p>
            <a:pPr marL="0" indent="0" algn="r">
              <a:buNone/>
            </a:pPr>
            <a:r>
              <a:rPr lang="en-US" sz="1050" dirty="0">
                <a:solidFill>
                  <a:srgbClr val="1F2937"/>
                </a:solidFill>
                <a:latin typeface="Arial" pitchFamily="34" charset="0"/>
                <a:ea typeface="Arial" pitchFamily="34" charset="-122"/>
                <a:cs typeface="Arial" pitchFamily="34" charset="-120"/>
              </a:rPr>
              <a:t>8가지 질문을</a:t>
            </a:r>
            <a:endParaRPr lang="en-US" sz="1050" dirty="0"/>
          </a:p>
          <a:p>
            <a:pPr marL="0" indent="0" algn="r">
              <a:buNone/>
            </a:pPr>
            <a:r>
              <a:rPr lang="en-US" sz="1050" dirty="0">
                <a:solidFill>
                  <a:srgbClr val="1F2937"/>
                </a:solidFill>
                <a:latin typeface="Arial" pitchFamily="34" charset="0"/>
                <a:ea typeface="Arial" pitchFamily="34" charset="-122"/>
                <a:cs typeface="Arial" pitchFamily="34" charset="-120"/>
              </a:rPr>
              <a:t>한 화면에 하나씩</a:t>
            </a:r>
            <a:endParaRPr lang="en-US" sz="1050" dirty="0"/>
          </a:p>
        </p:txBody>
      </p:sp>
      <p:sp>
        <p:nvSpPr>
          <p:cNvPr id="16" name="Shape 12"/>
          <p:cNvSpPr/>
          <p:nvPr/>
        </p:nvSpPr>
        <p:spPr>
          <a:xfrm>
            <a:off x="1656198" y="2818328"/>
            <a:ext cx="548600" cy="0"/>
          </a:xfrm>
          <a:prstGeom prst="line">
            <a:avLst/>
          </a:prstGeom>
          <a:noFill/>
          <a:ln w="9525">
            <a:solidFill>
              <a:srgbClr val="8FA89A"/>
            </a:solidFill>
            <a:prstDash val="dash"/>
          </a:ln>
        </p:spPr>
      </p:sp>
      <p:sp>
        <p:nvSpPr>
          <p:cNvPr id="17" name="Text 13"/>
          <p:cNvSpPr/>
          <p:nvPr/>
        </p:nvSpPr>
        <p:spPr>
          <a:xfrm>
            <a:off x="-62874" y="2635431"/>
            <a:ext cx="1691640" cy="365760"/>
          </a:xfrm>
          <a:prstGeom prst="rect">
            <a:avLst/>
          </a:prstGeom>
          <a:noFill/>
          <a:ln/>
        </p:spPr>
        <p:txBody>
          <a:bodyPr wrap="square" lIns="0" tIns="0" rIns="0" bIns="0" rtlCol="0" anchor="ctr"/>
          <a:lstStyle/>
          <a:p>
            <a:pPr marL="0" indent="0" algn="r">
              <a:buNone/>
            </a:pPr>
            <a:r>
              <a:rPr lang="en-US" sz="1050" dirty="0">
                <a:solidFill>
                  <a:srgbClr val="1F2937"/>
                </a:solidFill>
                <a:latin typeface="Arial" pitchFamily="34" charset="0"/>
                <a:ea typeface="Arial" pitchFamily="34" charset="-122"/>
                <a:cs typeface="Arial" pitchFamily="34" charset="-120"/>
              </a:rPr>
              <a:t>목적·MBTI·음식</a:t>
            </a:r>
            <a:endParaRPr lang="en-US" sz="1050" dirty="0"/>
          </a:p>
        </p:txBody>
      </p:sp>
      <p:sp>
        <p:nvSpPr>
          <p:cNvPr id="19" name="Shape 15"/>
          <p:cNvSpPr/>
          <p:nvPr/>
        </p:nvSpPr>
        <p:spPr>
          <a:xfrm flipV="1">
            <a:off x="1395586" y="4230416"/>
            <a:ext cx="809212" cy="0"/>
          </a:xfrm>
          <a:prstGeom prst="line">
            <a:avLst/>
          </a:prstGeom>
          <a:noFill/>
          <a:ln w="9525">
            <a:solidFill>
              <a:srgbClr val="8FA89A"/>
            </a:solidFill>
            <a:prstDash val="dash"/>
          </a:ln>
        </p:spPr>
      </p:sp>
      <p:sp>
        <p:nvSpPr>
          <p:cNvPr id="21" name="Text 17"/>
          <p:cNvSpPr/>
          <p:nvPr/>
        </p:nvSpPr>
        <p:spPr>
          <a:xfrm>
            <a:off x="-364634" y="4032505"/>
            <a:ext cx="1691640" cy="365760"/>
          </a:xfrm>
          <a:prstGeom prst="rect">
            <a:avLst/>
          </a:prstGeom>
          <a:noFill/>
          <a:ln/>
        </p:spPr>
        <p:txBody>
          <a:bodyPr wrap="square" lIns="0" tIns="0" rIns="0" bIns="0" rtlCol="0" anchor="ctr"/>
          <a:lstStyle/>
          <a:p>
            <a:pPr marL="0" indent="0" algn="r">
              <a:buNone/>
            </a:pPr>
            <a:r>
              <a:rPr lang="en-US" sz="1050" dirty="0">
                <a:solidFill>
                  <a:srgbClr val="1F2937"/>
                </a:solidFill>
                <a:latin typeface="Arial" pitchFamily="34" charset="0"/>
                <a:ea typeface="Arial" pitchFamily="34" charset="-122"/>
                <a:cs typeface="Arial" pitchFamily="34" charset="-120"/>
              </a:rPr>
              <a:t>언제든 설정에서</a:t>
            </a:r>
            <a:endParaRPr lang="en-US" sz="1050" dirty="0"/>
          </a:p>
          <a:p>
            <a:pPr marL="0" indent="0" algn="r">
              <a:buNone/>
            </a:pPr>
            <a:r>
              <a:rPr lang="en-US" sz="1050" dirty="0">
                <a:solidFill>
                  <a:srgbClr val="1F2937"/>
                </a:solidFill>
                <a:latin typeface="Arial" pitchFamily="34" charset="0"/>
                <a:ea typeface="Arial" pitchFamily="34" charset="-122"/>
                <a:cs typeface="Arial" pitchFamily="34" charset="-120"/>
              </a:rPr>
              <a:t>예산·지역 수정</a:t>
            </a:r>
            <a:endParaRPr lang="en-US" sz="1050" dirty="0"/>
          </a:p>
        </p:txBody>
      </p:sp>
      <p:sp>
        <p:nvSpPr>
          <p:cNvPr id="27" name="Shape 23"/>
          <p:cNvSpPr/>
          <p:nvPr/>
        </p:nvSpPr>
        <p:spPr>
          <a:xfrm flipV="1">
            <a:off x="7492675" y="2998578"/>
            <a:ext cx="448050" cy="2613"/>
          </a:xfrm>
          <a:prstGeom prst="line">
            <a:avLst/>
          </a:prstGeom>
          <a:noFill/>
          <a:ln w="9525">
            <a:solidFill>
              <a:srgbClr val="8FA89A"/>
            </a:solidFill>
            <a:prstDash val="dash"/>
          </a:ln>
        </p:spPr>
      </p:sp>
      <p:sp>
        <p:nvSpPr>
          <p:cNvPr id="29" name="Text 25"/>
          <p:cNvSpPr/>
          <p:nvPr/>
        </p:nvSpPr>
        <p:spPr>
          <a:xfrm>
            <a:off x="7990364" y="2720340"/>
            <a:ext cx="1691640" cy="365760"/>
          </a:xfrm>
          <a:prstGeom prst="rect">
            <a:avLst/>
          </a:prstGeom>
          <a:noFill/>
          <a:ln/>
        </p:spPr>
        <p:txBody>
          <a:bodyPr wrap="square" lIns="0" tIns="0" rIns="0" bIns="0" rtlCol="0" anchor="ctr"/>
          <a:lstStyle/>
          <a:p>
            <a:pPr marL="0" indent="0" algn="l">
              <a:buNone/>
            </a:pPr>
            <a:r>
              <a:rPr lang="en-US" sz="1050" dirty="0">
                <a:solidFill>
                  <a:srgbClr val="1F2937"/>
                </a:solidFill>
                <a:latin typeface="Arial" pitchFamily="34" charset="0"/>
                <a:ea typeface="Arial" pitchFamily="34" charset="-122"/>
                <a:cs typeface="Arial" pitchFamily="34" charset="-120"/>
              </a:rPr>
              <a:t>"조용한 카페 위주로"</a:t>
            </a:r>
            <a:endParaRPr lang="en-US" sz="1050" dirty="0"/>
          </a:p>
          <a:p>
            <a:pPr marL="0" indent="0" algn="l">
              <a:buNone/>
            </a:pPr>
            <a:r>
              <a:rPr lang="en-US" sz="1050" dirty="0">
                <a:solidFill>
                  <a:srgbClr val="1F2937"/>
                </a:solidFill>
                <a:latin typeface="Arial" pitchFamily="34" charset="0"/>
                <a:ea typeface="Arial" pitchFamily="34" charset="-122"/>
                <a:cs typeface="Arial" pitchFamily="34" charset="-120"/>
              </a:rPr>
              <a:t>문장 그대로 반영</a:t>
            </a:r>
            <a:endParaRPr lang="en-US" sz="1050" dirty="0"/>
          </a:p>
        </p:txBody>
      </p:sp>
      <p:sp>
        <p:nvSpPr>
          <p:cNvPr id="34" name="Text 30"/>
          <p:cNvSpPr/>
          <p:nvPr/>
        </p:nvSpPr>
        <p:spPr>
          <a:xfrm>
            <a:off x="3951334" y="2628900"/>
            <a:ext cx="1828800" cy="548640"/>
          </a:xfrm>
          <a:prstGeom prst="rect">
            <a:avLst/>
          </a:prstGeom>
          <a:noFill/>
          <a:ln/>
        </p:spPr>
        <p:txBody>
          <a:bodyPr wrap="square" lIns="0" tIns="0" rIns="0" bIns="0" rtlCol="0" anchor="ctr"/>
          <a:lstStyle/>
          <a:p>
            <a:pPr marL="0" indent="0" algn="ctr">
              <a:buNone/>
            </a:pPr>
            <a:r>
              <a:rPr lang="en-US" sz="3200" b="1" dirty="0">
                <a:solidFill>
                  <a:srgbClr val="D1D5DB"/>
                </a:solidFill>
                <a:latin typeface="Arial" pitchFamily="34" charset="0"/>
                <a:ea typeface="Arial" pitchFamily="34" charset="-122"/>
                <a:cs typeface="Arial" pitchFamily="34" charset="-120"/>
              </a:rPr>
              <a:t>→</a:t>
            </a:r>
            <a:endParaRPr lang="en-US" sz="3200" dirty="0"/>
          </a:p>
        </p:txBody>
      </p:sp>
      <p:sp>
        <p:nvSpPr>
          <p:cNvPr id="35" name="Text 31"/>
          <p:cNvSpPr/>
          <p:nvPr/>
        </p:nvSpPr>
        <p:spPr>
          <a:xfrm>
            <a:off x="3814174" y="3195828"/>
            <a:ext cx="2011680" cy="475488"/>
          </a:xfrm>
          <a:prstGeom prst="rect">
            <a:avLst/>
          </a:prstGeom>
          <a:noFill/>
          <a:ln/>
        </p:spPr>
        <p:txBody>
          <a:bodyPr wrap="square" lIns="0" tIns="0" rIns="0" bIns="0" rtlCol="0" anchor="ctr"/>
          <a:lstStyle/>
          <a:p>
            <a:pPr marL="0" indent="0" algn="ctr">
              <a:buNone/>
            </a:pPr>
            <a:r>
              <a:rPr lang="en-US" sz="1000" dirty="0">
                <a:solidFill>
                  <a:srgbClr val="6B7280"/>
                </a:solidFill>
                <a:latin typeface="Arial" pitchFamily="34" charset="0"/>
                <a:ea typeface="Arial" pitchFamily="34" charset="-122"/>
                <a:cs typeface="Arial" pitchFamily="34" charset="-120"/>
              </a:rPr>
              <a:t>답을 모으면</a:t>
            </a:r>
            <a:endParaRPr lang="en-US" sz="1000" dirty="0"/>
          </a:p>
          <a:p>
            <a:pPr marL="0" indent="0" algn="ctr">
              <a:buNone/>
            </a:pPr>
            <a:r>
              <a:rPr lang="en-US" sz="1000" dirty="0">
                <a:solidFill>
                  <a:srgbClr val="6B7280"/>
                </a:solidFill>
                <a:latin typeface="Arial" pitchFamily="34" charset="0"/>
                <a:ea typeface="Arial" pitchFamily="34" charset="-122"/>
                <a:cs typeface="Arial" pitchFamily="34" charset="-120"/>
              </a:rPr>
              <a:t>AI가 설계</a:t>
            </a:r>
            <a:endParaRPr lang="en-US" sz="1000" dirty="0"/>
          </a:p>
        </p:txBody>
      </p:sp>
      <p:sp>
        <p:nvSpPr>
          <p:cNvPr id="14" name="Shape 10"/>
          <p:cNvSpPr/>
          <p:nvPr/>
        </p:nvSpPr>
        <p:spPr>
          <a:xfrm>
            <a:off x="2149946" y="2763447"/>
            <a:ext cx="109728" cy="109728"/>
          </a:xfrm>
          <a:prstGeom prst="ellipse">
            <a:avLst/>
          </a:prstGeom>
          <a:solidFill>
            <a:srgbClr val="03B083"/>
          </a:solidFill>
          <a:ln w="12700">
            <a:solidFill>
              <a:schemeClr val="accent2">
                <a:lumMod val="75000"/>
              </a:schemeClr>
            </a:solidFill>
            <a:prstDash val="solid"/>
          </a:ln>
        </p:spPr>
      </p:sp>
      <p:sp>
        <p:nvSpPr>
          <p:cNvPr id="36" name="Shape 14">
            <a:extLst>
              <a:ext uri="{FF2B5EF4-FFF2-40B4-BE49-F238E27FC236}">
                <a16:creationId xmlns:a16="http://schemas.microsoft.com/office/drawing/2014/main" id="{A086020A-3DE7-154D-9B9E-4A2C86EDE920}"/>
              </a:ext>
            </a:extLst>
          </p:cNvPr>
          <p:cNvSpPr/>
          <p:nvPr/>
        </p:nvSpPr>
        <p:spPr>
          <a:xfrm>
            <a:off x="2149946" y="4176858"/>
            <a:ext cx="109728" cy="109728"/>
          </a:xfrm>
          <a:prstGeom prst="ellipse">
            <a:avLst/>
          </a:prstGeom>
          <a:solidFill>
            <a:srgbClr val="03B083"/>
          </a:solidFill>
          <a:ln w="12700">
            <a:solidFill>
              <a:schemeClr val="accent2">
                <a:lumMod val="75000"/>
              </a:schemeClr>
            </a:solidFill>
            <a:prstDash val="solid"/>
          </a:ln>
        </p:spPr>
      </p:sp>
      <p:sp>
        <p:nvSpPr>
          <p:cNvPr id="37" name="Shape 22">
            <a:extLst>
              <a:ext uri="{FF2B5EF4-FFF2-40B4-BE49-F238E27FC236}">
                <a16:creationId xmlns:a16="http://schemas.microsoft.com/office/drawing/2014/main" id="{35F526ED-BA4C-7344-8CF0-0EFF5171A3C8}"/>
              </a:ext>
            </a:extLst>
          </p:cNvPr>
          <p:cNvSpPr/>
          <p:nvPr/>
        </p:nvSpPr>
        <p:spPr>
          <a:xfrm>
            <a:off x="7437811" y="2946327"/>
            <a:ext cx="109728" cy="109728"/>
          </a:xfrm>
          <a:prstGeom prst="ellipse">
            <a:avLst/>
          </a:prstGeom>
          <a:solidFill>
            <a:srgbClr val="03B083"/>
          </a:solidFill>
          <a:ln w="12700">
            <a:solidFill>
              <a:schemeClr val="accent2">
                <a:lumMod val="75000"/>
              </a:schemeClr>
            </a:solidFill>
            <a:prstDash val="solid"/>
          </a:ln>
        </p:spPr>
      </p:sp>
      <p:sp>
        <p:nvSpPr>
          <p:cNvPr id="40" name="Text 2">
            <a:extLst>
              <a:ext uri="{FF2B5EF4-FFF2-40B4-BE49-F238E27FC236}">
                <a16:creationId xmlns:a16="http://schemas.microsoft.com/office/drawing/2014/main" id="{7D05C932-736F-214B-B386-B7EF5894A6BA}"/>
              </a:ext>
            </a:extLst>
          </p:cNvPr>
          <p:cNvSpPr/>
          <p:nvPr/>
        </p:nvSpPr>
        <p:spPr>
          <a:xfrm>
            <a:off x="411480" y="457200"/>
            <a:ext cx="6400800" cy="502920"/>
          </a:xfrm>
          <a:prstGeom prst="rect">
            <a:avLst/>
          </a:prstGeom>
          <a:noFill/>
          <a:ln/>
        </p:spPr>
        <p:txBody>
          <a:bodyPr wrap="square" lIns="0" tIns="0" rIns="0" bIns="0" rtlCol="0" anchor="ctr"/>
          <a:lstStyle/>
          <a:p>
            <a:pPr marL="0" indent="0">
              <a:buNone/>
            </a:pPr>
            <a:r>
              <a:rPr lang="en-US" sz="3600" b="1" dirty="0">
                <a:solidFill>
                  <a:srgbClr val="1F2937"/>
                </a:solidFill>
                <a:latin typeface="Arial" pitchFamily="34" charset="0"/>
                <a:ea typeface="Arial" pitchFamily="34" charset="-122"/>
                <a:cs typeface="Arial" pitchFamily="34" charset="-120"/>
              </a:rPr>
              <a:t>취향 질문 · 자연어 입력</a:t>
            </a:r>
            <a:endParaRPr lang="en-US" sz="3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56032"/>
            <a:ext cx="2743200" cy="228600"/>
          </a:xfrm>
          <a:prstGeom prst="rect">
            <a:avLst/>
          </a:prstGeom>
          <a:noFill/>
          <a:ln/>
        </p:spPr>
        <p:txBody>
          <a:bodyPr wrap="square" lIns="0" tIns="0" rIns="0" bIns="0" rtlCol="0" anchor="ctr"/>
          <a:lstStyle/>
          <a:p>
            <a:pPr marL="0" indent="0">
              <a:buNone/>
            </a:pPr>
            <a:r>
              <a:rPr lang="en-US" sz="1100" kern="0" spc="200" dirty="0">
                <a:solidFill>
                  <a:srgbClr val="6B7280"/>
                </a:solidFill>
                <a:latin typeface="Arial" pitchFamily="34" charset="0"/>
                <a:ea typeface="Arial" pitchFamily="34" charset="-122"/>
                <a:cs typeface="Arial" pitchFamily="34" charset="-120"/>
              </a:rPr>
              <a:t>주요 기능</a:t>
            </a:r>
            <a:endParaRPr lang="en-US" sz="1100" dirty="0"/>
          </a:p>
        </p:txBody>
      </p:sp>
      <p:sp>
        <p:nvSpPr>
          <p:cNvPr id="3" name="Shape 1"/>
          <p:cNvSpPr/>
          <p:nvPr/>
        </p:nvSpPr>
        <p:spPr>
          <a:xfrm>
            <a:off x="393191" y="776260"/>
            <a:ext cx="4528893" cy="220436"/>
          </a:xfrm>
          <a:prstGeom prst="rect">
            <a:avLst/>
          </a:prstGeom>
          <a:solidFill>
            <a:srgbClr val="03B083">
              <a:alpha val="45000"/>
            </a:srgbClr>
          </a:solidFill>
          <a:ln w="12700">
            <a:noFill/>
            <a:prstDash val="solid"/>
          </a:ln>
        </p:spPr>
      </p:sp>
      <p:pic>
        <p:nvPicPr>
          <p:cNvPr id="6" name="Image 0" descr="/Users/kimtaehun/Documents/2026프로젝트/인공지능_여행앱_따라와유_프로젝트/선문대_창업아이디어_경진대회/app_screens/mockup_phone3.png"/>
          <p:cNvPicPr>
            <a:picLocks noChangeAspect="1"/>
          </p:cNvPicPr>
          <p:nvPr/>
        </p:nvPicPr>
        <p:blipFill>
          <a:blip r:embed="rId3"/>
          <a:stretch>
            <a:fillRect/>
          </a:stretch>
        </p:blipFill>
        <p:spPr>
          <a:xfrm>
            <a:off x="894689" y="1323133"/>
            <a:ext cx="1463039" cy="3087693"/>
          </a:xfrm>
          <a:prstGeom prst="rect">
            <a:avLst/>
          </a:prstGeom>
        </p:spPr>
      </p:pic>
      <p:pic>
        <p:nvPicPr>
          <p:cNvPr id="7" name="Image 1" descr="/Users/kimtaehun/Documents/2026프로젝트/인공지능_여행앱_따라와유_프로젝트/선문대_창업아이디어_경진대회/app_screens/mockup_phone4.png"/>
          <p:cNvPicPr>
            <a:picLocks noChangeAspect="1"/>
          </p:cNvPicPr>
          <p:nvPr/>
        </p:nvPicPr>
        <p:blipFill>
          <a:blip r:embed="rId4"/>
          <a:stretch>
            <a:fillRect/>
          </a:stretch>
        </p:blipFill>
        <p:spPr>
          <a:xfrm>
            <a:off x="3840480" y="1323133"/>
            <a:ext cx="1463039" cy="3087693"/>
          </a:xfrm>
          <a:prstGeom prst="rect">
            <a:avLst/>
          </a:prstGeom>
        </p:spPr>
      </p:pic>
      <p:pic>
        <p:nvPicPr>
          <p:cNvPr id="8" name="Image 2" descr="/Users/kimtaehun/Documents/2026프로젝트/인공지능_여행앱_따라와유_프로젝트/선문대_창업아이디어_경진대회/app_screens/mockup_phone5.png"/>
          <p:cNvPicPr>
            <a:picLocks noChangeAspect="1"/>
          </p:cNvPicPr>
          <p:nvPr/>
        </p:nvPicPr>
        <p:blipFill>
          <a:blip r:embed="rId5"/>
          <a:stretch>
            <a:fillRect/>
          </a:stretch>
        </p:blipFill>
        <p:spPr>
          <a:xfrm>
            <a:off x="5760720" y="1323133"/>
            <a:ext cx="1463039" cy="3087693"/>
          </a:xfrm>
          <a:prstGeom prst="rect">
            <a:avLst/>
          </a:prstGeom>
        </p:spPr>
      </p:pic>
      <p:sp>
        <p:nvSpPr>
          <p:cNvPr id="9" name="Text 4"/>
          <p:cNvSpPr/>
          <p:nvPr/>
        </p:nvSpPr>
        <p:spPr>
          <a:xfrm>
            <a:off x="891540" y="1121492"/>
            <a:ext cx="1463039" cy="137160"/>
          </a:xfrm>
          <a:prstGeom prst="rect">
            <a:avLst/>
          </a:prstGeom>
          <a:noFill/>
          <a:ln/>
        </p:spPr>
        <p:txBody>
          <a:bodyPr wrap="square" lIns="0" tIns="0" rIns="0" bIns="0" rtlCol="0" anchor="ctr"/>
          <a:lstStyle/>
          <a:p>
            <a:pPr marL="0" indent="0" algn="ctr">
              <a:buNone/>
            </a:pPr>
            <a:r>
              <a:rPr lang="en-US" sz="1100" b="1" dirty="0">
                <a:solidFill>
                  <a:srgbClr val="03B083"/>
                </a:solidFill>
                <a:latin typeface="Arial" pitchFamily="34" charset="0"/>
                <a:ea typeface="Arial" pitchFamily="34" charset="-122"/>
                <a:cs typeface="Arial" pitchFamily="34" charset="-120"/>
              </a:rPr>
              <a:t>③ AI 플랜 완성</a:t>
            </a:r>
            <a:endParaRPr lang="en-US" sz="1100" dirty="0"/>
          </a:p>
        </p:txBody>
      </p:sp>
      <p:sp>
        <p:nvSpPr>
          <p:cNvPr id="10" name="Text 5"/>
          <p:cNvSpPr/>
          <p:nvPr/>
        </p:nvSpPr>
        <p:spPr>
          <a:xfrm>
            <a:off x="3840479" y="1124712"/>
            <a:ext cx="1463039" cy="137160"/>
          </a:xfrm>
          <a:prstGeom prst="rect">
            <a:avLst/>
          </a:prstGeom>
          <a:noFill/>
          <a:ln/>
        </p:spPr>
        <p:txBody>
          <a:bodyPr wrap="square" lIns="0" tIns="0" rIns="0" bIns="0" rtlCol="0" anchor="ctr"/>
          <a:lstStyle/>
          <a:p>
            <a:pPr marL="0" indent="0" algn="ctr">
              <a:buNone/>
            </a:pPr>
            <a:r>
              <a:rPr lang="en-US" sz="1100" b="1" dirty="0">
                <a:solidFill>
                  <a:srgbClr val="03B083"/>
                </a:solidFill>
                <a:latin typeface="Arial" pitchFamily="34" charset="0"/>
                <a:ea typeface="Arial" pitchFamily="34" charset="-122"/>
                <a:cs typeface="Arial" pitchFamily="34" charset="-120"/>
              </a:rPr>
              <a:t>④ 비밀 경로 안내</a:t>
            </a:r>
            <a:endParaRPr lang="en-US" sz="1100" dirty="0"/>
          </a:p>
        </p:txBody>
      </p:sp>
      <p:sp>
        <p:nvSpPr>
          <p:cNvPr id="11" name="Text 6"/>
          <p:cNvSpPr/>
          <p:nvPr/>
        </p:nvSpPr>
        <p:spPr>
          <a:xfrm>
            <a:off x="5755640" y="1124712"/>
            <a:ext cx="1463039" cy="137160"/>
          </a:xfrm>
          <a:prstGeom prst="rect">
            <a:avLst/>
          </a:prstGeom>
          <a:noFill/>
          <a:ln/>
        </p:spPr>
        <p:txBody>
          <a:bodyPr wrap="square" lIns="0" tIns="0" rIns="0" bIns="0" rtlCol="0" anchor="ctr"/>
          <a:lstStyle/>
          <a:p>
            <a:pPr marL="0" indent="0" algn="ctr">
              <a:buNone/>
            </a:pPr>
            <a:r>
              <a:rPr lang="en-US" sz="1100" b="1" dirty="0">
                <a:solidFill>
                  <a:srgbClr val="03B083"/>
                </a:solidFill>
                <a:latin typeface="Arial" pitchFamily="34" charset="0"/>
                <a:ea typeface="Arial" pitchFamily="34" charset="-122"/>
                <a:cs typeface="Arial" pitchFamily="34" charset="-120"/>
              </a:rPr>
              <a:t>⑤ 도착 시 공개</a:t>
            </a:r>
            <a:endParaRPr lang="en-US" sz="1100" dirty="0"/>
          </a:p>
        </p:txBody>
      </p:sp>
      <p:sp>
        <p:nvSpPr>
          <p:cNvPr id="13" name="Shape 8"/>
          <p:cNvSpPr/>
          <p:nvPr/>
        </p:nvSpPr>
        <p:spPr>
          <a:xfrm>
            <a:off x="2165706" y="1806276"/>
            <a:ext cx="612648" cy="16222"/>
          </a:xfrm>
          <a:prstGeom prst="line">
            <a:avLst/>
          </a:prstGeom>
          <a:noFill/>
          <a:ln w="9525">
            <a:solidFill>
              <a:srgbClr val="8FA89A"/>
            </a:solidFill>
            <a:prstDash val="dash"/>
          </a:ln>
        </p:spPr>
      </p:sp>
      <p:sp>
        <p:nvSpPr>
          <p:cNvPr id="14" name="Shape 9"/>
          <p:cNvSpPr/>
          <p:nvPr/>
        </p:nvSpPr>
        <p:spPr>
          <a:xfrm>
            <a:off x="2266290" y="1751412"/>
            <a:ext cx="0" cy="54864"/>
          </a:xfrm>
          <a:prstGeom prst="line">
            <a:avLst/>
          </a:prstGeom>
          <a:noFill/>
          <a:ln w="9525">
            <a:solidFill>
              <a:srgbClr val="8FA89A"/>
            </a:solidFill>
            <a:prstDash val="dash"/>
          </a:ln>
        </p:spPr>
      </p:sp>
      <p:sp>
        <p:nvSpPr>
          <p:cNvPr id="15" name="Text 10"/>
          <p:cNvSpPr/>
          <p:nvPr/>
        </p:nvSpPr>
        <p:spPr>
          <a:xfrm>
            <a:off x="1734745" y="1641684"/>
            <a:ext cx="1691640" cy="486148"/>
          </a:xfrm>
          <a:prstGeom prst="rect">
            <a:avLst/>
          </a:prstGeom>
          <a:noFill/>
          <a:ln/>
        </p:spPr>
        <p:txBody>
          <a:bodyPr wrap="square" lIns="0" tIns="0" rIns="0" bIns="0" rtlCol="0" anchor="ctr"/>
          <a:lstStyle/>
          <a:p>
            <a:pPr marL="0" indent="0" algn="r">
              <a:buNone/>
            </a:pPr>
            <a:r>
              <a:rPr lang="en-US" sz="1050" dirty="0">
                <a:solidFill>
                  <a:srgbClr val="1F2937"/>
                </a:solidFill>
                <a:latin typeface="Arial" pitchFamily="34" charset="0"/>
                <a:ea typeface="Arial" pitchFamily="34" charset="-122"/>
                <a:cs typeface="Arial" pitchFamily="34" charset="-120"/>
              </a:rPr>
              <a:t>예산 배분과</a:t>
            </a:r>
            <a:endParaRPr lang="en-US" sz="1050" dirty="0"/>
          </a:p>
          <a:p>
            <a:pPr marL="0" indent="0" algn="r">
              <a:buNone/>
            </a:pPr>
            <a:r>
              <a:rPr lang="en-US" sz="1050" dirty="0">
                <a:solidFill>
                  <a:srgbClr val="1F2937"/>
                </a:solidFill>
                <a:latin typeface="Arial" pitchFamily="34" charset="0"/>
                <a:ea typeface="Arial" pitchFamily="34" charset="-122"/>
                <a:cs typeface="Arial" pitchFamily="34" charset="-120"/>
              </a:rPr>
              <a:t>추천 이유 공개</a:t>
            </a:r>
            <a:endParaRPr lang="en-US" sz="1050" dirty="0"/>
          </a:p>
        </p:txBody>
      </p:sp>
      <p:sp>
        <p:nvSpPr>
          <p:cNvPr id="17" name="Shape 12"/>
          <p:cNvSpPr/>
          <p:nvPr/>
        </p:nvSpPr>
        <p:spPr>
          <a:xfrm>
            <a:off x="2220570" y="2842579"/>
            <a:ext cx="457200" cy="0"/>
          </a:xfrm>
          <a:prstGeom prst="line">
            <a:avLst/>
          </a:prstGeom>
          <a:noFill/>
          <a:ln w="9525">
            <a:solidFill>
              <a:srgbClr val="8FA89A"/>
            </a:solidFill>
            <a:prstDash val="dash"/>
          </a:ln>
        </p:spPr>
      </p:sp>
      <p:sp>
        <p:nvSpPr>
          <p:cNvPr id="19" name="Text 14"/>
          <p:cNvSpPr/>
          <p:nvPr/>
        </p:nvSpPr>
        <p:spPr>
          <a:xfrm>
            <a:off x="2700631" y="2695406"/>
            <a:ext cx="796946" cy="365760"/>
          </a:xfrm>
          <a:prstGeom prst="rect">
            <a:avLst/>
          </a:prstGeom>
          <a:noFill/>
          <a:ln/>
        </p:spPr>
        <p:txBody>
          <a:bodyPr wrap="square" lIns="0" tIns="0" rIns="0" bIns="0" rtlCol="0" anchor="ctr"/>
          <a:lstStyle/>
          <a:p>
            <a:pPr marL="0" indent="0" algn="ctr">
              <a:buNone/>
            </a:pPr>
            <a:r>
              <a:rPr lang="en-US" sz="1050" dirty="0">
                <a:solidFill>
                  <a:srgbClr val="1F2937"/>
                </a:solidFill>
                <a:latin typeface="Arial" pitchFamily="34" charset="0"/>
                <a:ea typeface="Arial" pitchFamily="34" charset="-122"/>
                <a:cs typeface="Arial" pitchFamily="34" charset="-120"/>
              </a:rPr>
              <a:t>숙박·관광·식비</a:t>
            </a:r>
            <a:endParaRPr lang="en-US" sz="1050" dirty="0"/>
          </a:p>
          <a:p>
            <a:pPr marL="0" indent="0" algn="ctr">
              <a:buNone/>
            </a:pPr>
            <a:r>
              <a:rPr lang="en-US" sz="1050" dirty="0">
                <a:solidFill>
                  <a:srgbClr val="1F2937"/>
                </a:solidFill>
                <a:latin typeface="Arial" pitchFamily="34" charset="0"/>
                <a:ea typeface="Arial" pitchFamily="34" charset="-122"/>
                <a:cs typeface="Arial" pitchFamily="34" charset="-120"/>
              </a:rPr>
              <a:t>예산까지 배분</a:t>
            </a:r>
            <a:endParaRPr lang="en-US" sz="1050" dirty="0"/>
          </a:p>
        </p:txBody>
      </p:sp>
      <p:sp>
        <p:nvSpPr>
          <p:cNvPr id="21" name="Shape 16"/>
          <p:cNvSpPr/>
          <p:nvPr/>
        </p:nvSpPr>
        <p:spPr>
          <a:xfrm>
            <a:off x="6988630" y="1641684"/>
            <a:ext cx="649224" cy="0"/>
          </a:xfrm>
          <a:prstGeom prst="line">
            <a:avLst/>
          </a:prstGeom>
          <a:noFill/>
          <a:ln w="9525">
            <a:solidFill>
              <a:srgbClr val="8FA89A"/>
            </a:solidFill>
            <a:prstDash val="dash"/>
          </a:ln>
        </p:spPr>
      </p:sp>
      <p:sp>
        <p:nvSpPr>
          <p:cNvPr id="22" name="Shape 17"/>
          <p:cNvSpPr/>
          <p:nvPr/>
        </p:nvSpPr>
        <p:spPr>
          <a:xfrm>
            <a:off x="8159912" y="1897064"/>
            <a:ext cx="0" cy="54864"/>
          </a:xfrm>
          <a:prstGeom prst="line">
            <a:avLst/>
          </a:prstGeom>
          <a:noFill/>
          <a:ln w="9525">
            <a:solidFill>
              <a:srgbClr val="8FA89A"/>
            </a:solidFill>
            <a:prstDash val="dash"/>
          </a:ln>
        </p:spPr>
      </p:sp>
      <p:sp>
        <p:nvSpPr>
          <p:cNvPr id="23" name="Text 18"/>
          <p:cNvSpPr/>
          <p:nvPr/>
        </p:nvSpPr>
        <p:spPr>
          <a:xfrm>
            <a:off x="7692718" y="1555469"/>
            <a:ext cx="1113258" cy="195943"/>
          </a:xfrm>
          <a:prstGeom prst="rect">
            <a:avLst/>
          </a:prstGeom>
          <a:noFill/>
          <a:ln/>
        </p:spPr>
        <p:txBody>
          <a:bodyPr wrap="square" lIns="0" tIns="0" rIns="0" bIns="0" rtlCol="0" anchor="ctr"/>
          <a:lstStyle/>
          <a:p>
            <a:pPr marL="0" indent="0" algn="ctr">
              <a:buNone/>
            </a:pPr>
            <a:r>
              <a:rPr lang="en-US" sz="1050" dirty="0">
                <a:solidFill>
                  <a:srgbClr val="1F2937"/>
                </a:solidFill>
                <a:latin typeface="Arial" pitchFamily="34" charset="0"/>
                <a:ea typeface="Arial" pitchFamily="34" charset="-122"/>
                <a:cs typeface="Arial" pitchFamily="34" charset="-120"/>
              </a:rPr>
              <a:t>도착하는 순간</a:t>
            </a:r>
            <a:endParaRPr lang="en-US" sz="1050" dirty="0"/>
          </a:p>
          <a:p>
            <a:pPr marL="0" indent="0" algn="ctr">
              <a:buNone/>
            </a:pPr>
            <a:r>
              <a:rPr lang="en-US" sz="1050" dirty="0">
                <a:solidFill>
                  <a:srgbClr val="1F2937"/>
                </a:solidFill>
                <a:latin typeface="Arial" pitchFamily="34" charset="0"/>
                <a:ea typeface="Arial" pitchFamily="34" charset="-122"/>
                <a:cs typeface="Arial" pitchFamily="34" charset="-120"/>
              </a:rPr>
              <a:t>장소가 공개</a:t>
            </a:r>
            <a:endParaRPr lang="en-US" sz="1050" dirty="0"/>
          </a:p>
        </p:txBody>
      </p:sp>
      <p:sp>
        <p:nvSpPr>
          <p:cNvPr id="25" name="Shape 20"/>
          <p:cNvSpPr/>
          <p:nvPr/>
        </p:nvSpPr>
        <p:spPr>
          <a:xfrm flipV="1">
            <a:off x="6826650" y="3054491"/>
            <a:ext cx="811204" cy="4513"/>
          </a:xfrm>
          <a:prstGeom prst="line">
            <a:avLst/>
          </a:prstGeom>
          <a:noFill/>
          <a:ln w="9525">
            <a:solidFill>
              <a:srgbClr val="8FA89A"/>
            </a:solidFill>
            <a:prstDash val="dash"/>
          </a:ln>
        </p:spPr>
      </p:sp>
      <p:sp>
        <p:nvSpPr>
          <p:cNvPr id="27" name="Text 22"/>
          <p:cNvSpPr/>
          <p:nvPr/>
        </p:nvSpPr>
        <p:spPr>
          <a:xfrm>
            <a:off x="7692718" y="2974097"/>
            <a:ext cx="911459" cy="195943"/>
          </a:xfrm>
          <a:prstGeom prst="rect">
            <a:avLst/>
          </a:prstGeom>
          <a:noFill/>
          <a:ln/>
        </p:spPr>
        <p:txBody>
          <a:bodyPr wrap="square" lIns="0" tIns="0" rIns="0" bIns="0" rtlCol="0" anchor="ctr"/>
          <a:lstStyle/>
          <a:p>
            <a:pPr marL="0" indent="0" algn="ctr">
              <a:buNone/>
            </a:pPr>
            <a:r>
              <a:rPr lang="en-US" sz="1050" dirty="0">
                <a:solidFill>
                  <a:srgbClr val="1F2937"/>
                </a:solidFill>
                <a:latin typeface="Arial" pitchFamily="34" charset="0"/>
                <a:ea typeface="Arial" pitchFamily="34" charset="-122"/>
                <a:cs typeface="Arial" pitchFamily="34" charset="-120"/>
              </a:rPr>
              <a:t>이름·주소·평점</a:t>
            </a:r>
            <a:endParaRPr lang="en-US" sz="1050" dirty="0"/>
          </a:p>
          <a:p>
            <a:pPr marL="0" indent="0" algn="ctr">
              <a:buNone/>
            </a:pPr>
            <a:r>
              <a:rPr lang="en-US" sz="1050" dirty="0">
                <a:solidFill>
                  <a:srgbClr val="1F2937"/>
                </a:solidFill>
                <a:latin typeface="Arial" pitchFamily="34" charset="0"/>
                <a:ea typeface="Arial" pitchFamily="34" charset="-122"/>
                <a:cs typeface="Arial" pitchFamily="34" charset="-120"/>
              </a:rPr>
              <a:t>이때 처음 공개</a:t>
            </a:r>
            <a:endParaRPr lang="en-US" sz="1050" dirty="0"/>
          </a:p>
        </p:txBody>
      </p:sp>
      <p:sp>
        <p:nvSpPr>
          <p:cNvPr id="28" name="Text 23"/>
          <p:cNvSpPr/>
          <p:nvPr/>
        </p:nvSpPr>
        <p:spPr>
          <a:xfrm>
            <a:off x="898608" y="4498745"/>
            <a:ext cx="1463039" cy="137160"/>
          </a:xfrm>
          <a:prstGeom prst="rect">
            <a:avLst/>
          </a:prstGeom>
          <a:noFill/>
          <a:ln/>
        </p:spPr>
        <p:txBody>
          <a:bodyPr wrap="square" lIns="0" tIns="0" rIns="0" bIns="0" rtlCol="0" anchor="ctr"/>
          <a:lstStyle/>
          <a:p>
            <a:pPr marL="0" indent="0" algn="ctr">
              <a:buNone/>
            </a:pPr>
            <a:r>
              <a:rPr lang="en-US" sz="1150" b="1" dirty="0">
                <a:solidFill>
                  <a:srgbClr val="1F2937"/>
                </a:solidFill>
                <a:latin typeface="Arial" pitchFamily="34" charset="0"/>
                <a:ea typeface="Arial" pitchFamily="34" charset="-122"/>
                <a:cs typeface="Arial" pitchFamily="34" charset="-120"/>
              </a:rPr>
              <a:t>AI 플랜</a:t>
            </a:r>
            <a:endParaRPr lang="en-US" sz="1150" dirty="0"/>
          </a:p>
        </p:txBody>
      </p:sp>
      <p:sp>
        <p:nvSpPr>
          <p:cNvPr id="29" name="Text 24"/>
          <p:cNvSpPr/>
          <p:nvPr/>
        </p:nvSpPr>
        <p:spPr>
          <a:xfrm>
            <a:off x="898608" y="4696830"/>
            <a:ext cx="1463039" cy="220436"/>
          </a:xfrm>
          <a:prstGeom prst="rect">
            <a:avLst/>
          </a:prstGeom>
          <a:noFill/>
          <a:ln/>
        </p:spPr>
        <p:txBody>
          <a:bodyPr wrap="square" lIns="0" tIns="0" rIns="0" bIns="0" rtlCol="0" anchor="ctr"/>
          <a:lstStyle/>
          <a:p>
            <a:pPr marL="0" indent="0" algn="ctr">
              <a:buNone/>
            </a:pPr>
            <a:r>
              <a:rPr lang="en-US" sz="1000" dirty="0">
                <a:solidFill>
                  <a:srgbClr val="6B7280"/>
                </a:solidFill>
                <a:latin typeface="Arial" pitchFamily="34" charset="0"/>
                <a:ea typeface="Arial" pitchFamily="34" charset="-122"/>
                <a:cs typeface="Arial" pitchFamily="34" charset="-120"/>
              </a:rPr>
              <a:t>예산과 추천 이유는 공개</a:t>
            </a:r>
            <a:endParaRPr lang="en-US" sz="1000" dirty="0"/>
          </a:p>
          <a:p>
            <a:pPr marL="0" indent="0" algn="ctr">
              <a:buNone/>
            </a:pPr>
            <a:r>
              <a:rPr lang="en-US" sz="1000" dirty="0">
                <a:solidFill>
                  <a:srgbClr val="6B7280"/>
                </a:solidFill>
                <a:latin typeface="Arial" pitchFamily="34" charset="0"/>
                <a:ea typeface="Arial" pitchFamily="34" charset="-122"/>
                <a:cs typeface="Arial" pitchFamily="34" charset="-120"/>
              </a:rPr>
              <a:t>장소 이름은 가려집니다</a:t>
            </a:r>
            <a:endParaRPr lang="en-US" sz="1000" dirty="0"/>
          </a:p>
        </p:txBody>
      </p:sp>
      <p:sp>
        <p:nvSpPr>
          <p:cNvPr id="30" name="Text 25"/>
          <p:cNvSpPr/>
          <p:nvPr/>
        </p:nvSpPr>
        <p:spPr>
          <a:xfrm>
            <a:off x="3844399" y="4498745"/>
            <a:ext cx="1463039" cy="137160"/>
          </a:xfrm>
          <a:prstGeom prst="rect">
            <a:avLst/>
          </a:prstGeom>
          <a:noFill/>
          <a:ln/>
        </p:spPr>
        <p:txBody>
          <a:bodyPr wrap="square" lIns="0" tIns="0" rIns="0" bIns="0" rtlCol="0" anchor="ctr"/>
          <a:lstStyle/>
          <a:p>
            <a:pPr marL="0" indent="0" algn="ctr">
              <a:buNone/>
            </a:pPr>
            <a:r>
              <a:rPr lang="en-US" sz="1150" b="1" dirty="0">
                <a:solidFill>
                  <a:srgbClr val="1F2937"/>
                </a:solidFill>
                <a:latin typeface="Arial" pitchFamily="34" charset="0"/>
                <a:ea typeface="Arial" pitchFamily="34" charset="-122"/>
                <a:cs typeface="Arial" pitchFamily="34" charset="-120"/>
              </a:rPr>
              <a:t>비밀 경로</a:t>
            </a:r>
            <a:endParaRPr lang="en-US" sz="1150" dirty="0"/>
          </a:p>
        </p:txBody>
      </p:sp>
      <p:sp>
        <p:nvSpPr>
          <p:cNvPr id="31" name="Text 26"/>
          <p:cNvSpPr/>
          <p:nvPr/>
        </p:nvSpPr>
        <p:spPr>
          <a:xfrm>
            <a:off x="3844399" y="4696830"/>
            <a:ext cx="1463039" cy="220436"/>
          </a:xfrm>
          <a:prstGeom prst="rect">
            <a:avLst/>
          </a:prstGeom>
          <a:noFill/>
          <a:ln/>
        </p:spPr>
        <p:txBody>
          <a:bodyPr wrap="square" lIns="0" tIns="0" rIns="0" bIns="0" rtlCol="0" anchor="ctr"/>
          <a:lstStyle/>
          <a:p>
            <a:pPr marL="0" indent="0" algn="ctr">
              <a:buNone/>
            </a:pPr>
            <a:r>
              <a:rPr lang="en-US" sz="1000" dirty="0">
                <a:solidFill>
                  <a:srgbClr val="6B7280"/>
                </a:solidFill>
                <a:latin typeface="Arial" pitchFamily="34" charset="0"/>
                <a:ea typeface="Arial" pitchFamily="34" charset="-122"/>
                <a:cs typeface="Arial" pitchFamily="34" charset="-120"/>
              </a:rPr>
              <a:t>길이 조금씩 열리며</a:t>
            </a:r>
            <a:endParaRPr lang="en-US" sz="1000" dirty="0"/>
          </a:p>
          <a:p>
            <a:pPr marL="0" indent="0" algn="ctr">
              <a:buNone/>
            </a:pPr>
            <a:r>
              <a:rPr lang="en-US" sz="1000" dirty="0">
                <a:solidFill>
                  <a:srgbClr val="6B7280"/>
                </a:solidFill>
                <a:latin typeface="Arial" pitchFamily="34" charset="0"/>
                <a:ea typeface="Arial" pitchFamily="34" charset="-122"/>
                <a:cs typeface="Arial" pitchFamily="34" charset="-120"/>
              </a:rPr>
              <a:t>다음 장소로 안내합니다</a:t>
            </a:r>
            <a:endParaRPr lang="en-US" sz="1000" dirty="0"/>
          </a:p>
        </p:txBody>
      </p:sp>
      <p:sp>
        <p:nvSpPr>
          <p:cNvPr id="32" name="Text 27"/>
          <p:cNvSpPr/>
          <p:nvPr/>
        </p:nvSpPr>
        <p:spPr>
          <a:xfrm>
            <a:off x="5764639" y="4498745"/>
            <a:ext cx="1463039" cy="137160"/>
          </a:xfrm>
          <a:prstGeom prst="rect">
            <a:avLst/>
          </a:prstGeom>
          <a:noFill/>
          <a:ln/>
        </p:spPr>
        <p:txBody>
          <a:bodyPr wrap="square" lIns="0" tIns="0" rIns="0" bIns="0" rtlCol="0" anchor="ctr"/>
          <a:lstStyle/>
          <a:p>
            <a:pPr marL="0" indent="0" algn="ctr">
              <a:buNone/>
            </a:pPr>
            <a:r>
              <a:rPr lang="en-US" sz="1150" b="1" dirty="0">
                <a:solidFill>
                  <a:srgbClr val="1F2937"/>
                </a:solidFill>
                <a:latin typeface="Arial" pitchFamily="34" charset="0"/>
                <a:ea typeface="Arial" pitchFamily="34" charset="-122"/>
                <a:cs typeface="Arial" pitchFamily="34" charset="-120"/>
              </a:rPr>
              <a:t>도착 공개</a:t>
            </a:r>
            <a:endParaRPr lang="en-US" sz="1150" dirty="0"/>
          </a:p>
        </p:txBody>
      </p:sp>
      <p:sp>
        <p:nvSpPr>
          <p:cNvPr id="33" name="Text 28"/>
          <p:cNvSpPr/>
          <p:nvPr/>
        </p:nvSpPr>
        <p:spPr>
          <a:xfrm>
            <a:off x="5764639" y="4696830"/>
            <a:ext cx="1463039" cy="220436"/>
          </a:xfrm>
          <a:prstGeom prst="rect">
            <a:avLst/>
          </a:prstGeom>
          <a:noFill/>
          <a:ln/>
        </p:spPr>
        <p:txBody>
          <a:bodyPr wrap="square" lIns="0" tIns="0" rIns="0" bIns="0" rtlCol="0" anchor="ctr"/>
          <a:lstStyle/>
          <a:p>
            <a:pPr marL="0" indent="0" algn="ctr">
              <a:buNone/>
            </a:pPr>
            <a:r>
              <a:rPr lang="en-US" sz="1000" dirty="0">
                <a:solidFill>
                  <a:srgbClr val="6B7280"/>
                </a:solidFill>
                <a:latin typeface="Arial" pitchFamily="34" charset="0"/>
                <a:ea typeface="Arial" pitchFamily="34" charset="-122"/>
                <a:cs typeface="Arial" pitchFamily="34" charset="-120"/>
              </a:rPr>
              <a:t>도착한 순간에</a:t>
            </a:r>
            <a:endParaRPr lang="en-US" sz="1000" dirty="0"/>
          </a:p>
          <a:p>
            <a:pPr marL="0" indent="0" algn="ctr">
              <a:buNone/>
            </a:pPr>
            <a:r>
              <a:rPr lang="en-US" sz="1000" dirty="0">
                <a:solidFill>
                  <a:srgbClr val="6B7280"/>
                </a:solidFill>
                <a:latin typeface="Arial" pitchFamily="34" charset="0"/>
                <a:ea typeface="Arial" pitchFamily="34" charset="-122"/>
                <a:cs typeface="Arial" pitchFamily="34" charset="-120"/>
              </a:rPr>
              <a:t>장소가 공개됩니다</a:t>
            </a:r>
            <a:endParaRPr lang="en-US" sz="1000" dirty="0"/>
          </a:p>
        </p:txBody>
      </p:sp>
      <p:sp>
        <p:nvSpPr>
          <p:cNvPr id="35" name="Text 2">
            <a:extLst>
              <a:ext uri="{FF2B5EF4-FFF2-40B4-BE49-F238E27FC236}">
                <a16:creationId xmlns:a16="http://schemas.microsoft.com/office/drawing/2014/main" id="{D2E8715C-7212-A141-9571-38DF83DE216F}"/>
              </a:ext>
            </a:extLst>
          </p:cNvPr>
          <p:cNvSpPr/>
          <p:nvPr/>
        </p:nvSpPr>
        <p:spPr>
          <a:xfrm>
            <a:off x="411480" y="457200"/>
            <a:ext cx="6400800" cy="502920"/>
          </a:xfrm>
          <a:prstGeom prst="rect">
            <a:avLst/>
          </a:prstGeom>
          <a:noFill/>
          <a:ln/>
        </p:spPr>
        <p:txBody>
          <a:bodyPr wrap="square" lIns="0" tIns="0" rIns="0" bIns="0" rtlCol="0" anchor="ctr"/>
          <a:lstStyle/>
          <a:p>
            <a:pPr marL="0" indent="0">
              <a:buNone/>
            </a:pPr>
            <a:r>
              <a:rPr lang="en-US" sz="3600" b="1" dirty="0">
                <a:solidFill>
                  <a:srgbClr val="1F2937"/>
                </a:solidFill>
                <a:latin typeface="Arial" pitchFamily="34" charset="0"/>
                <a:ea typeface="Arial" pitchFamily="34" charset="-122"/>
                <a:cs typeface="Arial" pitchFamily="34" charset="-120"/>
              </a:rPr>
              <a:t>플랜 · 경로 · 도착 공개</a:t>
            </a:r>
            <a:endParaRPr lang="en-US" sz="3600" dirty="0"/>
          </a:p>
        </p:txBody>
      </p:sp>
      <p:sp>
        <p:nvSpPr>
          <p:cNvPr id="36" name="Shape 11">
            <a:extLst>
              <a:ext uri="{FF2B5EF4-FFF2-40B4-BE49-F238E27FC236}">
                <a16:creationId xmlns:a16="http://schemas.microsoft.com/office/drawing/2014/main" id="{E3D5F0E9-ED64-E94B-92E4-0E03BEA734B7}"/>
              </a:ext>
            </a:extLst>
          </p:cNvPr>
          <p:cNvSpPr/>
          <p:nvPr/>
        </p:nvSpPr>
        <p:spPr>
          <a:xfrm>
            <a:off x="2165706" y="2787715"/>
            <a:ext cx="109728" cy="109728"/>
          </a:xfrm>
          <a:prstGeom prst="ellipse">
            <a:avLst/>
          </a:prstGeom>
          <a:solidFill>
            <a:srgbClr val="03B083"/>
          </a:solidFill>
          <a:ln w="12700">
            <a:solidFill>
              <a:schemeClr val="accent2">
                <a:lumMod val="75000"/>
              </a:schemeClr>
            </a:solidFill>
            <a:prstDash val="solid"/>
          </a:ln>
        </p:spPr>
      </p:sp>
      <p:sp>
        <p:nvSpPr>
          <p:cNvPr id="37" name="Shape 15">
            <a:extLst>
              <a:ext uri="{FF2B5EF4-FFF2-40B4-BE49-F238E27FC236}">
                <a16:creationId xmlns:a16="http://schemas.microsoft.com/office/drawing/2014/main" id="{C6A64E94-D52F-F044-A83B-DE20FFF839F1}"/>
              </a:ext>
            </a:extLst>
          </p:cNvPr>
          <p:cNvSpPr/>
          <p:nvPr/>
        </p:nvSpPr>
        <p:spPr>
          <a:xfrm>
            <a:off x="6933766" y="1586820"/>
            <a:ext cx="109728" cy="109728"/>
          </a:xfrm>
          <a:prstGeom prst="ellipse">
            <a:avLst/>
          </a:prstGeom>
          <a:solidFill>
            <a:srgbClr val="03B083"/>
          </a:solidFill>
          <a:ln w="12700">
            <a:solidFill>
              <a:schemeClr val="accent2">
                <a:lumMod val="75000"/>
              </a:schemeClr>
            </a:solidFill>
            <a:prstDash val="solid"/>
          </a:ln>
        </p:spPr>
      </p:sp>
      <p:sp>
        <p:nvSpPr>
          <p:cNvPr id="38" name="Shape 19">
            <a:extLst>
              <a:ext uri="{FF2B5EF4-FFF2-40B4-BE49-F238E27FC236}">
                <a16:creationId xmlns:a16="http://schemas.microsoft.com/office/drawing/2014/main" id="{A385A6E7-8250-E94A-8244-C4105FB5B35E}"/>
              </a:ext>
            </a:extLst>
          </p:cNvPr>
          <p:cNvSpPr/>
          <p:nvPr/>
        </p:nvSpPr>
        <p:spPr>
          <a:xfrm>
            <a:off x="6771786" y="3006753"/>
            <a:ext cx="109728" cy="109728"/>
          </a:xfrm>
          <a:prstGeom prst="ellipse">
            <a:avLst/>
          </a:prstGeom>
          <a:solidFill>
            <a:srgbClr val="03B083"/>
          </a:solidFill>
          <a:ln w="12700">
            <a:solidFill>
              <a:schemeClr val="accent2">
                <a:lumMod val="75000"/>
              </a:schemeClr>
            </a:solidFill>
            <a:prstDash val="solid"/>
          </a:ln>
        </p:spPr>
      </p:sp>
      <p:sp>
        <p:nvSpPr>
          <p:cNvPr id="34" name="Shape 7">
            <a:extLst>
              <a:ext uri="{FF2B5EF4-FFF2-40B4-BE49-F238E27FC236}">
                <a16:creationId xmlns:a16="http://schemas.microsoft.com/office/drawing/2014/main" id="{DBCA3EA8-2BC8-E147-B691-B15384FEA89F}"/>
              </a:ext>
            </a:extLst>
          </p:cNvPr>
          <p:cNvSpPr/>
          <p:nvPr/>
        </p:nvSpPr>
        <p:spPr>
          <a:xfrm>
            <a:off x="2087782" y="1767634"/>
            <a:ext cx="109728" cy="109728"/>
          </a:xfrm>
          <a:prstGeom prst="ellipse">
            <a:avLst/>
          </a:prstGeom>
          <a:solidFill>
            <a:srgbClr val="03B083"/>
          </a:solidFill>
          <a:ln w="12700">
            <a:solidFill>
              <a:schemeClr val="accent2">
                <a:lumMod val="75000"/>
              </a:schemeClr>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12">
    <p:bg>
      <p:bgPr>
        <a:solidFill>
          <a:srgbClr val="FFFFFF"/>
        </a:solidFill>
        <a:effectLst/>
      </p:bgPr>
    </p:bg>
    <p:spTree>
      <p:nvGrpSpPr>
        <p:cNvPr id="1" name=""/>
        <p:cNvGrpSpPr/>
        <p:nvPr/>
      </p:nvGrpSpPr>
      <p:grpSpPr>
        <a:xfrm>
          <a:off x="0" y="0"/>
          <a:ext cx="0" cy="0"/>
          <a:chOff x="0" y="0"/>
          <a:chExt cx="0" cy="0"/>
        </a:xfrm>
      </p:grpSpPr>
      <p:sp>
        <p:nvSpPr>
          <p:cNvPr id="4" name="Shape 2"/>
          <p:cNvSpPr/>
          <p:nvPr/>
        </p:nvSpPr>
        <p:spPr>
          <a:xfrm>
            <a:off x="384048" y="594361"/>
            <a:ext cx="2926080" cy="128016"/>
          </a:xfrm>
          <a:prstGeom prst="rect">
            <a:avLst/>
          </a:prstGeom>
          <a:solidFill>
            <a:srgbClr val="03B083">
              <a:alpha val="45000"/>
            </a:srgbClr>
          </a:solidFill>
          <a:ln w="12700">
            <a:noFill/>
            <a:prstDash val="solid"/>
          </a:ln>
        </p:spPr>
        <p:txBody>
          <a:bodyPr/>
          <a:lstStyle/>
          <a:p>
            <a:endParaRPr/>
          </a:p>
        </p:txBody>
      </p:sp>
      <p:sp>
        <p:nvSpPr>
          <p:cNvPr id="3" name="Text 1"/>
          <p:cNvSpPr/>
          <p:nvPr/>
        </p:nvSpPr>
        <p:spPr>
          <a:xfrm>
            <a:off x="411480" y="320040"/>
            <a:ext cx="8321040" cy="438912"/>
          </a:xfrm>
          <a:prstGeom prst="rect">
            <a:avLst/>
          </a:prstGeom>
          <a:noFill/>
          <a:ln/>
        </p:spPr>
        <p:txBody>
          <a:bodyPr wrap="square" lIns="0" tIns="0" rIns="0" bIns="0" rtlCol="0" anchor="ctr"/>
          <a:lstStyle/>
          <a:p>
            <a:pPr marL="0" indent="0">
              <a:buNone/>
            </a:pPr>
            <a:r>
              <a:rPr lang="en-US" sz="2800" b="1" dirty="0">
                <a:solidFill>
                  <a:srgbClr val="1F2937"/>
                </a:solidFill>
                <a:latin typeface="Arial" pitchFamily="34" charset="0"/>
                <a:ea typeface="Arial" pitchFamily="34" charset="-122"/>
                <a:cs typeface="Arial" pitchFamily="34" charset="-120"/>
              </a:rPr>
              <a:t>PSST 프레임워크</a:t>
            </a:r>
            <a:endParaRPr lang="en-US" sz="2800" dirty="0"/>
          </a:p>
        </p:txBody>
      </p:sp>
      <p:sp>
        <p:nvSpPr>
          <p:cNvPr id="5" name="Shape 3"/>
          <p:cNvSpPr/>
          <p:nvPr/>
        </p:nvSpPr>
        <p:spPr>
          <a:xfrm>
            <a:off x="384048" y="914400"/>
            <a:ext cx="2057400" cy="2011680"/>
          </a:xfrm>
          <a:prstGeom prst="roundRect">
            <a:avLst>
              <a:gd name="adj" fmla="val 4545"/>
            </a:avLst>
          </a:prstGeom>
          <a:solidFill>
            <a:srgbClr val="2D3F37"/>
          </a:solidFill>
          <a:ln w="12700">
            <a:solidFill>
              <a:srgbClr val="2D3F37"/>
            </a:solidFill>
            <a:prstDash val="solid"/>
          </a:ln>
        </p:spPr>
        <p:txBody>
          <a:bodyPr/>
          <a:lstStyle/>
          <a:p>
            <a:endParaRPr/>
          </a:p>
        </p:txBody>
      </p:sp>
      <p:sp>
        <p:nvSpPr>
          <p:cNvPr id="6" name="Shape 4"/>
          <p:cNvSpPr/>
          <p:nvPr/>
        </p:nvSpPr>
        <p:spPr>
          <a:xfrm>
            <a:off x="475488" y="987552"/>
            <a:ext cx="438912" cy="438912"/>
          </a:xfrm>
          <a:prstGeom prst="ellipse">
            <a:avLst/>
          </a:prstGeom>
          <a:solidFill>
            <a:srgbClr val="03B083"/>
          </a:solidFill>
          <a:ln w="12700">
            <a:solidFill>
              <a:schemeClr val="accent2">
                <a:lumMod val="75000"/>
              </a:schemeClr>
            </a:solidFill>
            <a:prstDash val="solid"/>
          </a:ln>
        </p:spPr>
        <p:txBody>
          <a:bodyPr/>
          <a:lstStyle/>
          <a:p>
            <a:endParaRPr/>
          </a:p>
        </p:txBody>
      </p:sp>
      <p:sp>
        <p:nvSpPr>
          <p:cNvPr id="7" name="Text 5"/>
          <p:cNvSpPr/>
          <p:nvPr/>
        </p:nvSpPr>
        <p:spPr>
          <a:xfrm>
            <a:off x="475488" y="987552"/>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P</a:t>
            </a:r>
            <a:endParaRPr lang="en-US" sz="1400" dirty="0"/>
          </a:p>
        </p:txBody>
      </p:sp>
      <p:sp>
        <p:nvSpPr>
          <p:cNvPr id="8" name="Text 6"/>
          <p:cNvSpPr/>
          <p:nvPr/>
        </p:nvSpPr>
        <p:spPr>
          <a:xfrm>
            <a:off x="493776" y="1508760"/>
            <a:ext cx="1828800" cy="329184"/>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Problem</a:t>
            </a:r>
            <a:endParaRPr lang="en-US" sz="1400" dirty="0"/>
          </a:p>
        </p:txBody>
      </p:sp>
      <p:sp>
        <p:nvSpPr>
          <p:cNvPr id="9" name="Text 7"/>
          <p:cNvSpPr/>
          <p:nvPr/>
        </p:nvSpPr>
        <p:spPr>
          <a:xfrm>
            <a:off x="493776" y="1865376"/>
            <a:ext cx="1828800" cy="749808"/>
          </a:xfrm>
          <a:prstGeom prst="rect">
            <a:avLst/>
          </a:prstGeom>
          <a:noFill/>
          <a:ln/>
        </p:spPr>
        <p:txBody>
          <a:bodyPr wrap="square" lIns="0" tIns="0" rIns="0" bIns="0" rtlCol="0" anchor="ctr"/>
          <a:lstStyle/>
          <a:p>
            <a:pPr marL="0" indent="0">
              <a:buNone/>
            </a:pPr>
            <a:r>
              <a:rPr lang="en-US" sz="1100" dirty="0">
                <a:solidFill>
                  <a:srgbClr val="F5E6D3"/>
                </a:solidFill>
                <a:latin typeface="Arial" pitchFamily="34" charset="0"/>
                <a:ea typeface="Arial" pitchFamily="34" charset="-122"/>
                <a:cs typeface="Arial" pitchFamily="34" charset="-120"/>
              </a:rPr>
              <a:t>1인 여행객 결정 피로</a:t>
            </a:r>
            <a:endParaRPr lang="en-US" sz="1100" dirty="0"/>
          </a:p>
          <a:p>
            <a:pPr marL="0" indent="0">
              <a:buNone/>
            </a:pPr>
            <a:r>
              <a:rPr lang="en-US" sz="1100" dirty="0">
                <a:solidFill>
                  <a:srgbClr val="F5E6D3"/>
                </a:solidFill>
                <a:latin typeface="Arial" pitchFamily="34" charset="0"/>
                <a:ea typeface="Arial" pitchFamily="34" charset="-122"/>
                <a:cs typeface="Arial" pitchFamily="34" charset="-120"/>
              </a:rPr>
              <a:t>지역 관광 접근성 부족</a:t>
            </a:r>
            <a:endParaRPr lang="en-US" sz="1100" dirty="0"/>
          </a:p>
        </p:txBody>
      </p:sp>
      <p:sp>
        <p:nvSpPr>
          <p:cNvPr id="10" name="Shape 8"/>
          <p:cNvSpPr/>
          <p:nvPr/>
        </p:nvSpPr>
        <p:spPr>
          <a:xfrm>
            <a:off x="2560320" y="914400"/>
            <a:ext cx="2057400" cy="2011680"/>
          </a:xfrm>
          <a:prstGeom prst="roundRect">
            <a:avLst>
              <a:gd name="adj" fmla="val 4545"/>
            </a:avLst>
          </a:prstGeom>
          <a:solidFill>
            <a:srgbClr val="2D3F37"/>
          </a:solidFill>
          <a:ln w="12700">
            <a:solidFill>
              <a:srgbClr val="2D3F37"/>
            </a:solidFill>
            <a:prstDash val="solid"/>
          </a:ln>
        </p:spPr>
        <p:txBody>
          <a:bodyPr/>
          <a:lstStyle/>
          <a:p>
            <a:endParaRPr/>
          </a:p>
        </p:txBody>
      </p:sp>
      <p:sp>
        <p:nvSpPr>
          <p:cNvPr id="11" name="Shape 9"/>
          <p:cNvSpPr/>
          <p:nvPr/>
        </p:nvSpPr>
        <p:spPr>
          <a:xfrm>
            <a:off x="2651760" y="987552"/>
            <a:ext cx="438912" cy="438912"/>
          </a:xfrm>
          <a:prstGeom prst="ellipse">
            <a:avLst/>
          </a:prstGeom>
          <a:solidFill>
            <a:srgbClr val="03B083"/>
          </a:solidFill>
          <a:ln w="12700">
            <a:solidFill>
              <a:schemeClr val="accent2">
                <a:lumMod val="75000"/>
              </a:schemeClr>
            </a:solidFill>
            <a:prstDash val="solid"/>
          </a:ln>
        </p:spPr>
        <p:txBody>
          <a:bodyPr/>
          <a:lstStyle/>
          <a:p>
            <a:endParaRPr/>
          </a:p>
        </p:txBody>
      </p:sp>
      <p:sp>
        <p:nvSpPr>
          <p:cNvPr id="12" name="Text 10"/>
          <p:cNvSpPr/>
          <p:nvPr/>
        </p:nvSpPr>
        <p:spPr>
          <a:xfrm>
            <a:off x="2651760" y="987552"/>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S</a:t>
            </a:r>
            <a:endParaRPr lang="en-US" sz="1400" dirty="0"/>
          </a:p>
        </p:txBody>
      </p:sp>
      <p:sp>
        <p:nvSpPr>
          <p:cNvPr id="13" name="Text 11"/>
          <p:cNvSpPr/>
          <p:nvPr/>
        </p:nvSpPr>
        <p:spPr>
          <a:xfrm>
            <a:off x="2670048" y="1508760"/>
            <a:ext cx="1828800" cy="329184"/>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Solution</a:t>
            </a:r>
            <a:endParaRPr lang="en-US" sz="1400" dirty="0"/>
          </a:p>
        </p:txBody>
      </p:sp>
      <p:sp>
        <p:nvSpPr>
          <p:cNvPr id="14" name="Text 12"/>
          <p:cNvSpPr/>
          <p:nvPr/>
        </p:nvSpPr>
        <p:spPr>
          <a:xfrm>
            <a:off x="2670048" y="1865376"/>
            <a:ext cx="1828800" cy="749808"/>
          </a:xfrm>
          <a:prstGeom prst="rect">
            <a:avLst/>
          </a:prstGeom>
          <a:noFill/>
          <a:ln/>
        </p:spPr>
        <p:txBody>
          <a:bodyPr wrap="square" lIns="0" tIns="0" rIns="0" bIns="0" rtlCol="0" anchor="ctr"/>
          <a:lstStyle/>
          <a:p>
            <a:pPr marL="0" indent="0">
              <a:buNone/>
            </a:pPr>
            <a:r>
              <a:rPr lang="en-US" sz="1100" dirty="0">
                <a:solidFill>
                  <a:srgbClr val="F5E6D3"/>
                </a:solidFill>
                <a:latin typeface="Arial" pitchFamily="34" charset="0"/>
                <a:ea typeface="Arial" pitchFamily="34" charset="-122"/>
                <a:cs typeface="Arial" pitchFamily="34" charset="-120"/>
              </a:rPr>
              <a:t>AI 완전자동·서프라이즈</a:t>
            </a:r>
            <a:endParaRPr lang="en-US" sz="1100" dirty="0"/>
          </a:p>
          <a:p>
            <a:pPr marL="0" indent="0">
              <a:buNone/>
            </a:pPr>
            <a:r>
              <a:rPr lang="en-US" sz="1100" dirty="0">
                <a:solidFill>
                  <a:srgbClr val="F5E6D3"/>
                </a:solidFill>
                <a:latin typeface="Arial" pitchFamily="34" charset="0"/>
                <a:ea typeface="Arial" pitchFamily="34" charset="-122"/>
                <a:cs typeface="Arial" pitchFamily="34" charset="-120"/>
              </a:rPr>
              <a:t>데모 모드 일체형</a:t>
            </a:r>
            <a:endParaRPr lang="en-US" sz="1100" dirty="0"/>
          </a:p>
        </p:txBody>
      </p:sp>
      <p:sp>
        <p:nvSpPr>
          <p:cNvPr id="15" name="Shape 13"/>
          <p:cNvSpPr/>
          <p:nvPr/>
        </p:nvSpPr>
        <p:spPr>
          <a:xfrm>
            <a:off x="4736592" y="914400"/>
            <a:ext cx="2057400" cy="2011680"/>
          </a:xfrm>
          <a:prstGeom prst="roundRect">
            <a:avLst>
              <a:gd name="adj" fmla="val 4545"/>
            </a:avLst>
          </a:prstGeom>
          <a:solidFill>
            <a:srgbClr val="F9FAFB"/>
          </a:solidFill>
          <a:ln w="12700">
            <a:solidFill>
              <a:srgbClr val="D1D5DB"/>
            </a:solidFill>
            <a:prstDash val="solid"/>
          </a:ln>
        </p:spPr>
        <p:txBody>
          <a:bodyPr/>
          <a:lstStyle/>
          <a:p>
            <a:endParaRPr/>
          </a:p>
        </p:txBody>
      </p:sp>
      <p:sp>
        <p:nvSpPr>
          <p:cNvPr id="16" name="Shape 14"/>
          <p:cNvSpPr/>
          <p:nvPr/>
        </p:nvSpPr>
        <p:spPr>
          <a:xfrm>
            <a:off x="4828032" y="987552"/>
            <a:ext cx="438912" cy="438912"/>
          </a:xfrm>
          <a:prstGeom prst="ellipse">
            <a:avLst/>
          </a:prstGeom>
          <a:solidFill>
            <a:srgbClr val="03B083"/>
          </a:solidFill>
          <a:ln w="12700">
            <a:solidFill>
              <a:schemeClr val="accent2">
                <a:lumMod val="75000"/>
              </a:schemeClr>
            </a:solidFill>
            <a:prstDash val="solid"/>
          </a:ln>
        </p:spPr>
        <p:txBody>
          <a:bodyPr/>
          <a:lstStyle/>
          <a:p>
            <a:endParaRPr/>
          </a:p>
        </p:txBody>
      </p:sp>
      <p:sp>
        <p:nvSpPr>
          <p:cNvPr id="17" name="Text 15"/>
          <p:cNvSpPr/>
          <p:nvPr/>
        </p:nvSpPr>
        <p:spPr>
          <a:xfrm>
            <a:off x="4828032" y="987552"/>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S</a:t>
            </a:r>
            <a:endParaRPr lang="en-US" sz="1400" dirty="0"/>
          </a:p>
        </p:txBody>
      </p:sp>
      <p:sp>
        <p:nvSpPr>
          <p:cNvPr id="18" name="Text 16"/>
          <p:cNvSpPr/>
          <p:nvPr/>
        </p:nvSpPr>
        <p:spPr>
          <a:xfrm>
            <a:off x="4846320" y="1508760"/>
            <a:ext cx="1828800" cy="329184"/>
          </a:xfrm>
          <a:prstGeom prst="rect">
            <a:avLst/>
          </a:prstGeom>
          <a:noFill/>
          <a:ln/>
        </p:spPr>
        <p:txBody>
          <a:bodyPr wrap="square" lIns="0" tIns="0" rIns="0" bIns="0" rtlCol="0" anchor="ctr"/>
          <a:lstStyle/>
          <a:p>
            <a:pPr marL="0" indent="0">
              <a:buNone/>
            </a:pPr>
            <a:r>
              <a:rPr lang="en-US" sz="1400" b="1" dirty="0">
                <a:solidFill>
                  <a:srgbClr val="1F2937"/>
                </a:solidFill>
                <a:latin typeface="Arial" pitchFamily="34" charset="0"/>
                <a:ea typeface="Arial" pitchFamily="34" charset="-122"/>
                <a:cs typeface="Arial" pitchFamily="34" charset="-120"/>
              </a:rPr>
              <a:t>Scale-up</a:t>
            </a:r>
            <a:endParaRPr lang="en-US" sz="1400" dirty="0"/>
          </a:p>
        </p:txBody>
      </p:sp>
      <p:sp>
        <p:nvSpPr>
          <p:cNvPr id="19" name="Text 17"/>
          <p:cNvSpPr/>
          <p:nvPr/>
        </p:nvSpPr>
        <p:spPr>
          <a:xfrm>
            <a:off x="4846320" y="1865376"/>
            <a:ext cx="1828800" cy="749808"/>
          </a:xfrm>
          <a:prstGeom prst="rect">
            <a:avLst/>
          </a:prstGeom>
          <a:noFill/>
          <a:ln/>
        </p:spPr>
        <p:txBody>
          <a:bodyPr wrap="square" lIns="0" tIns="0" rIns="0" bIns="0" rtlCol="0" anchor="ctr"/>
          <a:lstStyle/>
          <a:p>
            <a:pPr marL="0" indent="0">
              <a:buNone/>
            </a:pPr>
            <a:r>
              <a:rPr lang="en-US" sz="1100" dirty="0">
                <a:solidFill>
                  <a:srgbClr val="6B7280"/>
                </a:solidFill>
                <a:latin typeface="Arial" pitchFamily="34" charset="0"/>
                <a:ea typeface="Arial" pitchFamily="34" charset="-122"/>
                <a:cs typeface="Arial" pitchFamily="34" charset="-120"/>
              </a:rPr>
              <a:t>전국 확장 → 글로벌</a:t>
            </a:r>
            <a:endParaRPr lang="en-US" sz="1100" dirty="0"/>
          </a:p>
          <a:p>
            <a:pPr marL="0" indent="0">
              <a:buNone/>
            </a:pPr>
            <a:r>
              <a:rPr lang="en-US" sz="1100" dirty="0">
                <a:solidFill>
                  <a:srgbClr val="6B7280"/>
                </a:solidFill>
                <a:latin typeface="Arial" pitchFamily="34" charset="0"/>
                <a:ea typeface="Arial" pitchFamily="34" charset="-122"/>
                <a:cs typeface="Arial" pitchFamily="34" charset="-120"/>
              </a:rPr>
              <a:t>B2G 데이터 사업 연계</a:t>
            </a:r>
            <a:endParaRPr lang="en-US" sz="1100" dirty="0"/>
          </a:p>
        </p:txBody>
      </p:sp>
      <p:sp>
        <p:nvSpPr>
          <p:cNvPr id="20" name="Shape 18"/>
          <p:cNvSpPr/>
          <p:nvPr/>
        </p:nvSpPr>
        <p:spPr>
          <a:xfrm>
            <a:off x="6912864" y="914400"/>
            <a:ext cx="2057400" cy="2011680"/>
          </a:xfrm>
          <a:prstGeom prst="roundRect">
            <a:avLst>
              <a:gd name="adj" fmla="val 4545"/>
            </a:avLst>
          </a:prstGeom>
          <a:solidFill>
            <a:srgbClr val="F9FAFB"/>
          </a:solidFill>
          <a:ln w="12700">
            <a:solidFill>
              <a:srgbClr val="D1D5DB"/>
            </a:solidFill>
            <a:prstDash val="solid"/>
          </a:ln>
        </p:spPr>
        <p:txBody>
          <a:bodyPr/>
          <a:lstStyle/>
          <a:p>
            <a:endParaRPr/>
          </a:p>
        </p:txBody>
      </p:sp>
      <p:sp>
        <p:nvSpPr>
          <p:cNvPr id="21" name="Shape 19"/>
          <p:cNvSpPr/>
          <p:nvPr/>
        </p:nvSpPr>
        <p:spPr>
          <a:xfrm>
            <a:off x="7004304" y="987552"/>
            <a:ext cx="438912" cy="438912"/>
          </a:xfrm>
          <a:prstGeom prst="ellipse">
            <a:avLst/>
          </a:prstGeom>
          <a:solidFill>
            <a:srgbClr val="03B083"/>
          </a:solidFill>
          <a:ln w="12700">
            <a:solidFill>
              <a:schemeClr val="accent2">
                <a:lumMod val="75000"/>
              </a:schemeClr>
            </a:solidFill>
            <a:prstDash val="solid"/>
          </a:ln>
        </p:spPr>
        <p:txBody>
          <a:bodyPr/>
          <a:lstStyle/>
          <a:p>
            <a:endParaRPr/>
          </a:p>
        </p:txBody>
      </p:sp>
      <p:sp>
        <p:nvSpPr>
          <p:cNvPr id="22" name="Text 20"/>
          <p:cNvSpPr/>
          <p:nvPr/>
        </p:nvSpPr>
        <p:spPr>
          <a:xfrm>
            <a:off x="7004304" y="987552"/>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T</a:t>
            </a:r>
            <a:endParaRPr lang="en-US" sz="1400" dirty="0"/>
          </a:p>
        </p:txBody>
      </p:sp>
      <p:sp>
        <p:nvSpPr>
          <p:cNvPr id="23" name="Text 21"/>
          <p:cNvSpPr/>
          <p:nvPr/>
        </p:nvSpPr>
        <p:spPr>
          <a:xfrm>
            <a:off x="7022592" y="1508760"/>
            <a:ext cx="1828800" cy="329184"/>
          </a:xfrm>
          <a:prstGeom prst="rect">
            <a:avLst/>
          </a:prstGeom>
          <a:noFill/>
          <a:ln/>
        </p:spPr>
        <p:txBody>
          <a:bodyPr wrap="square" lIns="0" tIns="0" rIns="0" bIns="0" rtlCol="0" anchor="ctr"/>
          <a:lstStyle/>
          <a:p>
            <a:pPr marL="0" indent="0">
              <a:buNone/>
            </a:pPr>
            <a:r>
              <a:rPr lang="en-US" sz="1400" b="1" dirty="0">
                <a:solidFill>
                  <a:srgbClr val="1F2937"/>
                </a:solidFill>
                <a:latin typeface="Arial" pitchFamily="34" charset="0"/>
                <a:ea typeface="Arial" pitchFamily="34" charset="-122"/>
                <a:cs typeface="Arial" pitchFamily="34" charset="-120"/>
              </a:rPr>
              <a:t>Team</a:t>
            </a:r>
            <a:endParaRPr lang="en-US" sz="1400" dirty="0"/>
          </a:p>
        </p:txBody>
      </p:sp>
      <p:sp>
        <p:nvSpPr>
          <p:cNvPr id="24" name="Text 22"/>
          <p:cNvSpPr/>
          <p:nvPr/>
        </p:nvSpPr>
        <p:spPr>
          <a:xfrm>
            <a:off x="7022592" y="1865376"/>
            <a:ext cx="1828800" cy="749808"/>
          </a:xfrm>
          <a:prstGeom prst="rect">
            <a:avLst/>
          </a:prstGeom>
          <a:noFill/>
          <a:ln/>
        </p:spPr>
        <p:txBody>
          <a:bodyPr wrap="square" lIns="0" tIns="0" rIns="0" bIns="0" rtlCol="0" anchor="ctr"/>
          <a:lstStyle/>
          <a:p>
            <a:pPr marL="0" indent="0">
              <a:buNone/>
            </a:pPr>
            <a:r>
              <a:rPr lang="en-US" sz="1100" dirty="0">
                <a:solidFill>
                  <a:srgbClr val="6B7280"/>
                </a:solidFill>
                <a:latin typeface="Arial" pitchFamily="34" charset="0"/>
                <a:ea typeface="Arial" pitchFamily="34" charset="-122"/>
                <a:cs typeface="Arial" pitchFamily="34" charset="-120"/>
              </a:rPr>
              <a:t>AI·SW·기획 4인</a:t>
            </a:r>
            <a:endParaRPr lang="en-US" sz="1100" dirty="0"/>
          </a:p>
          <a:p>
            <a:pPr marL="0" indent="0">
              <a:buNone/>
            </a:pPr>
            <a:r>
              <a:rPr lang="en-US" sz="1100" dirty="0">
                <a:solidFill>
                  <a:srgbClr val="6B7280"/>
                </a:solidFill>
                <a:latin typeface="Arial" pitchFamily="34" charset="0"/>
                <a:ea typeface="Arial" pitchFamily="34" charset="-122"/>
                <a:cs typeface="Arial" pitchFamily="34" charset="-120"/>
              </a:rPr>
              <a:t>아산스마트팩토리마이스터고</a:t>
            </a:r>
            <a:endParaRPr lang="en-US" sz="1100" dirty="0"/>
          </a:p>
        </p:txBody>
      </p:sp>
      <p:sp>
        <p:nvSpPr>
          <p:cNvPr id="25" name="Shape 23"/>
          <p:cNvSpPr/>
          <p:nvPr/>
        </p:nvSpPr>
        <p:spPr>
          <a:xfrm>
            <a:off x="384048" y="3054096"/>
            <a:ext cx="8375904" cy="0"/>
          </a:xfrm>
          <a:prstGeom prst="line">
            <a:avLst/>
          </a:prstGeom>
          <a:noFill/>
          <a:ln w="12700">
            <a:solidFill>
              <a:srgbClr val="D1D5DB"/>
            </a:solidFill>
            <a:prstDash val="solid"/>
          </a:ln>
        </p:spPr>
        <p:txBody>
          <a:bodyPr/>
          <a:lstStyle/>
          <a:p>
            <a:endParaRPr/>
          </a:p>
        </p:txBody>
      </p:sp>
      <p:sp>
        <p:nvSpPr>
          <p:cNvPr id="26" name="Shape 24"/>
          <p:cNvSpPr/>
          <p:nvPr/>
        </p:nvSpPr>
        <p:spPr>
          <a:xfrm>
            <a:off x="1005840" y="3218688"/>
            <a:ext cx="804672" cy="804672"/>
          </a:xfrm>
          <a:prstGeom prst="ellipse">
            <a:avLst/>
          </a:prstGeom>
          <a:solidFill>
            <a:srgbClr val="03B083"/>
          </a:solidFill>
          <a:ln w="12700">
            <a:solidFill>
              <a:schemeClr val="accent2">
                <a:lumMod val="75000"/>
              </a:schemeClr>
            </a:solidFill>
            <a:prstDash val="solid"/>
          </a:ln>
        </p:spPr>
        <p:txBody>
          <a:bodyPr/>
          <a:lstStyle/>
          <a:p>
            <a:endParaRPr/>
          </a:p>
        </p:txBody>
      </p:sp>
      <p:sp>
        <p:nvSpPr>
          <p:cNvPr id="27" name="Text 25"/>
          <p:cNvSpPr/>
          <p:nvPr/>
        </p:nvSpPr>
        <p:spPr>
          <a:xfrm>
            <a:off x="1005840" y="3218688"/>
            <a:ext cx="804672" cy="804672"/>
          </a:xfrm>
          <a:prstGeom prst="rect">
            <a:avLst/>
          </a:prstGeom>
          <a:noFill/>
          <a:ln/>
        </p:spPr>
        <p:txBody>
          <a:bodyPr wrap="square" lIns="0" tIns="0" rIns="0" bIns="0" rtlCol="0" anchor="ctr"/>
          <a:lstStyle/>
          <a:p>
            <a:pPr marL="0" indent="0" algn="ctr">
              <a:buNone/>
            </a:pPr>
            <a:r>
              <a:rPr lang="en-US" sz="2400" dirty="0">
                <a:solidFill>
                  <a:srgbClr val="000000"/>
                </a:solidFill>
                <a:latin typeface="Toss Face Font Mac" pitchFamily="2" charset="0"/>
                <a:ea typeface="Toss Face Font Mac" pitchFamily="2" charset="0"/>
                <a:cs typeface="Arial" pitchFamily="34" charset="-120"/>
              </a:rPr>
              <a:t>👤</a:t>
            </a:r>
            <a:endParaRPr lang="en-US" sz="2400" dirty="0">
              <a:latin typeface="Toss Face Font Mac" pitchFamily="2" charset="0"/>
              <a:ea typeface="Toss Face Font Mac" pitchFamily="2" charset="0"/>
            </a:endParaRPr>
          </a:p>
        </p:txBody>
      </p:sp>
      <p:sp>
        <p:nvSpPr>
          <p:cNvPr id="28" name="Text 26"/>
          <p:cNvSpPr/>
          <p:nvPr/>
        </p:nvSpPr>
        <p:spPr>
          <a:xfrm>
            <a:off x="384048" y="4114800"/>
            <a:ext cx="2057400" cy="274320"/>
          </a:xfrm>
          <a:prstGeom prst="rect">
            <a:avLst/>
          </a:prstGeom>
          <a:noFill/>
          <a:ln/>
        </p:spPr>
        <p:txBody>
          <a:bodyPr wrap="square" lIns="0" tIns="0" rIns="0" bIns="0" rtlCol="0" anchor="ctr"/>
          <a:lstStyle/>
          <a:p>
            <a:pPr marL="0" indent="0" algn="ctr">
              <a:buNone/>
            </a:pPr>
            <a:r>
              <a:rPr lang="en-US" sz="1300" b="1" dirty="0">
                <a:solidFill>
                  <a:srgbClr val="1F2937"/>
                </a:solidFill>
                <a:latin typeface="Arial" pitchFamily="34" charset="0"/>
                <a:ea typeface="Arial" pitchFamily="34" charset="-122"/>
                <a:cs typeface="Arial" pitchFamily="34" charset="-120"/>
              </a:rPr>
              <a:t>김태훈</a:t>
            </a:r>
            <a:endParaRPr lang="en-US" sz="1300" dirty="0"/>
          </a:p>
        </p:txBody>
      </p:sp>
      <p:sp>
        <p:nvSpPr>
          <p:cNvPr id="29" name="Text 27"/>
          <p:cNvSpPr/>
          <p:nvPr/>
        </p:nvSpPr>
        <p:spPr>
          <a:xfrm>
            <a:off x="384048" y="4407408"/>
            <a:ext cx="2057400" cy="228600"/>
          </a:xfrm>
          <a:prstGeom prst="rect">
            <a:avLst/>
          </a:prstGeom>
          <a:noFill/>
          <a:ln/>
        </p:spPr>
        <p:txBody>
          <a:bodyPr wrap="square" lIns="0" tIns="0" rIns="0" bIns="0" rtlCol="0" anchor="ctr"/>
          <a:lstStyle/>
          <a:p>
            <a:pPr marL="0" indent="0" algn="ctr">
              <a:buNone/>
            </a:pPr>
            <a:r>
              <a:rPr lang="en-US" sz="1000" dirty="0">
                <a:solidFill>
                  <a:srgbClr val="6B7280"/>
                </a:solidFill>
                <a:latin typeface="Arial" pitchFamily="34" charset="0"/>
                <a:ea typeface="Arial" pitchFamily="34" charset="-122"/>
                <a:cs typeface="Arial" pitchFamily="34" charset="-120"/>
              </a:rPr>
              <a:t>대표 / AI·기획</a:t>
            </a:r>
            <a:endParaRPr lang="en-US" sz="1000" dirty="0"/>
          </a:p>
        </p:txBody>
      </p:sp>
      <p:sp>
        <p:nvSpPr>
          <p:cNvPr id="30" name="Shape 28"/>
          <p:cNvSpPr/>
          <p:nvPr/>
        </p:nvSpPr>
        <p:spPr>
          <a:xfrm>
            <a:off x="950976" y="3858768"/>
            <a:ext cx="914400" cy="201168"/>
          </a:xfrm>
          <a:prstGeom prst="roundRect">
            <a:avLst>
              <a:gd name="adj" fmla="val 18182"/>
            </a:avLst>
          </a:prstGeom>
          <a:solidFill>
            <a:srgbClr val="03B083"/>
          </a:solidFill>
          <a:ln w="12700">
            <a:solidFill>
              <a:schemeClr val="accent2">
                <a:lumMod val="75000"/>
              </a:schemeClr>
            </a:solidFill>
            <a:prstDash val="solid"/>
          </a:ln>
        </p:spPr>
        <p:txBody>
          <a:bodyPr/>
          <a:lstStyle/>
          <a:p>
            <a:endParaRPr/>
          </a:p>
        </p:txBody>
      </p:sp>
      <p:sp>
        <p:nvSpPr>
          <p:cNvPr id="31" name="Text 29"/>
          <p:cNvSpPr/>
          <p:nvPr/>
        </p:nvSpPr>
        <p:spPr>
          <a:xfrm>
            <a:off x="950976" y="3858768"/>
            <a:ext cx="914400" cy="201168"/>
          </a:xfrm>
          <a:prstGeom prst="rect">
            <a:avLst/>
          </a:prstGeom>
          <a:noFill/>
          <a:ln/>
        </p:spPr>
        <p:txBody>
          <a:bodyPr wrap="square" lIns="0" tIns="0" rIns="0" bIns="0" rtlCol="0" anchor="ctr"/>
          <a:lstStyle/>
          <a:p>
            <a:pPr marL="0" indent="0" algn="ctr">
              <a:buNone/>
            </a:pPr>
            <a:r>
              <a:rPr lang="en-US" sz="700" b="1" kern="0" spc="100" dirty="0">
                <a:solidFill>
                  <a:srgbClr val="FFFFFF"/>
                </a:solidFill>
                <a:latin typeface="Arial" pitchFamily="34" charset="0"/>
                <a:ea typeface="Arial" pitchFamily="34" charset="-122"/>
                <a:cs typeface="Arial" pitchFamily="34" charset="-120"/>
              </a:rPr>
              <a:t>LEADER</a:t>
            </a:r>
            <a:endParaRPr lang="en-US" sz="700" dirty="0"/>
          </a:p>
        </p:txBody>
      </p:sp>
      <p:sp>
        <p:nvSpPr>
          <p:cNvPr id="32" name="Shape 30"/>
          <p:cNvSpPr/>
          <p:nvPr/>
        </p:nvSpPr>
        <p:spPr>
          <a:xfrm>
            <a:off x="3182112" y="3218688"/>
            <a:ext cx="804672" cy="804672"/>
          </a:xfrm>
          <a:prstGeom prst="ellipse">
            <a:avLst/>
          </a:prstGeom>
          <a:solidFill>
            <a:srgbClr val="F9FAFB"/>
          </a:solidFill>
          <a:ln w="12700">
            <a:solidFill>
              <a:srgbClr val="D1D5DB"/>
            </a:solidFill>
            <a:prstDash val="solid"/>
          </a:ln>
        </p:spPr>
        <p:txBody>
          <a:bodyPr/>
          <a:lstStyle/>
          <a:p>
            <a:endParaRPr/>
          </a:p>
        </p:txBody>
      </p:sp>
      <p:sp>
        <p:nvSpPr>
          <p:cNvPr id="33" name="Text 31"/>
          <p:cNvSpPr/>
          <p:nvPr/>
        </p:nvSpPr>
        <p:spPr>
          <a:xfrm>
            <a:off x="3182112" y="3218688"/>
            <a:ext cx="804672" cy="804672"/>
          </a:xfrm>
          <a:prstGeom prst="rect">
            <a:avLst/>
          </a:prstGeom>
          <a:noFill/>
          <a:ln/>
        </p:spPr>
        <p:txBody>
          <a:bodyPr wrap="square" lIns="0" tIns="0" rIns="0" bIns="0" rtlCol="0" anchor="ctr"/>
          <a:lstStyle/>
          <a:p>
            <a:pPr marL="0" indent="0" algn="ctr">
              <a:buNone/>
            </a:pPr>
            <a:r>
              <a:rPr lang="en-US" sz="2400" dirty="0">
                <a:solidFill>
                  <a:srgbClr val="FF0000"/>
                </a:solidFill>
                <a:latin typeface="Toss Face Font Mac" pitchFamily="2" charset="0"/>
                <a:ea typeface="Toss Face Font Mac" pitchFamily="2" charset="0"/>
                <a:cs typeface="Arial" pitchFamily="34" charset="-120"/>
              </a:rPr>
              <a:t>👤</a:t>
            </a:r>
            <a:endParaRPr lang="en-US" sz="2400" dirty="0">
              <a:solidFill>
                <a:srgbClr val="FF0000"/>
              </a:solidFill>
              <a:latin typeface="Toss Face Font Mac" pitchFamily="2" charset="0"/>
              <a:ea typeface="Toss Face Font Mac" pitchFamily="2" charset="0"/>
            </a:endParaRPr>
          </a:p>
        </p:txBody>
      </p:sp>
      <p:sp>
        <p:nvSpPr>
          <p:cNvPr id="34" name="Text 32"/>
          <p:cNvSpPr/>
          <p:nvPr/>
        </p:nvSpPr>
        <p:spPr>
          <a:xfrm>
            <a:off x="2560320" y="4114800"/>
            <a:ext cx="2057400" cy="274320"/>
          </a:xfrm>
          <a:prstGeom prst="rect">
            <a:avLst/>
          </a:prstGeom>
          <a:noFill/>
          <a:ln/>
        </p:spPr>
        <p:txBody>
          <a:bodyPr wrap="square" lIns="0" tIns="0" rIns="0" bIns="0" rtlCol="0" anchor="ctr"/>
          <a:lstStyle/>
          <a:p>
            <a:pPr marL="0" indent="0" algn="ctr">
              <a:buNone/>
            </a:pPr>
            <a:r>
              <a:rPr lang="en-US" sz="1300" b="1" dirty="0">
                <a:solidFill>
                  <a:srgbClr val="1F2937"/>
                </a:solidFill>
                <a:latin typeface="Arial" pitchFamily="34" charset="0"/>
                <a:ea typeface="Arial" pitchFamily="34" charset="-122"/>
                <a:cs typeface="Arial" pitchFamily="34" charset="-120"/>
              </a:rPr>
              <a:t>장한결</a:t>
            </a:r>
            <a:endParaRPr lang="en-US" sz="1300" dirty="0"/>
          </a:p>
        </p:txBody>
      </p:sp>
      <p:sp>
        <p:nvSpPr>
          <p:cNvPr id="35" name="Text 33"/>
          <p:cNvSpPr/>
          <p:nvPr/>
        </p:nvSpPr>
        <p:spPr>
          <a:xfrm>
            <a:off x="2560320" y="4407408"/>
            <a:ext cx="2057400" cy="228600"/>
          </a:xfrm>
          <a:prstGeom prst="rect">
            <a:avLst/>
          </a:prstGeom>
          <a:noFill/>
          <a:ln/>
        </p:spPr>
        <p:txBody>
          <a:bodyPr wrap="square" lIns="0" tIns="0" rIns="0" bIns="0" rtlCol="0" anchor="ctr"/>
          <a:lstStyle/>
          <a:p>
            <a:pPr marL="0" indent="0" algn="ctr">
              <a:buNone/>
            </a:pPr>
            <a:r>
              <a:rPr lang="en-US" sz="1000" dirty="0">
                <a:solidFill>
                  <a:srgbClr val="6B7280"/>
                </a:solidFill>
                <a:latin typeface="Arial" pitchFamily="34" charset="0"/>
                <a:ea typeface="Arial" pitchFamily="34" charset="-122"/>
                <a:cs typeface="Arial" pitchFamily="34" charset="-120"/>
              </a:rPr>
              <a:t>데이터 / 백엔드</a:t>
            </a:r>
            <a:endParaRPr lang="en-US" sz="1000" dirty="0"/>
          </a:p>
        </p:txBody>
      </p:sp>
      <p:sp>
        <p:nvSpPr>
          <p:cNvPr id="36" name="Shape 34"/>
          <p:cNvSpPr/>
          <p:nvPr/>
        </p:nvSpPr>
        <p:spPr>
          <a:xfrm>
            <a:off x="5358384" y="3218688"/>
            <a:ext cx="804672" cy="804672"/>
          </a:xfrm>
          <a:prstGeom prst="ellipse">
            <a:avLst/>
          </a:prstGeom>
          <a:solidFill>
            <a:srgbClr val="F9FAFB"/>
          </a:solidFill>
          <a:ln w="12700">
            <a:solidFill>
              <a:srgbClr val="D1D5DB"/>
            </a:solidFill>
            <a:prstDash val="solid"/>
          </a:ln>
        </p:spPr>
        <p:txBody>
          <a:bodyPr/>
          <a:lstStyle/>
          <a:p>
            <a:endParaRPr/>
          </a:p>
        </p:txBody>
      </p:sp>
      <p:sp>
        <p:nvSpPr>
          <p:cNvPr id="37" name="Text 35"/>
          <p:cNvSpPr/>
          <p:nvPr/>
        </p:nvSpPr>
        <p:spPr>
          <a:xfrm>
            <a:off x="5358384" y="3218688"/>
            <a:ext cx="804672" cy="804672"/>
          </a:xfrm>
          <a:prstGeom prst="rect">
            <a:avLst/>
          </a:prstGeom>
          <a:noFill/>
          <a:ln/>
        </p:spPr>
        <p:txBody>
          <a:bodyPr wrap="square" lIns="0" tIns="0" rIns="0" bIns="0" rtlCol="0" anchor="ctr"/>
          <a:lstStyle/>
          <a:p>
            <a:pPr marL="0" indent="0" algn="ctr">
              <a:buNone/>
            </a:pPr>
            <a:r>
              <a:rPr lang="en-US" sz="2400" dirty="0">
                <a:solidFill>
                  <a:srgbClr val="000000"/>
                </a:solidFill>
                <a:latin typeface="Toss Face Font Mac" pitchFamily="2" charset="0"/>
                <a:ea typeface="Toss Face Font Mac" pitchFamily="2" charset="0"/>
                <a:cs typeface="Arial" pitchFamily="34" charset="-120"/>
              </a:rPr>
              <a:t>👤</a:t>
            </a:r>
            <a:endParaRPr lang="en-US" sz="2400" dirty="0">
              <a:latin typeface="Toss Face Font Mac" pitchFamily="2" charset="0"/>
              <a:ea typeface="Toss Face Font Mac" pitchFamily="2" charset="0"/>
            </a:endParaRPr>
          </a:p>
        </p:txBody>
      </p:sp>
      <p:sp>
        <p:nvSpPr>
          <p:cNvPr id="38" name="Text 36"/>
          <p:cNvSpPr/>
          <p:nvPr/>
        </p:nvSpPr>
        <p:spPr>
          <a:xfrm>
            <a:off x="4736592" y="4114800"/>
            <a:ext cx="2057400" cy="274320"/>
          </a:xfrm>
          <a:prstGeom prst="rect">
            <a:avLst/>
          </a:prstGeom>
          <a:noFill/>
          <a:ln/>
        </p:spPr>
        <p:txBody>
          <a:bodyPr wrap="square" lIns="0" tIns="0" rIns="0" bIns="0" rtlCol="0" anchor="ctr"/>
          <a:lstStyle/>
          <a:p>
            <a:pPr marL="0" indent="0" algn="ctr">
              <a:buNone/>
            </a:pPr>
            <a:r>
              <a:rPr lang="en-US" sz="1300" b="1" dirty="0">
                <a:solidFill>
                  <a:srgbClr val="1F2937"/>
                </a:solidFill>
                <a:latin typeface="Arial" pitchFamily="34" charset="0"/>
                <a:ea typeface="Arial" pitchFamily="34" charset="-122"/>
                <a:cs typeface="Arial" pitchFamily="34" charset="-120"/>
              </a:rPr>
              <a:t>이승주</a:t>
            </a:r>
            <a:endParaRPr lang="en-US" sz="1300" dirty="0"/>
          </a:p>
        </p:txBody>
      </p:sp>
      <p:sp>
        <p:nvSpPr>
          <p:cNvPr id="39" name="Text 37"/>
          <p:cNvSpPr/>
          <p:nvPr/>
        </p:nvSpPr>
        <p:spPr>
          <a:xfrm>
            <a:off x="4736592" y="4407408"/>
            <a:ext cx="2057400" cy="228600"/>
          </a:xfrm>
          <a:prstGeom prst="rect">
            <a:avLst/>
          </a:prstGeom>
          <a:noFill/>
          <a:ln/>
        </p:spPr>
        <p:txBody>
          <a:bodyPr wrap="square" lIns="0" tIns="0" rIns="0" bIns="0" rtlCol="0" anchor="ctr"/>
          <a:lstStyle/>
          <a:p>
            <a:pPr marL="0" indent="0" algn="ctr">
              <a:buNone/>
            </a:pPr>
            <a:r>
              <a:rPr lang="en-US" sz="1000" dirty="0">
                <a:solidFill>
                  <a:srgbClr val="6B7280"/>
                </a:solidFill>
                <a:latin typeface="Arial" pitchFamily="34" charset="0"/>
                <a:ea typeface="Arial" pitchFamily="34" charset="-122"/>
                <a:cs typeface="Arial" pitchFamily="34" charset="-120"/>
              </a:rPr>
              <a:t>UI/UX · 운영</a:t>
            </a:r>
            <a:endParaRPr lang="en-US" sz="1000" dirty="0"/>
          </a:p>
        </p:txBody>
      </p:sp>
      <p:sp>
        <p:nvSpPr>
          <p:cNvPr id="40" name="Shape 38"/>
          <p:cNvSpPr/>
          <p:nvPr/>
        </p:nvSpPr>
        <p:spPr>
          <a:xfrm>
            <a:off x="7534656" y="3218688"/>
            <a:ext cx="804672" cy="804672"/>
          </a:xfrm>
          <a:prstGeom prst="ellipse">
            <a:avLst/>
          </a:prstGeom>
          <a:solidFill>
            <a:srgbClr val="F9FAFB"/>
          </a:solidFill>
          <a:ln w="12700">
            <a:solidFill>
              <a:srgbClr val="D1D5DB"/>
            </a:solidFill>
            <a:prstDash val="solid"/>
          </a:ln>
        </p:spPr>
        <p:txBody>
          <a:bodyPr/>
          <a:lstStyle/>
          <a:p>
            <a:endParaRPr/>
          </a:p>
        </p:txBody>
      </p:sp>
      <p:sp>
        <p:nvSpPr>
          <p:cNvPr id="41" name="Text 39"/>
          <p:cNvSpPr/>
          <p:nvPr/>
        </p:nvSpPr>
        <p:spPr>
          <a:xfrm>
            <a:off x="7534656" y="3218688"/>
            <a:ext cx="804672" cy="804672"/>
          </a:xfrm>
          <a:prstGeom prst="rect">
            <a:avLst/>
          </a:prstGeom>
          <a:noFill/>
          <a:ln/>
        </p:spPr>
        <p:txBody>
          <a:bodyPr wrap="square" lIns="0" tIns="0" rIns="0" bIns="0" rtlCol="0" anchor="ctr"/>
          <a:lstStyle/>
          <a:p>
            <a:pPr marL="0" indent="0" algn="ctr">
              <a:buNone/>
            </a:pPr>
            <a:r>
              <a:rPr lang="en-US" sz="2400" dirty="0">
                <a:solidFill>
                  <a:srgbClr val="000000"/>
                </a:solidFill>
                <a:latin typeface="Toss Face Font Mac" pitchFamily="2" charset="0"/>
                <a:ea typeface="Toss Face Font Mac" pitchFamily="2" charset="0"/>
                <a:cs typeface="Arial" pitchFamily="34" charset="-120"/>
              </a:rPr>
              <a:t>👤</a:t>
            </a:r>
            <a:endParaRPr lang="en-US" sz="2400" dirty="0">
              <a:latin typeface="Toss Face Font Mac" pitchFamily="2" charset="0"/>
              <a:ea typeface="Toss Face Font Mac" pitchFamily="2" charset="0"/>
            </a:endParaRPr>
          </a:p>
        </p:txBody>
      </p:sp>
      <p:sp>
        <p:nvSpPr>
          <p:cNvPr id="42" name="Text 40"/>
          <p:cNvSpPr/>
          <p:nvPr/>
        </p:nvSpPr>
        <p:spPr>
          <a:xfrm>
            <a:off x="6912864" y="4114800"/>
            <a:ext cx="2057400" cy="274320"/>
          </a:xfrm>
          <a:prstGeom prst="rect">
            <a:avLst/>
          </a:prstGeom>
          <a:noFill/>
          <a:ln/>
        </p:spPr>
        <p:txBody>
          <a:bodyPr wrap="square" lIns="0" tIns="0" rIns="0" bIns="0" rtlCol="0" anchor="ctr"/>
          <a:lstStyle/>
          <a:p>
            <a:pPr marL="0" indent="0" algn="ctr">
              <a:buNone/>
            </a:pPr>
            <a:r>
              <a:rPr lang="en-US" sz="1300" b="1" dirty="0">
                <a:solidFill>
                  <a:srgbClr val="1F2937"/>
                </a:solidFill>
                <a:latin typeface="Arial" pitchFamily="34" charset="0"/>
                <a:ea typeface="Arial" pitchFamily="34" charset="-122"/>
                <a:cs typeface="Arial" pitchFamily="34" charset="-120"/>
              </a:rPr>
              <a:t>이윤호</a:t>
            </a:r>
            <a:endParaRPr lang="en-US" sz="1300" dirty="0"/>
          </a:p>
        </p:txBody>
      </p:sp>
      <p:sp>
        <p:nvSpPr>
          <p:cNvPr id="43" name="Text 41"/>
          <p:cNvSpPr/>
          <p:nvPr/>
        </p:nvSpPr>
        <p:spPr>
          <a:xfrm>
            <a:off x="6912864" y="4407408"/>
            <a:ext cx="2057400" cy="228600"/>
          </a:xfrm>
          <a:prstGeom prst="rect">
            <a:avLst/>
          </a:prstGeom>
          <a:noFill/>
          <a:ln/>
        </p:spPr>
        <p:txBody>
          <a:bodyPr wrap="square" lIns="0" tIns="0" rIns="0" bIns="0" rtlCol="0" anchor="ctr"/>
          <a:lstStyle/>
          <a:p>
            <a:pPr marL="0" indent="0" algn="ctr">
              <a:buNone/>
            </a:pPr>
            <a:r>
              <a:rPr lang="en-US" sz="1000" dirty="0">
                <a:solidFill>
                  <a:srgbClr val="6B7280"/>
                </a:solidFill>
                <a:latin typeface="Arial" pitchFamily="34" charset="0"/>
                <a:ea typeface="Arial" pitchFamily="34" charset="-122"/>
                <a:cs typeface="Arial" pitchFamily="34" charset="-120"/>
              </a:rPr>
              <a:t>QA · 테스트</a:t>
            </a:r>
            <a:endParaRPr lang="en-US" sz="1000" dirty="0"/>
          </a:p>
        </p:txBody>
      </p:sp>
      <p:sp>
        <p:nvSpPr>
          <p:cNvPr id="44" name="Text 42"/>
          <p:cNvSpPr/>
          <p:nvPr/>
        </p:nvSpPr>
        <p:spPr>
          <a:xfrm>
            <a:off x="384048" y="4754880"/>
            <a:ext cx="8375904" cy="201168"/>
          </a:xfrm>
          <a:prstGeom prst="rect">
            <a:avLst/>
          </a:prstGeom>
          <a:noFill/>
          <a:ln/>
        </p:spPr>
        <p:txBody>
          <a:bodyPr wrap="square" lIns="0" tIns="0" rIns="0" bIns="0" rtlCol="0" anchor="ctr"/>
          <a:lstStyle/>
          <a:p>
            <a:pPr marL="0" indent="0" algn="ctr">
              <a:buNone/>
            </a:pPr>
            <a:r>
              <a:rPr lang="en-US" sz="1000" dirty="0">
                <a:solidFill>
                  <a:srgbClr val="D1D5DB"/>
                </a:solidFill>
                <a:latin typeface="Arial" pitchFamily="34" charset="0"/>
                <a:ea typeface="Arial" pitchFamily="34" charset="-122"/>
                <a:cs typeface="Arial" pitchFamily="34" charset="-120"/>
              </a:rPr>
              <a:t>지도교사: 김영우</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5" name="Shape 2"/>
          <p:cNvSpPr/>
          <p:nvPr/>
        </p:nvSpPr>
        <p:spPr>
          <a:xfrm>
            <a:off x="154287" y="1873498"/>
            <a:ext cx="5166360" cy="218186"/>
          </a:xfrm>
          <a:prstGeom prst="rect">
            <a:avLst/>
          </a:prstGeom>
          <a:solidFill>
            <a:srgbClr val="03B083">
              <a:alpha val="45000"/>
            </a:srgbClr>
          </a:solidFill>
          <a:ln w="12700">
            <a:noFill/>
            <a:prstDash val="solid"/>
          </a:ln>
        </p:spPr>
      </p:sp>
      <p:sp>
        <p:nvSpPr>
          <p:cNvPr id="2" name="Shape 0"/>
          <p:cNvSpPr/>
          <p:nvPr/>
        </p:nvSpPr>
        <p:spPr>
          <a:xfrm>
            <a:off x="8979408" y="0"/>
            <a:ext cx="164592" cy="5143500"/>
          </a:xfrm>
          <a:prstGeom prst="rect">
            <a:avLst/>
          </a:prstGeom>
          <a:solidFill>
            <a:srgbClr val="03B083"/>
          </a:solidFill>
          <a:ln w="12700">
            <a:solidFill>
              <a:srgbClr val="03B083"/>
            </a:solidFill>
            <a:prstDash val="solid"/>
          </a:ln>
        </p:spPr>
      </p:sp>
      <p:sp>
        <p:nvSpPr>
          <p:cNvPr id="6" name="Text 3"/>
          <p:cNvSpPr/>
          <p:nvPr/>
        </p:nvSpPr>
        <p:spPr>
          <a:xfrm>
            <a:off x="177800" y="2274570"/>
            <a:ext cx="3510280" cy="594360"/>
          </a:xfrm>
          <a:prstGeom prst="rect">
            <a:avLst/>
          </a:prstGeom>
          <a:noFill/>
          <a:ln/>
        </p:spPr>
        <p:txBody>
          <a:bodyPr wrap="square" lIns="0" tIns="0" rIns="0" bIns="0" rtlCol="0" anchor="ctr"/>
          <a:lstStyle/>
          <a:p>
            <a:pPr marL="0" indent="0">
              <a:buNone/>
            </a:pPr>
            <a:r>
              <a:rPr lang="en-US" sz="2800" dirty="0">
                <a:solidFill>
                  <a:srgbClr val="03B083"/>
                </a:solidFill>
                <a:latin typeface="Arial" pitchFamily="34" charset="0"/>
                <a:ea typeface="Arial" pitchFamily="34" charset="-122"/>
                <a:cs typeface="Arial" pitchFamily="34" charset="-120"/>
              </a:rPr>
              <a:t>나머지는 AI가 합니다.</a:t>
            </a:r>
            <a:endParaRPr lang="en-US" sz="2800" dirty="0"/>
          </a:p>
        </p:txBody>
      </p:sp>
      <p:sp>
        <p:nvSpPr>
          <p:cNvPr id="7" name="Shape 4"/>
          <p:cNvSpPr/>
          <p:nvPr/>
        </p:nvSpPr>
        <p:spPr>
          <a:xfrm>
            <a:off x="154287" y="2868930"/>
            <a:ext cx="8503920" cy="0"/>
          </a:xfrm>
          <a:prstGeom prst="line">
            <a:avLst/>
          </a:prstGeom>
          <a:noFill/>
          <a:ln w="12700">
            <a:solidFill>
              <a:srgbClr val="D1D5DB"/>
            </a:solidFill>
            <a:prstDash val="solid"/>
          </a:ln>
        </p:spPr>
      </p:sp>
      <p:sp>
        <p:nvSpPr>
          <p:cNvPr id="8" name="Text 5"/>
          <p:cNvSpPr/>
          <p:nvPr/>
        </p:nvSpPr>
        <p:spPr>
          <a:xfrm>
            <a:off x="177800" y="2914650"/>
            <a:ext cx="8503920" cy="320040"/>
          </a:xfrm>
          <a:prstGeom prst="rect">
            <a:avLst/>
          </a:prstGeom>
          <a:noFill/>
          <a:ln/>
        </p:spPr>
        <p:txBody>
          <a:bodyPr wrap="square" lIns="0" tIns="0" rIns="0" bIns="0" rtlCol="0" anchor="ctr"/>
          <a:lstStyle/>
          <a:p>
            <a:pPr marL="0" indent="0">
              <a:buNone/>
            </a:pPr>
            <a:r>
              <a:rPr lang="en-US" sz="1400" b="1" dirty="0">
                <a:solidFill>
                  <a:srgbClr val="1F2937"/>
                </a:solidFill>
                <a:latin typeface="Arial" pitchFamily="34" charset="0"/>
                <a:ea typeface="Arial" pitchFamily="34" charset="-122"/>
                <a:cs typeface="Arial" pitchFamily="34" charset="-120"/>
              </a:rPr>
              <a:t>트레빗  </a:t>
            </a:r>
            <a:r>
              <a:rPr lang="en-US" sz="1200" dirty="0">
                <a:solidFill>
                  <a:srgbClr val="6B7280"/>
                </a:solidFill>
                <a:latin typeface="Arial" pitchFamily="34" charset="0"/>
                <a:ea typeface="Arial" pitchFamily="34" charset="-122"/>
                <a:cs typeface="Arial" pitchFamily="34" charset="-120"/>
              </a:rPr>
              <a:t>·  AI가 여행을 대신 결정하는 서프라이즈 내비게이터  ·  </a:t>
            </a:r>
            <a:r>
              <a:rPr lang="en-US" sz="1200" dirty="0">
                <a:solidFill>
                  <a:srgbClr val="03B083"/>
                </a:solidFill>
                <a:latin typeface="Arial" pitchFamily="34" charset="0"/>
                <a:ea typeface="Arial" pitchFamily="34" charset="-122"/>
                <a:cs typeface="Arial" pitchFamily="34" charset="-120"/>
              </a:rPr>
              <a:t>PLAYLABS</a:t>
            </a:r>
            <a:endParaRPr lang="en-US" sz="1400" dirty="0"/>
          </a:p>
        </p:txBody>
      </p:sp>
      <p:sp>
        <p:nvSpPr>
          <p:cNvPr id="9" name="Text 6"/>
          <p:cNvSpPr/>
          <p:nvPr/>
        </p:nvSpPr>
        <p:spPr>
          <a:xfrm>
            <a:off x="177800" y="3280410"/>
            <a:ext cx="8503920" cy="256032"/>
          </a:xfrm>
          <a:prstGeom prst="rect">
            <a:avLst/>
          </a:prstGeom>
          <a:noFill/>
          <a:ln/>
        </p:spPr>
        <p:txBody>
          <a:bodyPr wrap="square" lIns="0" tIns="0" rIns="0" bIns="0" rtlCol="0" anchor="ctr"/>
          <a:lstStyle/>
          <a:p>
            <a:pPr marL="0" indent="0">
              <a:buNone/>
            </a:pPr>
            <a:r>
              <a:rPr lang="en-US" sz="1100" dirty="0">
                <a:solidFill>
                  <a:srgbClr val="6B7280"/>
                </a:solidFill>
                <a:latin typeface="Arial" pitchFamily="34" charset="0"/>
                <a:ea typeface="Arial" pitchFamily="34" charset="-122"/>
                <a:cs typeface="Arial" pitchFamily="34" charset="-120"/>
              </a:rPr>
              <a:t>아산스마트팩토리마이스터고등학교  ·  김태훈(대표) 장한결 이승주 이윤호  ·  지도교사 김영우</a:t>
            </a:r>
            <a:endParaRPr lang="en-US" sz="1100" dirty="0"/>
          </a:p>
        </p:txBody>
      </p:sp>
      <p:sp>
        <p:nvSpPr>
          <p:cNvPr id="18" name="Text 1">
            <a:extLst>
              <a:ext uri="{FF2B5EF4-FFF2-40B4-BE49-F238E27FC236}">
                <a16:creationId xmlns:a16="http://schemas.microsoft.com/office/drawing/2014/main" id="{EB66178C-5006-314A-94AD-3BA6F772CFAC}"/>
              </a:ext>
            </a:extLst>
          </p:cNvPr>
          <p:cNvSpPr/>
          <p:nvPr/>
        </p:nvSpPr>
        <p:spPr>
          <a:xfrm>
            <a:off x="177800" y="1195578"/>
            <a:ext cx="6109534" cy="1005840"/>
          </a:xfrm>
          <a:prstGeom prst="rect">
            <a:avLst/>
          </a:prstGeom>
          <a:noFill/>
          <a:ln/>
        </p:spPr>
        <p:txBody>
          <a:bodyPr wrap="square" lIns="0" tIns="0" rIns="0" bIns="0" rtlCol="0" anchor="ctr"/>
          <a:lstStyle/>
          <a:p>
            <a:pPr marL="0" indent="0">
              <a:buNone/>
            </a:pPr>
            <a:r>
              <a:rPr lang="en-US" sz="5500" b="1" kern="0" spc="-100" dirty="0">
                <a:solidFill>
                  <a:srgbClr val="1F2937"/>
                </a:solidFill>
                <a:latin typeface="Malgun Gothic" panose="020B0503020000020004" pitchFamily="34" charset="-127"/>
                <a:ea typeface="Malgun Gothic" panose="020B0503020000020004" pitchFamily="34" charset="-127"/>
                <a:cs typeface="Arial" pitchFamily="34" charset="-120"/>
              </a:rPr>
              <a:t>따라가기만 하세요.</a:t>
            </a:r>
            <a:endParaRPr lang="en-US" sz="5500" b="1" dirty="0">
              <a:latin typeface="Malgun Gothic" panose="020B0503020000020004" pitchFamily="34" charset="-127"/>
              <a:ea typeface="Malgun Gothic" panose="020B0503020000020004" pitchFamily="34" charset="-12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1096</TotalTime>
  <Words>1873</Words>
  <Application>Microsoft Macintosh PowerPoint</Application>
  <PresentationFormat>화면 슬라이드 쇼(16:9)</PresentationFormat>
  <Paragraphs>240</Paragraphs>
  <Slides>13</Slides>
  <Notes>13</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13</vt:i4>
      </vt:variant>
    </vt:vector>
  </HeadingPairs>
  <TitlesOfParts>
    <vt:vector size="21" baseType="lpstr">
      <vt:lpstr>Google Sans Text</vt:lpstr>
      <vt:lpstr>Malgun Gothic</vt:lpstr>
      <vt:lpstr>Noto Sans KR</vt:lpstr>
      <vt:lpstr>RecipekoreaOTF Medium</vt:lpstr>
      <vt:lpstr>Arial</vt:lpstr>
      <vt:lpstr>Calibri</vt:lpstr>
      <vt:lpstr>Toss Face Font Mac</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따라와유</dc:title>
  <dc:subject>PptxGenJS Presentation</dc:subject>
  <dc:creator>PptxGenJS</dc:creator>
  <cp:lastModifiedBy>Microsoft Office User</cp:lastModifiedBy>
  <cp:revision>14</cp:revision>
  <cp:lastPrinted>2026-05-23T01:32:37Z</cp:lastPrinted>
  <dcterms:created xsi:type="dcterms:W3CDTF">2026-05-19T10:11:52Z</dcterms:created>
  <dcterms:modified xsi:type="dcterms:W3CDTF">2026-05-23T17:56:40Z</dcterms:modified>
</cp:coreProperties>
</file>